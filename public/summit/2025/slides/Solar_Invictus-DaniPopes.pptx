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Overpass"/>
      <p:regular r:id="rId25"/>
      <p:bold r:id="rId26"/>
      <p:italic r:id="rId27"/>
      <p:boldItalic r:id="rId28"/>
    </p:embeddedFont>
    <p:embeddedFont>
      <p:font typeface="Overpass Mono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verpass-bold.fntdata"/><Relationship Id="rId25" Type="http://schemas.openxmlformats.org/officeDocument/2006/relationships/font" Target="fonts/Overpass-regular.fntdata"/><Relationship Id="rId28" Type="http://schemas.openxmlformats.org/officeDocument/2006/relationships/font" Target="fonts/Overpass-boldItalic.fntdata"/><Relationship Id="rId27" Type="http://schemas.openxmlformats.org/officeDocument/2006/relationships/font" Target="fonts/Overpas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verpass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OverpassMono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3b6191973_1_4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a3b6191973_1_4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a3b6191973_1_4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3b6191973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g3a3b6191973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How my journey started: slow and bad devex in the (somewhat) early days of.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Foundry came out, 100x improvement in devex compareÒd to writing slow javascript tests with hardhat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Was already learning Rust and decided to start contributing to OSS, got hired 2022 and been working since on the Paradigm OSS stack</a:t>
            </a:r>
            <a:endParaRPr/>
          </a:p>
        </p:txBody>
      </p:sp>
      <p:sp>
        <p:nvSpPr>
          <p:cNvPr id="34" name="Google Shape;34;g3a3b6191973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3b6191973_1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a3b6191973_1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Foundry was a 100x improvement, but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over time this exposedweaknesses in solc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mainly slow compile times due to more and more Solidity code being written, more complex projects requiring even more complex test suites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a3b6191973_1_1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3b6191973_1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a3b6191973_1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However this can only get you so much, in the end you still need to compile the whole project at least once,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and changing a file still needs to go through the whole compiler pipeline to produce bytecode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a3b6191973_1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3b6191973_1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3b6191973_1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a3b6191973_1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3b6191973_1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a3b6191973_1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3b6191973_1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3b6191973_1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a3b6191973_1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3b6191973_1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3b6191973_1_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a3b6191973_1_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a3b6191973_1_3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3b6191973_1_3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a3b6191973_1_3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a3b6191973_1_3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3b6191973_1_3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a3b6191973_1_3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a3b6191973_1_3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3b6191973_1_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a3b6191973_1_3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a3b6191973_1_3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3b6191973_1_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a3b6191973_1_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a3b6191973_1_2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3b6191973_1_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a3b6191973_1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a3b6191973_1_2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3b6191973_1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a3b6191973_1_2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a3b6191973_1_2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3b6191973_1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a3b6191973_1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a3b6191973_1_3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3b6191973_1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a3b6191973_1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a3b6191973_1_2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35.png"/><Relationship Id="rId7" Type="http://schemas.openxmlformats.org/officeDocument/2006/relationships/image" Target="../media/image6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5.png"/><Relationship Id="rId7" Type="http://schemas.openxmlformats.org/officeDocument/2006/relationships/image" Target="../media/image53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4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35.png"/><Relationship Id="rId7" Type="http://schemas.openxmlformats.org/officeDocument/2006/relationships/image" Target="../media/image63.png"/><Relationship Id="rId8" Type="http://schemas.openxmlformats.org/officeDocument/2006/relationships/image" Target="../media/image5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5.png"/><Relationship Id="rId4" Type="http://schemas.openxmlformats.org/officeDocument/2006/relationships/image" Target="../media/image2.png"/><Relationship Id="rId5" Type="http://schemas.openxmlformats.org/officeDocument/2006/relationships/image" Target="../media/image61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5.png"/><Relationship Id="rId7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5.png"/><Relationship Id="rId7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5.png"/><Relationship Id="rId7" Type="http://schemas.openxmlformats.org/officeDocument/2006/relationships/image" Target="../media/image7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2.png"/><Relationship Id="rId5" Type="http://schemas.openxmlformats.org/officeDocument/2006/relationships/image" Target="../media/image61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5.png"/><Relationship Id="rId7" Type="http://schemas.openxmlformats.org/officeDocument/2006/relationships/image" Target="../media/image6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5.png"/><Relationship Id="rId7" Type="http://schemas.openxmlformats.org/officeDocument/2006/relationships/image" Target="../media/image6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5.png"/><Relationship Id="rId7" Type="http://schemas.openxmlformats.org/officeDocument/2006/relationships/image" Target="../media/image7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6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76250" y="1947863"/>
            <a:ext cx="62055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8087" y="4148137"/>
            <a:ext cx="1985963" cy="992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19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7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3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7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476250" y="381000"/>
            <a:ext cx="1338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IBM Plex Sans"/>
              <a:buNone/>
            </a:pPr>
            <a:r>
              <a:rPr lang="en-US" sz="1050">
                <a:solidFill>
                  <a:srgbClr val="F8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18 NOV 2025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76250" y="1947863"/>
            <a:ext cx="6662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5250"/>
              <a:buFont typeface="Overpass Mono"/>
              <a:buNone/>
            </a:pPr>
            <a:r>
              <a:rPr lang="en-US" sz="5250">
                <a:solidFill>
                  <a:srgbClr val="F8F8FF"/>
                </a:solidFill>
                <a:latin typeface="Overpass Mono"/>
                <a:ea typeface="Overpass Mono"/>
                <a:cs typeface="Overpass Mono"/>
                <a:sym typeface="Overpass Mono"/>
              </a:rPr>
              <a:t>Solar Invictus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76250" y="2805113"/>
            <a:ext cx="66627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D2D2FF"/>
                </a:solidFill>
                <a:latin typeface="Overpass Mono"/>
                <a:ea typeface="Overpass Mono"/>
                <a:cs typeface="Overpass Mono"/>
                <a:sym typeface="Overpass Mono"/>
              </a:rPr>
              <a:t>A new Solidity compiler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03225" y="1752600"/>
            <a:ext cx="1643062" cy="1643062"/>
          </a:xfrm>
          <a:prstGeom prst="rect">
            <a:avLst/>
          </a:prstGeom>
          <a:solidFill>
            <a:srgbClr val="1C1C5D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476250" y="1252538"/>
            <a:ext cx="36195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" name="Google Shape;37;p4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4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3638" y="1804988"/>
            <a:ext cx="17811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476250" y="1781138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Foundry 100x’d devex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76250" y="2976563"/>
            <a:ext cx="407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4" title="demo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1" y="657237"/>
            <a:ext cx="4076699" cy="40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FOUNDRY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476250" y="1450181"/>
            <a:ext cx="3619500" cy="22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572000" y="9525"/>
            <a:ext cx="4572000" cy="25719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572000" y="2581275"/>
            <a:ext cx="4572000" cy="25719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5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4572000" y="257175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5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812" y="2375297"/>
            <a:ext cx="866775" cy="869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" name="Google Shape;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b="0" i="0" lang="en-US" sz="1050" u="none" cap="none" strike="noStrike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SECTION 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76250" y="2778919"/>
            <a:ext cx="407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Limitations of the Solidity compiler soon surfaced,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as developers started writing larger and more complex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projects using only Solidity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76250" y="1450181"/>
            <a:ext cx="407670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But…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19650" y="902237"/>
            <a:ext cx="4076700" cy="134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19650" y="3570206"/>
            <a:ext cx="4076700" cy="1123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6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2B247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6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6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" name="Google Shape;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" name="Google Shape;8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FOUNDRY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76250" y="1781175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Workarounds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48250" y="1781175"/>
            <a:ext cx="402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Smarter caching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Recompile as little as possible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Request minimum  from the compiler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Dynamic linking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476250" y="1450181"/>
            <a:ext cx="3619500" cy="22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5048250" y="978694"/>
            <a:ext cx="36195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" name="Google Shape;103;p7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7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048250" y="2121694"/>
            <a:ext cx="36195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3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1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3117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331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FOUNDRY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048250" y="2121694"/>
            <a:ext cx="4076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erpass"/>
              <a:buNone/>
            </a:pPr>
            <a:r>
              <a:rPr b="1" lang="en-US" sz="3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up to 131x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048250" y="2797969"/>
            <a:ext cx="40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Faster building and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76250" y="1450181"/>
            <a:ext cx="407670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Highlight:</a:t>
            </a:r>
            <a:endParaRPr sz="24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dynamic test linking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76250" y="2778919"/>
            <a:ext cx="407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Eliminates redundant compilation by pre-processing test contracts during the initial build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0" y="881063"/>
            <a:ext cx="9144000" cy="42624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5" name="Google Shape;125;p8"/>
          <p:cNvCxnSpPr/>
          <p:nvPr/>
        </p:nvCxnSpPr>
        <p:spPr>
          <a:xfrm>
            <a:off x="0" y="8810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8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1413" y="1681163"/>
            <a:ext cx="17811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476250" y="381000"/>
            <a:ext cx="14097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FOUNDRY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4588" y="1284601"/>
            <a:ext cx="8754826" cy="3415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476250" y="1252538"/>
            <a:ext cx="36195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9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9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3638" y="1804988"/>
            <a:ext cx="17811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4" name="Google Shape;1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5" name="Google Shape;15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SOLAR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76250" y="1252538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Solar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76250" y="2976563"/>
            <a:ext cx="407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https://www.paradigm.xyz/2024/11/solar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59" name="Google Shape;159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5113" y="952700"/>
            <a:ext cx="3485774" cy="348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10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2B247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10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0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SOLAR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76250" y="1781175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Written from the ground up with performance in mind</a:t>
            </a:r>
            <a:endParaRPr sz="24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048250" y="1781175"/>
            <a:ext cx="402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Multiple IRs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Data Oriented Design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Multi-threaded-friendly structure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Possibility for incremental compilation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11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2B247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11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1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SOLAR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820500" y="1781100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Focus on modularity, extensibility, library usage</a:t>
            </a:r>
            <a:endParaRPr sz="24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04850" y="1781100"/>
            <a:ext cx="402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Ergonomic design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Single entry point (Compiler)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Multiple diagnostic formats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Multiple backends (soon)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0" y="881063"/>
            <a:ext cx="9144000" cy="42624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12"/>
          <p:cNvCxnSpPr/>
          <p:nvPr/>
        </p:nvCxnSpPr>
        <p:spPr>
          <a:xfrm>
            <a:off x="0" y="8810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12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1413" y="1681163"/>
            <a:ext cx="17811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3" name="Google Shape;2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4" name="Google Shape;21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2"/>
          <p:cNvSpPr/>
          <p:nvPr/>
        </p:nvSpPr>
        <p:spPr>
          <a:xfrm>
            <a:off x="476250" y="381000"/>
            <a:ext cx="14097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SOLAR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84474" y="1042563"/>
            <a:ext cx="4775052" cy="393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/>
          <p:nvPr/>
        </p:nvSpPr>
        <p:spPr>
          <a:xfrm>
            <a:off x="476250" y="1450181"/>
            <a:ext cx="3619500" cy="22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5048250" y="978694"/>
            <a:ext cx="36195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" name="Google Shape;224;p13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3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5048250" y="978694"/>
            <a:ext cx="36195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5048250" y="2121694"/>
            <a:ext cx="36195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5048250" y="3264694"/>
            <a:ext cx="36195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3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1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5" name="Google Shape;23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3117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331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3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SOLAR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5048250" y="3264694"/>
            <a:ext cx="4076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erpass"/>
              <a:buNone/>
            </a:pPr>
            <a:r>
              <a:rPr b="1" lang="en-US" sz="3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??x bytecode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048250" y="3940969"/>
            <a:ext cx="40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Faster and better bytecode than Solc (SOON)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5048250" y="2121694"/>
            <a:ext cx="4076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erpass"/>
              <a:buNone/>
            </a:pPr>
            <a:r>
              <a:rPr b="1" lang="en-US" sz="3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50x ABI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5048250" y="2797969"/>
            <a:ext cx="40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Faster at emitting ABI information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5048250" y="978694"/>
            <a:ext cx="4076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erpass"/>
              <a:buNone/>
            </a:pPr>
            <a:r>
              <a:rPr b="1" lang="en-US" sz="3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5x-10x parsing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5048250" y="1654969"/>
            <a:ext cx="40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Faster at single-threaded parsing; multithreaded parsing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495300" y="1819306"/>
            <a:ext cx="407670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Early benchmark results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/>
          <p:nvPr/>
        </p:nvSpPr>
        <p:spPr>
          <a:xfrm>
            <a:off x="0" y="881063"/>
            <a:ext cx="9144000" cy="42624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1" name="Google Shape;251;p14"/>
          <p:cNvCxnSpPr/>
          <p:nvPr/>
        </p:nvCxnSpPr>
        <p:spPr>
          <a:xfrm>
            <a:off x="0" y="8810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14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1413" y="1681163"/>
            <a:ext cx="17811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4" name="Google Shape;25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5" name="Google Shape;25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6" name="Google Shape;25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7" name="Google Shape;25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8" name="Google Shape;25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9" name="Google Shape;2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0" name="Google Shape;2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4"/>
          <p:cNvSpPr/>
          <p:nvPr/>
        </p:nvSpPr>
        <p:spPr>
          <a:xfrm>
            <a:off x="476250" y="381000"/>
            <a:ext cx="14097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SOLAR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14"/>
          <p:cNvPicPr preferRelativeResize="0"/>
          <p:nvPr/>
        </p:nvPicPr>
        <p:blipFill rotWithShape="1">
          <a:blip r:embed="rId7">
            <a:alphaModFix/>
          </a:blip>
          <a:srcRect b="3993" l="0" r="0" t="0"/>
          <a:stretch/>
        </p:blipFill>
        <p:spPr>
          <a:xfrm>
            <a:off x="1694788" y="1171273"/>
            <a:ext cx="5754450" cy="3682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"/>
          <p:cNvSpPr/>
          <p:nvPr/>
        </p:nvSpPr>
        <p:spPr>
          <a:xfrm>
            <a:off x="0" y="881063"/>
            <a:ext cx="9144000" cy="42624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" name="Google Shape;270;p15"/>
          <p:cNvCxnSpPr/>
          <p:nvPr/>
        </p:nvCxnSpPr>
        <p:spPr>
          <a:xfrm>
            <a:off x="0" y="8810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5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1413" y="1681163"/>
            <a:ext cx="17811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4" name="Google Shape;27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" name="Google Shape;2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0" name="Google Shape;28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5"/>
          <p:cNvSpPr/>
          <p:nvPr/>
        </p:nvSpPr>
        <p:spPr>
          <a:xfrm>
            <a:off x="476250" y="381000"/>
            <a:ext cx="14097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SOLAR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13" y="1747313"/>
            <a:ext cx="8839200" cy="1648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"/>
          <p:cNvSpPr/>
          <p:nvPr/>
        </p:nvSpPr>
        <p:spPr>
          <a:xfrm>
            <a:off x="476250" y="1252538"/>
            <a:ext cx="36195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0" name="Google Shape;290;p16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6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3638" y="1804988"/>
            <a:ext cx="17811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3" name="Google Shape;29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4" name="Google Shape;29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5" name="Google Shape;29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6" name="Google Shape;29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7" name="Google Shape;29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8" name="Google Shape;29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9" name="Google Shape;29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6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SOLAR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476250" y="1252538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Forge Lint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476250" y="2976563"/>
            <a:ext cx="407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Powerful static analysis built-in to Forge,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powered by Solar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304" name="Google Shape;30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88312" y="1760963"/>
            <a:ext cx="4139374" cy="1869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/>
          <p:nvPr/>
        </p:nvSpPr>
        <p:spPr>
          <a:xfrm>
            <a:off x="476250" y="1252538"/>
            <a:ext cx="36195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2" name="Google Shape;312;p17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7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6" name="Google Shape;31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7" name="Google Shape;3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8" name="Google Shape;3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9" name="Google Shape;3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0" name="Google Shape;3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1" name="Google Shape;3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7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SOLAR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4876900" y="1252538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Solar</a:t>
            </a: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 LSP (soon)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4755150" y="2976638"/>
            <a:ext cx="407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Powering Foundry IDE extensions (soon)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Diagnostics, </a:t>
            </a: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code actions, go to definition, etc.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325" name="Google Shape;32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650" y="2037575"/>
            <a:ext cx="4076701" cy="106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3" name="Google Shape;3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4" name="Google Shape;3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31" y="307298"/>
            <a:ext cx="120476" cy="105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5" name="Google Shape;3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6" name="Google Shape;3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7" name="Google Shape;3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8" name="Google Shape;3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9" name="Google Shape;3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8"/>
          <p:cNvSpPr/>
          <p:nvPr/>
        </p:nvSpPr>
        <p:spPr>
          <a:xfrm>
            <a:off x="1471613" y="2262188"/>
            <a:ext cx="6662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Overpass"/>
              <a:buNone/>
            </a:pPr>
            <a:r>
              <a:rPr b="0" i="0" lang="en-US" sz="40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Q&amp;A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