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verpass"/>
      <p:regular r:id="rId19"/>
      <p:bold r:id="rId20"/>
      <p:italic r:id="rId21"/>
      <p:boldItalic r:id="rId22"/>
    </p:embeddedFont>
    <p:embeddedFont>
      <p:font typeface="Karl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pass-bold.fntdata"/><Relationship Id="rId22" Type="http://schemas.openxmlformats.org/officeDocument/2006/relationships/font" Target="fonts/Overpass-boldItalic.fntdata"/><Relationship Id="rId21" Type="http://schemas.openxmlformats.org/officeDocument/2006/relationships/font" Target="fonts/Overpass-italic.fntdata"/><Relationship Id="rId24" Type="http://schemas.openxmlformats.org/officeDocument/2006/relationships/font" Target="fonts/Karla-bold.fntdata"/><Relationship Id="rId23" Type="http://schemas.openxmlformats.org/officeDocument/2006/relationships/font" Target="fonts/Karl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Karla-boldItalic.fntdata"/><Relationship Id="rId25" Type="http://schemas.openxmlformats.org/officeDocument/2006/relationships/font" Target="fonts/Karl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verpas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3bddbbac6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a3bddbbac6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a3bddbbac6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bddbbac6_0_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3bddbbac6_0_1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a3bddbbac6_0_1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bddbbac6_0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3bddbbac6_0_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3bddbbac6_0_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3bddbbac6_0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3bddbbac6_0_3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3bddbbac6_0_3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bddbbac6_0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a3bddbbac6_0_8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3bddbbac6_0_8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3bddbbac6_0_1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a3bddbbac6_0_1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3bddbbac6_0_1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3bddbbac6_0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a3bddbbac6_0_5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a3bddbbac6_0_5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3bddbbac6_0_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a3bddbbac6_0_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3bddbbac6_0_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3bddbbac6_0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a3bddbbac6_0_4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3bddbbac6_0_4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3bddbbac6_0_1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a3bddbbac6_0_16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3bddbbac6_0_16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3bddbbac6_0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a3bddbbac6_0_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3bddbbac6_0_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3bddbbac6_0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a3bddbbac6_0_1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a3bddbbac6_0_1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3bddbbac6_0_1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a3bddbbac6_0_1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a3bddbbac6_0_1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476250" y="1947863"/>
            <a:ext cx="62055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200400"/>
            <a:ext cx="34956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31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476250" y="381000"/>
            <a:ext cx="1683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IBM Plex Sans"/>
              <a:buNone/>
            </a:pPr>
            <a:r>
              <a:rPr lang="en" sz="1050">
                <a:solidFill>
                  <a:srgbClr val="F8F8FF"/>
                </a:solidFill>
                <a:latin typeface="Karla"/>
                <a:ea typeface="Karla"/>
                <a:cs typeface="Karla"/>
                <a:sym typeface="Karla"/>
              </a:rPr>
              <a:t>18th November 2025</a:t>
            </a:r>
            <a:endParaRPr i="0" sz="105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76250" y="1947863"/>
            <a:ext cx="6662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5250"/>
              <a:buFont typeface="Overpass Mono"/>
              <a:buNone/>
            </a:pPr>
            <a:r>
              <a:rPr lang="en" sz="3150">
                <a:solidFill>
                  <a:srgbClr val="F8F8FF"/>
                </a:solidFill>
                <a:latin typeface="Karla"/>
                <a:ea typeface="Karla"/>
                <a:cs typeface="Karla"/>
                <a:sym typeface="Karla"/>
              </a:rPr>
              <a:t>From EF to Argot: </a:t>
            </a:r>
            <a:endParaRPr sz="3150">
              <a:solidFill>
                <a:srgbClr val="F8F8FF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5250"/>
              <a:buFont typeface="Overpass Mono"/>
              <a:buNone/>
            </a:pPr>
            <a:r>
              <a:rPr lang="en" sz="3150">
                <a:solidFill>
                  <a:srgbClr val="F8F8FF"/>
                </a:solidFill>
                <a:latin typeface="Karla"/>
                <a:ea typeface="Karla"/>
                <a:cs typeface="Karla"/>
                <a:sym typeface="Karla"/>
              </a:rPr>
              <a:t>Solidity’s New Home</a:t>
            </a:r>
            <a:endParaRPr i="0" sz="315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512100" y="3468213"/>
            <a:ext cx="6662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" sz="1700">
                <a:solidFill>
                  <a:srgbClr val="D2D2FF"/>
                </a:solidFill>
                <a:latin typeface="Karla"/>
                <a:ea typeface="Karla"/>
                <a:cs typeface="Karla"/>
                <a:sym typeface="Karla"/>
              </a:rPr>
              <a:t>Lea Schmitt, Argot Collective</a:t>
            </a:r>
            <a:endParaRPr i="0" sz="17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12100" y="390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2D2FF"/>
                </a:solidFill>
                <a:latin typeface="Karla"/>
                <a:ea typeface="Karla"/>
                <a:cs typeface="Karla"/>
                <a:sym typeface="Karla"/>
              </a:rPr>
              <a:t>@_schmitted</a:t>
            </a:r>
            <a:endParaRPr>
              <a:solidFill>
                <a:srgbClr val="D2D2FF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645175" y="2176475"/>
            <a:ext cx="78498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Karla"/>
                <a:ea typeface="Karla"/>
                <a:cs typeface="Karla"/>
                <a:sym typeface="Karla"/>
              </a:rPr>
              <a:t>Solidity lead the biggest EF spin out: </a:t>
            </a:r>
            <a:r>
              <a:rPr b="1" lang="en" sz="2100" u="sng">
                <a:latin typeface="Karla"/>
                <a:ea typeface="Karla"/>
                <a:cs typeface="Karla"/>
                <a:sym typeface="Karla"/>
              </a:rPr>
              <a:t>the Argot Collective</a:t>
            </a:r>
            <a:endParaRPr sz="2700" u="sng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76250" y="1366838"/>
            <a:ext cx="4305300" cy="24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76250" y="1366838"/>
            <a:ext cx="47625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b="1" lang="en" sz="2400">
                <a:latin typeface="Karla"/>
                <a:ea typeface="Karla"/>
                <a:cs typeface="Karla"/>
                <a:sym typeface="Karla"/>
              </a:rPr>
              <a:t>What is Argot?</a:t>
            </a:r>
            <a:endParaRPr b="1" i="0" sz="24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76250" y="3090875"/>
            <a:ext cx="5482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The Argot Collective is an independent nonprofit emerging from the EF, maintaining Solidity and foundational Ethereum infrastructure. </a:t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b="1" sz="150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7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7"/>
          <p:cNvSpPr/>
          <p:nvPr/>
        </p:nvSpPr>
        <p:spPr>
          <a:xfrm>
            <a:off x="476250" y="381000"/>
            <a:ext cx="1880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Karla"/>
                <a:ea typeface="Karla"/>
                <a:cs typeface="Karla"/>
                <a:sym typeface="Karla"/>
              </a:rPr>
              <a:t>An overview:</a:t>
            </a:r>
            <a:endParaRPr sz="105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Group 4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0" y="1053031"/>
            <a:ext cx="8403174" cy="3918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18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8"/>
          <p:cNvSpPr/>
          <p:nvPr/>
        </p:nvSpPr>
        <p:spPr>
          <a:xfrm>
            <a:off x="476250" y="381000"/>
            <a:ext cx="1880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Karla"/>
                <a:ea typeface="Karla"/>
                <a:cs typeface="Karla"/>
                <a:sym typeface="Karla"/>
              </a:rPr>
              <a:t>An overview:</a:t>
            </a:r>
            <a:endParaRPr sz="105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Group 4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0" y="1053031"/>
            <a:ext cx="8403174" cy="39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750400" y="1383375"/>
            <a:ext cx="17700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3887300" y="1472275"/>
            <a:ext cx="17700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2356650" y="1600525"/>
            <a:ext cx="1770000" cy="949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5576650" y="3833319"/>
            <a:ext cx="32079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</a:pPr>
            <a:r>
              <a:rPr b="1" lang="en">
                <a:latin typeface="Karla"/>
                <a:ea typeface="Karla"/>
                <a:cs typeface="Karla"/>
                <a:sym typeface="Karla"/>
              </a:rPr>
              <a:t>shared backend targeting yul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9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9"/>
          <p:cNvSpPr/>
          <p:nvPr/>
        </p:nvSpPr>
        <p:spPr>
          <a:xfrm>
            <a:off x="476250" y="381000"/>
            <a:ext cx="1880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Karla"/>
                <a:ea typeface="Karla"/>
                <a:cs typeface="Karla"/>
                <a:sym typeface="Karla"/>
              </a:rPr>
              <a:t>An overview:</a:t>
            </a:r>
            <a:endParaRPr sz="105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 title="Group 4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0" y="1053031"/>
            <a:ext cx="8403174" cy="39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1200750" y="1622250"/>
            <a:ext cx="2549400" cy="949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4408775" y="3324875"/>
            <a:ext cx="2549400" cy="949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0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0"/>
          <p:cNvSpPr/>
          <p:nvPr/>
        </p:nvSpPr>
        <p:spPr>
          <a:xfrm>
            <a:off x="476250" y="381000"/>
            <a:ext cx="1880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Karla"/>
                <a:ea typeface="Karla"/>
                <a:cs typeface="Karla"/>
                <a:sym typeface="Karla"/>
              </a:rPr>
              <a:t>An overview:</a:t>
            </a:r>
            <a:endParaRPr sz="105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 title="Group 4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0" y="1053031"/>
            <a:ext cx="8403174" cy="39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/>
          <p:nvPr/>
        </p:nvSpPr>
        <p:spPr>
          <a:xfrm>
            <a:off x="750400" y="1383375"/>
            <a:ext cx="17700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4416200" y="3354825"/>
            <a:ext cx="25719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3887300" y="1472275"/>
            <a:ext cx="17700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2356650" y="2137825"/>
            <a:ext cx="1770000" cy="4650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3780200" y="1722575"/>
            <a:ext cx="32079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</a:pPr>
            <a:r>
              <a:rPr b="1" lang="en">
                <a:latin typeface="Karla"/>
                <a:ea typeface="Karla"/>
                <a:cs typeface="Karla"/>
                <a:sym typeface="Karla"/>
              </a:rPr>
              <a:t>specification for Core Solidity 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" name="Google Shape;144;p21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21"/>
          <p:cNvSpPr/>
          <p:nvPr/>
        </p:nvSpPr>
        <p:spPr>
          <a:xfrm>
            <a:off x="476250" y="381000"/>
            <a:ext cx="1880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Karla"/>
                <a:ea typeface="Karla"/>
                <a:cs typeface="Karla"/>
                <a:sym typeface="Karla"/>
              </a:rPr>
              <a:t>An overview:</a:t>
            </a:r>
            <a:endParaRPr sz="105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 title="Group 4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0" y="1053031"/>
            <a:ext cx="8403174" cy="39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750400" y="1383375"/>
            <a:ext cx="17700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4416200" y="3354825"/>
            <a:ext cx="25719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3887300" y="1472275"/>
            <a:ext cx="17700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2356650" y="1776025"/>
            <a:ext cx="1770000" cy="3516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3780200" y="2000361"/>
            <a:ext cx="32079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</a:pPr>
            <a:r>
              <a:rPr b="1" lang="en">
                <a:latin typeface="Karla"/>
                <a:ea typeface="Karla"/>
                <a:cs typeface="Karla"/>
                <a:sym typeface="Karla"/>
              </a:rPr>
              <a:t>used for fuzzing by Solidity</a:t>
            </a:r>
            <a:endParaRPr b="1">
              <a:latin typeface="Karla"/>
              <a:ea typeface="Karla"/>
              <a:cs typeface="Karla"/>
              <a:sym typeface="Karl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</a:pPr>
            <a:r>
              <a:rPr b="1" lang="en">
                <a:latin typeface="Karla"/>
                <a:ea typeface="Karla"/>
                <a:cs typeface="Karla"/>
                <a:sym typeface="Karla"/>
              </a:rPr>
              <a:t>team members moving over to Core Solidity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22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22"/>
          <p:cNvSpPr/>
          <p:nvPr/>
        </p:nvSpPr>
        <p:spPr>
          <a:xfrm>
            <a:off x="476250" y="381000"/>
            <a:ext cx="1880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Karla"/>
                <a:ea typeface="Karla"/>
                <a:cs typeface="Karla"/>
                <a:sym typeface="Karla"/>
              </a:rPr>
              <a:t>An overview:</a:t>
            </a:r>
            <a:endParaRPr sz="105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 title="Group 4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0" y="1053031"/>
            <a:ext cx="8403174" cy="39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/>
          <p:nvPr/>
        </p:nvSpPr>
        <p:spPr>
          <a:xfrm>
            <a:off x="2401150" y="1616200"/>
            <a:ext cx="26577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4416200" y="3354825"/>
            <a:ext cx="2571900" cy="10035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2401150" y="1849282"/>
            <a:ext cx="32079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</a:pPr>
            <a:r>
              <a:rPr b="1" lang="en">
                <a:latin typeface="Karla"/>
                <a:ea typeface="Karla"/>
                <a:cs typeface="Karla"/>
                <a:sym typeface="Karla"/>
              </a:rPr>
              <a:t>bug discovery</a:t>
            </a:r>
            <a:endParaRPr b="1">
              <a:latin typeface="Karla"/>
              <a:ea typeface="Karla"/>
              <a:cs typeface="Karla"/>
              <a:sym typeface="Karl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</a:pPr>
            <a:r>
              <a:rPr b="1" lang="en">
                <a:latin typeface="Karla"/>
                <a:ea typeface="Karla"/>
                <a:cs typeface="Karla"/>
                <a:sym typeface="Karla"/>
              </a:rPr>
              <a:t>benchmarking</a:t>
            </a:r>
            <a:endParaRPr b="1">
              <a:latin typeface="Karla"/>
              <a:ea typeface="Karla"/>
              <a:cs typeface="Karla"/>
              <a:sym typeface="Karl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Karla"/>
              <a:buChar char="●"/>
            </a:pPr>
            <a:r>
              <a:rPr b="1" lang="en">
                <a:latin typeface="Karla"/>
                <a:ea typeface="Karla"/>
                <a:cs typeface="Karla"/>
                <a:sym typeface="Karla"/>
              </a:rPr>
              <a:t>user behavior 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/>
          <p:nvPr/>
        </p:nvSpPr>
        <p:spPr>
          <a:xfrm>
            <a:off x="0" y="881063"/>
            <a:ext cx="9144000" cy="4262400"/>
          </a:xfrm>
          <a:prstGeom prst="rect">
            <a:avLst/>
          </a:prstGeom>
          <a:solidFill>
            <a:srgbClr val="EAD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23"/>
          <p:cNvCxnSpPr/>
          <p:nvPr/>
        </p:nvCxnSpPr>
        <p:spPr>
          <a:xfrm>
            <a:off x="0" y="8810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23"/>
          <p:cNvSpPr/>
          <p:nvPr/>
        </p:nvSpPr>
        <p:spPr>
          <a:xfrm>
            <a:off x="476250" y="381000"/>
            <a:ext cx="1880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Karla"/>
                <a:ea typeface="Karla"/>
                <a:cs typeface="Karla"/>
                <a:sym typeface="Karla"/>
              </a:rPr>
              <a:t>An overview:</a:t>
            </a:r>
            <a:endParaRPr sz="105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 title="Group 4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0" y="1053031"/>
            <a:ext cx="8403174" cy="3918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5048250" y="1837504"/>
            <a:ext cx="18480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476250" y="1252538"/>
            <a:ext cx="36195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24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24"/>
          <p:cNvSpPr/>
          <p:nvPr/>
        </p:nvSpPr>
        <p:spPr>
          <a:xfrm>
            <a:off x="5048250" y="1837504"/>
            <a:ext cx="17955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5048250" y="2280416"/>
            <a:ext cx="1843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5048250" y="2723329"/>
            <a:ext cx="1843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5048250" y="3166241"/>
            <a:ext cx="1848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5048250" y="3609154"/>
            <a:ext cx="1848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5048250" y="3635348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5048250" y="3192435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5048250" y="2749523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5048250" y="2306610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/>
          <p:nvPr/>
        </p:nvSpPr>
        <p:spPr>
          <a:xfrm>
            <a:off x="5048250" y="2306610"/>
            <a:ext cx="200100" cy="200100"/>
          </a:xfrm>
          <a:prstGeom prst="ellipse">
            <a:avLst/>
          </a:prstGeom>
          <a:solidFill>
            <a:srgbClr val="58D6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5048250" y="1863698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/>
          <p:nvPr/>
        </p:nvSpPr>
        <p:spPr>
          <a:xfrm>
            <a:off x="5048250" y="1863698"/>
            <a:ext cx="200100" cy="200100"/>
          </a:xfrm>
          <a:prstGeom prst="ellipse">
            <a:avLst/>
          </a:prstGeom>
          <a:solidFill>
            <a:srgbClr val="58D6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2370904"/>
            <a:ext cx="92229" cy="83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1927991"/>
            <a:ext cx="92229" cy="8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/>
          <p:nvPr/>
        </p:nvSpPr>
        <p:spPr>
          <a:xfrm>
            <a:off x="488704" y="1410700"/>
            <a:ext cx="43743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b="1" lang="en" sz="2400">
                <a:latin typeface="Karla"/>
                <a:ea typeface="Karla"/>
                <a:cs typeface="Karla"/>
                <a:sym typeface="Karla"/>
              </a:rPr>
              <a:t>We strongly believe critical infrastructure should be</a:t>
            </a:r>
            <a:endParaRPr b="1" i="0" sz="24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5391150" y="3166241"/>
            <a:ext cx="196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None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Sustainable</a:t>
            </a:r>
            <a:endParaRPr b="1" i="0" sz="15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5391150" y="2723335"/>
            <a:ext cx="2288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None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Rigorously engineered</a:t>
            </a:r>
            <a:endParaRPr b="1" i="0" sz="15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5391150" y="2280416"/>
            <a:ext cx="19575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None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Open-source</a:t>
            </a:r>
            <a:endParaRPr b="1" i="0" sz="15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5391150" y="1837504"/>
            <a:ext cx="190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None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Independent</a:t>
            </a:r>
            <a:endParaRPr b="1" i="0" sz="15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5048250" y="2749473"/>
            <a:ext cx="200100" cy="200100"/>
          </a:xfrm>
          <a:prstGeom prst="ellipse">
            <a:avLst/>
          </a:prstGeom>
          <a:solidFill>
            <a:srgbClr val="58D6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2813766"/>
            <a:ext cx="92229" cy="8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/>
          <p:nvPr/>
        </p:nvSpPr>
        <p:spPr>
          <a:xfrm>
            <a:off x="5048250" y="3205485"/>
            <a:ext cx="200100" cy="200100"/>
          </a:xfrm>
          <a:prstGeom prst="ellipse">
            <a:avLst/>
          </a:prstGeom>
          <a:solidFill>
            <a:srgbClr val="58D6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3269778"/>
            <a:ext cx="92229" cy="83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4"/>
          <p:cNvCxnSpPr/>
          <p:nvPr/>
        </p:nvCxnSpPr>
        <p:spPr>
          <a:xfrm>
            <a:off x="4726800" y="-47750"/>
            <a:ext cx="33300" cy="523890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/>
          <p:nvPr/>
        </p:nvSpPr>
        <p:spPr>
          <a:xfrm>
            <a:off x="476250" y="1252538"/>
            <a:ext cx="36195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25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5"/>
          <p:cNvSpPr/>
          <p:nvPr/>
        </p:nvSpPr>
        <p:spPr>
          <a:xfrm>
            <a:off x="476254" y="1200275"/>
            <a:ext cx="43743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b="1" lang="en" sz="2400">
                <a:latin typeface="Karla"/>
                <a:ea typeface="Karla"/>
                <a:cs typeface="Karla"/>
                <a:sym typeface="Karla"/>
              </a:rPr>
              <a:t>Why we spun out &amp; where are we at</a:t>
            </a:r>
            <a:endParaRPr b="1" i="0" sz="24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475" y="296350"/>
            <a:ext cx="337100" cy="30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25"/>
          <p:cNvCxnSpPr/>
          <p:nvPr/>
        </p:nvCxnSpPr>
        <p:spPr>
          <a:xfrm>
            <a:off x="4726800" y="-47750"/>
            <a:ext cx="33300" cy="523890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5"/>
          <p:cNvSpPr txBox="1"/>
          <p:nvPr/>
        </p:nvSpPr>
        <p:spPr>
          <a:xfrm>
            <a:off x="5194450" y="1612900"/>
            <a:ext cx="3455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Karla"/>
              <a:buChar char="●"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EF’s decentralization</a:t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Karla"/>
              <a:buChar char="●"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Incorporated as non-profit this summer</a:t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Karla"/>
              <a:buChar char="●"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Funding diversification: 3-4 years secured, working towards 10</a:t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Karla"/>
              <a:buChar char="●"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Aiming to work very closely with the community to shape future direction</a:t>
            </a:r>
            <a:endParaRPr b="1" sz="1500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BC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26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26"/>
          <p:cNvSpPr/>
          <p:nvPr/>
        </p:nvSpPr>
        <p:spPr>
          <a:xfrm>
            <a:off x="476250" y="722416"/>
            <a:ext cx="43743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b="1" lang="en" sz="2400">
                <a:latin typeface="Karla"/>
                <a:ea typeface="Karla"/>
                <a:cs typeface="Karla"/>
                <a:sym typeface="Karla"/>
              </a:rPr>
              <a:t>Thank you</a:t>
            </a:r>
            <a:r>
              <a:rPr b="1" lang="en" sz="2400">
                <a:latin typeface="Karla"/>
                <a:ea typeface="Karla"/>
                <a:cs typeface="Karla"/>
                <a:sym typeface="Karla"/>
              </a:rPr>
              <a:t>!</a:t>
            </a:r>
            <a:endParaRPr b="1" i="0" sz="2400" u="none" cap="none" strike="noStrike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7117200" y="3949800"/>
            <a:ext cx="2026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@argotorg</a:t>
            </a:r>
            <a:endParaRPr b="1"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b="1" lang="en" sz="1500">
                <a:latin typeface="Karla"/>
                <a:ea typeface="Karla"/>
                <a:cs typeface="Karla"/>
                <a:sym typeface="Karla"/>
              </a:rPr>
              <a:t>@_schmitted</a:t>
            </a:r>
            <a:endParaRPr b="1" sz="150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27" name="Google Shape;227;p26" title="ARG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450" y="2339375"/>
            <a:ext cx="4295101" cy="8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