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Lst>
  <p:sldSz cy="5143500" cx="9144000"/>
  <p:notesSz cx="5143500" cy="9144000"/>
  <p:embeddedFontLst>
    <p:embeddedFont>
      <p:font typeface="Overpass"/>
      <p:regular r:id="rId58"/>
      <p:bold r:id="rId59"/>
      <p:italic r:id="rId60"/>
      <p:boldItalic r:id="rId61"/>
    </p:embeddedFont>
    <p:embeddedFont>
      <p:font typeface="Overpass Mono"/>
      <p:regular r:id="rId62"/>
      <p:bold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4" roundtripDataSignature="AMtx7mguX8v2udjlx7GcYl8oklJPJsoZ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OverpassMono-regular.fntdata"/><Relationship Id="rId61" Type="http://schemas.openxmlformats.org/officeDocument/2006/relationships/font" Target="fonts/Overpass-boldItalic.fntdata"/><Relationship Id="rId20" Type="http://schemas.openxmlformats.org/officeDocument/2006/relationships/slide" Target="slides/slide16.xml"/><Relationship Id="rId64" Type="http://customschemas.google.com/relationships/presentationmetadata" Target="metadata"/><Relationship Id="rId63" Type="http://schemas.openxmlformats.org/officeDocument/2006/relationships/font" Target="fonts/OverpassMono-bold.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font" Target="fonts/Overpass-italic.fntdata"/><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font" Target="fonts/Overpass-bold.fntdata"/><Relationship Id="rId14" Type="http://schemas.openxmlformats.org/officeDocument/2006/relationships/slide" Target="slides/slide10.xml"/><Relationship Id="rId58" Type="http://schemas.openxmlformats.org/officeDocument/2006/relationships/font" Target="fonts/Overpass-regular.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77240" y="4777560"/>
            <a:ext cx="6217560" cy="452592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372840" cy="50256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399200" y="0"/>
            <a:ext cx="3372840" cy="50256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555480"/>
            <a:ext cx="3372840" cy="50256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399200" y="9555480"/>
            <a:ext cx="3372840" cy="50256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 name="Google Shape;15;p1: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Hi! My name is Rodrigo Ribeiro and I’m researcher at Argot Collective.</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Today, I’ll talk about my work in Core Solidity Project.</a:t>
            </a:r>
            <a:endParaRPr b="0" sz="1800" u="none" strike="noStrike">
              <a:solidFill>
                <a:srgbClr val="000000"/>
              </a:solidFill>
              <a:latin typeface="Arial"/>
              <a:ea typeface="Arial"/>
              <a:cs typeface="Arial"/>
              <a:sym typeface="Arial"/>
            </a:endParaRPr>
          </a:p>
        </p:txBody>
      </p:sp>
      <p:sp>
        <p:nvSpPr>
          <p:cNvPr id="16" name="Google Shape;16;p1: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 name="Google Shape;34;p2: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Solidity is world most used smart contract development language.</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It is robust and secure billions of dollars of value.</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We are proud of it’s history of secure code generation, but users are aware of it’s limitations: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The type system is not expressive enough to express safety properties or to produce reusable library code</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The language does not support compile time evaluation.</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Fixing these limitations within the current implementation is hard. The addition of new language features is made</a:t>
            </a:r>
            <a:r>
              <a:rPr lang="en-US"/>
              <a:t> i</a:t>
            </a:r>
            <a:r>
              <a:rPr b="0" lang="en-US" sz="1800" u="none" strike="noStrike">
                <a:solidFill>
                  <a:srgbClr val="000000"/>
                </a:solidFill>
                <a:latin typeface="Arial"/>
                <a:ea typeface="Arial"/>
                <a:cs typeface="Arial"/>
                <a:sym typeface="Arial"/>
              </a:rPr>
              <a:t>n a ad-hoc way, which makes maintainability and reasoning about correctness difficult.</a:t>
            </a:r>
            <a:endParaRPr b="0" sz="1800" u="none" strike="noStrike">
              <a:solidFill>
                <a:srgbClr val="000000"/>
              </a:solidFill>
              <a:latin typeface="Arial"/>
              <a:ea typeface="Arial"/>
              <a:cs typeface="Arial"/>
              <a:sym typeface="Arial"/>
            </a:endParaRPr>
          </a:p>
        </p:txBody>
      </p:sp>
      <p:sp>
        <p:nvSpPr>
          <p:cNvPr id="35" name="Google Shape;35;p2: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 name="Google Shape;53;p3: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In order to solve these issues, the Argot collective started a complete rebuild of the language type system and it’s compiler pipeline.</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This rebuild is what we call Core Solidity.</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Core Solidity will introduce new language features and it will have a formally verified semantics, that can be used to enable static analysis and formal verification of application code.</a:t>
            </a:r>
            <a:endParaRPr b="0" sz="1800" u="none" strike="noStrike">
              <a:solidFill>
                <a:srgbClr val="000000"/>
              </a:solidFill>
              <a:latin typeface="Arial"/>
              <a:ea typeface="Arial"/>
              <a:cs typeface="Arial"/>
              <a:sym typeface="Arial"/>
            </a:endParaRPr>
          </a:p>
        </p:txBody>
      </p:sp>
      <p:sp>
        <p:nvSpPr>
          <p:cNvPr id="54" name="Google Shape;54;p3: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 name="Google Shape;72;p4: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We extended Solidity with the following features: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1. Generics and type classes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2. Algebraic data types and pattern matching.</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3. Type inference.</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4. High-order and anonymous functions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5. Compile time evaluation.</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Let’s take at look in some examples of these features.</a:t>
            </a:r>
            <a:endParaRPr b="0" sz="1800" u="none" strike="noStrike">
              <a:solidFill>
                <a:srgbClr val="000000"/>
              </a:solidFill>
              <a:latin typeface="Arial"/>
              <a:ea typeface="Arial"/>
              <a:cs typeface="Arial"/>
              <a:sym typeface="Arial"/>
            </a:endParaRPr>
          </a:p>
        </p:txBody>
      </p:sp>
      <p:sp>
        <p:nvSpPr>
          <p:cNvPr id="73" name="Google Shape;73;p4: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5: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Algebraic data types allows data modelling by composing sum and product types in a simple, principled way.</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In this example, we have the definition of a wad, a type for representing a 18 decimal fixed point number.</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92" name="Google Shape;92;p5: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6: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Each algebraic data type defines a type name and a set of data constructor names to build values of the newly declared type.</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In this example, we have that the wad type has a unique constructor which holds a uint256 value.</a:t>
            </a:r>
            <a:endParaRPr b="0" sz="1800" u="none" strike="noStrike">
              <a:solidFill>
                <a:srgbClr val="000000"/>
              </a:solidFill>
              <a:latin typeface="Arial"/>
              <a:ea typeface="Arial"/>
              <a:cs typeface="Arial"/>
              <a:sym typeface="Arial"/>
            </a:endParaRPr>
          </a:p>
        </p:txBody>
      </p:sp>
      <p:sp>
        <p:nvSpPr>
          <p:cNvPr id="110" name="Google Shape;110;p6: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7: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Algebraic data types allow the definition of different data constructors to represent alternative ways of creating values of the type.</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As an example, consider a type for modelling an auction state which can be one of 4 different possibilities.</a:t>
            </a:r>
            <a:endParaRPr b="0" sz="1800" u="none" strike="noStrike">
              <a:solidFill>
                <a:srgbClr val="000000"/>
              </a:solidFill>
              <a:latin typeface="Arial"/>
              <a:ea typeface="Arial"/>
              <a:cs typeface="Arial"/>
              <a:sym typeface="Arial"/>
            </a:endParaRPr>
          </a:p>
        </p:txBody>
      </p:sp>
      <p:sp>
        <p:nvSpPr>
          <p:cNvPr id="132" name="Google Shape;132;p7: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8: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Each constructor provides a different way for building values of the type.</a:t>
            </a:r>
            <a:endParaRPr b="0" sz="1800" u="none" strike="noStrike">
              <a:solidFill>
                <a:srgbClr val="000000"/>
              </a:solidFill>
              <a:latin typeface="Arial"/>
              <a:ea typeface="Arial"/>
              <a:cs typeface="Arial"/>
              <a:sym typeface="Arial"/>
            </a:endParaRPr>
          </a:p>
        </p:txBody>
      </p:sp>
      <p:sp>
        <p:nvSpPr>
          <p:cNvPr id="151" name="Google Shape;151;p8: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9: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Product types allow constructors to store tuple of values of possibly different types. As an example, Cancelled constructor holds an uint256 and address.</a:t>
            </a:r>
            <a:endParaRPr b="0" sz="1800" u="none" strike="noStrike">
              <a:solidFill>
                <a:srgbClr val="000000"/>
              </a:solidFill>
              <a:latin typeface="Arial"/>
              <a:ea typeface="Arial"/>
              <a:cs typeface="Arial"/>
              <a:sym typeface="Arial"/>
            </a:endParaRPr>
          </a:p>
        </p:txBody>
      </p:sp>
      <p:sp>
        <p:nvSpPr>
          <p:cNvPr id="174" name="Google Shape;174;p9: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10: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The true expressivity of algebraic data types comes together with pattern matching, that allows the change of control flow based on the shape of the matched value.</a:t>
            </a:r>
            <a:endParaRPr b="0" sz="1800" u="none" strike="noStrike">
              <a:solidFill>
                <a:srgbClr val="000000"/>
              </a:solidFill>
              <a:latin typeface="Arial"/>
              <a:ea typeface="Arial"/>
              <a:cs typeface="Arial"/>
              <a:sym typeface="Arial"/>
            </a:endParaRPr>
          </a:p>
        </p:txBody>
      </p:sp>
      <p:sp>
        <p:nvSpPr>
          <p:cNvPr id="197" name="Google Shape;197;p10: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1: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1: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Pattern matching is built around match blocks.</a:t>
            </a:r>
            <a:endParaRPr b="0" sz="1800" u="none" strike="noStrike">
              <a:solidFill>
                <a:srgbClr val="000000"/>
              </a:solidFill>
              <a:latin typeface="Arial"/>
              <a:ea typeface="Arial"/>
              <a:cs typeface="Arial"/>
              <a:sym typeface="Arial"/>
            </a:endParaRPr>
          </a:p>
        </p:txBody>
      </p:sp>
      <p:sp>
        <p:nvSpPr>
          <p:cNvPr id="217" name="Google Shape;217;p11: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2: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12: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Which holds a discriminee, the value with will be analysed in the block. In this example, a pair of wad values.</a:t>
            </a:r>
            <a:endParaRPr b="0" sz="1800" u="none" strike="noStrike">
              <a:solidFill>
                <a:srgbClr val="000000"/>
              </a:solidFill>
              <a:latin typeface="Arial"/>
              <a:ea typeface="Arial"/>
              <a:cs typeface="Arial"/>
              <a:sym typeface="Arial"/>
            </a:endParaRPr>
          </a:p>
        </p:txBody>
      </p:sp>
      <p:sp>
        <p:nvSpPr>
          <p:cNvPr id="237" name="Google Shape;237;p12: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3: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13: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And the match block can have a series of blocks which will be selected based on the shape of the discriminee. </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Each block allows the introduction of new values in the scope by variables that appear in the pattern.</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In this example, we can retrieve the wrapped uint256 values of the wad arguments.</a:t>
            </a:r>
            <a:endParaRPr b="0" sz="1800" u="none" strike="noStrike">
              <a:solidFill>
                <a:srgbClr val="000000"/>
              </a:solidFill>
              <a:latin typeface="Arial"/>
              <a:ea typeface="Arial"/>
              <a:cs typeface="Arial"/>
              <a:sym typeface="Arial"/>
            </a:endParaRPr>
          </a:p>
        </p:txBody>
      </p:sp>
      <p:sp>
        <p:nvSpPr>
          <p:cNvPr id="257" name="Google Shape;257;p13: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4: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14: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And use these newly introduced values to build the result.</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Since we want to produce a wad value, we need to wrap it using the data constructor for this type.</a:t>
            </a:r>
            <a:endParaRPr b="0" sz="1800" u="none" strike="noStrike">
              <a:solidFill>
                <a:srgbClr val="000000"/>
              </a:solidFill>
              <a:latin typeface="Arial"/>
              <a:ea typeface="Arial"/>
              <a:cs typeface="Arial"/>
              <a:sym typeface="Arial"/>
            </a:endParaRPr>
          </a:p>
        </p:txBody>
      </p:sp>
      <p:sp>
        <p:nvSpPr>
          <p:cNvPr id="278" name="Google Shape;278;p14: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5: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5: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216000" lvl="0" marL="216000" rtl="0" algn="l">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Generics, also know as parametric polymorphism, allows the definition of functions that work in a uniform way for all types.</a:t>
            </a:r>
            <a:endParaRPr b="0" sz="2000" u="none" strike="noStrike">
              <a:solidFill>
                <a:srgbClr val="000000"/>
              </a:solidFill>
              <a:latin typeface="Arial"/>
              <a:ea typeface="Arial"/>
              <a:cs typeface="Arial"/>
              <a:sym typeface="Arial"/>
            </a:endParaRPr>
          </a:p>
          <a:p>
            <a:pPr indent="-216000" lvl="0" marL="216000" rtl="0" algn="l">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Here, we have an example of the polymorphic identity function.</a:t>
            </a:r>
            <a:endParaRPr b="0" sz="2000" u="none" strike="noStrike">
              <a:solidFill>
                <a:srgbClr val="000000"/>
              </a:solidFill>
              <a:latin typeface="Arial"/>
              <a:ea typeface="Arial"/>
              <a:cs typeface="Arial"/>
              <a:sym typeface="Arial"/>
            </a:endParaRPr>
          </a:p>
        </p:txBody>
      </p:sp>
      <p:sp>
        <p:nvSpPr>
          <p:cNvPr id="298" name="Google Shape;298;p15: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6: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16: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It defines a type variable, named T, which is scoped through all function definition.</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Here, we use it on the function argument type and return type.</a:t>
            </a:r>
            <a:endParaRPr b="0" sz="1800" u="none" strike="noStrike">
              <a:solidFill>
                <a:srgbClr val="000000"/>
              </a:solidFill>
              <a:latin typeface="Arial"/>
              <a:ea typeface="Arial"/>
              <a:cs typeface="Arial"/>
              <a:sym typeface="Arial"/>
            </a:endParaRPr>
          </a:p>
        </p:txBody>
      </p:sp>
      <p:sp>
        <p:nvSpPr>
          <p:cNvPr id="317" name="Google Shape;317;p16: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7: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p17: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It defines a type variable, named T, which is scoped through all function definition.</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Here, we use it on the function argument type and return type.</a:t>
            </a:r>
            <a:endParaRPr b="0" sz="1800" u="none" strike="noStrike">
              <a:solidFill>
                <a:srgbClr val="000000"/>
              </a:solidFill>
              <a:latin typeface="Arial"/>
              <a:ea typeface="Arial"/>
              <a:cs typeface="Arial"/>
              <a:sym typeface="Arial"/>
            </a:endParaRPr>
          </a:p>
        </p:txBody>
      </p:sp>
      <p:sp>
        <p:nvSpPr>
          <p:cNvPr id="340" name="Google Shape;340;p17: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9: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19: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Since we allow polymorphic function, we also need a way to define polymorphic user defined types.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Algebraic data types allows the definition of polymorphic types by adding type parameters to their definitions</a:t>
            </a:r>
            <a:endParaRPr b="0" sz="1800" u="none" strike="noStrike">
              <a:solidFill>
                <a:srgbClr val="000000"/>
              </a:solidFill>
              <a:latin typeface="Arial"/>
              <a:ea typeface="Arial"/>
              <a:cs typeface="Arial"/>
              <a:sym typeface="Arial"/>
            </a:endParaRPr>
          </a:p>
        </p:txBody>
      </p:sp>
      <p:sp>
        <p:nvSpPr>
          <p:cNvPr id="363" name="Google Shape;363;p19: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0: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p20: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Type parameters are defined together with the type name</a:t>
            </a:r>
            <a:endParaRPr b="0" sz="1800" u="none" strike="noStrike">
              <a:solidFill>
                <a:srgbClr val="000000"/>
              </a:solidFill>
              <a:latin typeface="Arial"/>
              <a:ea typeface="Arial"/>
              <a:cs typeface="Arial"/>
              <a:sym typeface="Arial"/>
            </a:endParaRPr>
          </a:p>
        </p:txBody>
      </p:sp>
      <p:sp>
        <p:nvSpPr>
          <p:cNvPr id="382" name="Google Shape;382;p20: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1: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2" name="Google Shape;402;p21: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And type parameters can be mentioned in the data type constructors. In this example, we have that the Error constructor can hold a value of type T as its payload.</a:t>
            </a:r>
            <a:endParaRPr b="0" sz="1800" u="none" strike="noStrike">
              <a:solidFill>
                <a:srgbClr val="000000"/>
              </a:solidFill>
              <a:latin typeface="Arial"/>
              <a:ea typeface="Arial"/>
              <a:cs typeface="Arial"/>
              <a:sym typeface="Arial"/>
            </a:endParaRPr>
          </a:p>
        </p:txBody>
      </p:sp>
      <p:sp>
        <p:nvSpPr>
          <p:cNvPr id="403" name="Google Shape;403;p21: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2: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3" name="Google Shape;423;p22: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While interesting, generics are limited because very few functionality works for all types.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Most useful operations need to work for some types.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Type classes are the solution for this: they allow the systematic combination of generics and overloading in programming languages.</a:t>
            </a:r>
            <a:endParaRPr b="0" sz="1800" u="none" strike="noStrike">
              <a:solidFill>
                <a:srgbClr val="000000"/>
              </a:solidFill>
              <a:latin typeface="Arial"/>
              <a:ea typeface="Arial"/>
              <a:cs typeface="Arial"/>
              <a:sym typeface="Arial"/>
            </a:endParaRPr>
          </a:p>
        </p:txBody>
      </p:sp>
      <p:sp>
        <p:nvSpPr>
          <p:cNvPr id="424" name="Google Shape;424;p22: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23: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23: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As an example, let’s consider the following declaration of a type class for types that support a multiplication operation.</a:t>
            </a:r>
            <a:endParaRPr b="0" sz="1800" u="none" strike="noStrike">
              <a:solidFill>
                <a:srgbClr val="000000"/>
              </a:solidFill>
              <a:latin typeface="Arial"/>
              <a:ea typeface="Arial"/>
              <a:cs typeface="Arial"/>
              <a:sym typeface="Arial"/>
            </a:endParaRPr>
          </a:p>
        </p:txBody>
      </p:sp>
      <p:sp>
        <p:nvSpPr>
          <p:cNvPr id="443" name="Google Shape;443;p23: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24: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1" name="Google Shape;461;p24: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 type class introduces a class name</a:t>
            </a:r>
            <a:endParaRPr b="0" sz="1800" u="none" strike="noStrike">
              <a:solidFill>
                <a:srgbClr val="000000"/>
              </a:solidFill>
              <a:latin typeface="Arial"/>
              <a:ea typeface="Arial"/>
              <a:cs typeface="Arial"/>
              <a:sym typeface="Arial"/>
            </a:endParaRPr>
          </a:p>
        </p:txBody>
      </p:sp>
      <p:sp>
        <p:nvSpPr>
          <p:cNvPr id="462" name="Google Shape;462;p24: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25: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p25: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And type arguments which can be used in its member function signatures to define its type.</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In this example, function mul takes two arguments of type T and returns a T value.</a:t>
            </a:r>
            <a:endParaRPr b="0" sz="1800" u="none" strike="noStrike">
              <a:solidFill>
                <a:srgbClr val="000000"/>
              </a:solidFill>
              <a:latin typeface="Arial"/>
              <a:ea typeface="Arial"/>
              <a:cs typeface="Arial"/>
              <a:sym typeface="Arial"/>
            </a:endParaRPr>
          </a:p>
        </p:txBody>
      </p:sp>
      <p:sp>
        <p:nvSpPr>
          <p:cNvPr id="483" name="Google Shape;483;p25: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6: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4" name="Google Shape;504;p26: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Implementations of overloaded definitions are provided by instance declarations. In instance definitions, type variable arguments are replaced by the concrete type that we are giving an implementation.</a:t>
            </a:r>
            <a:endParaRPr b="0" sz="1800" u="none" strike="noStrike">
              <a:solidFill>
                <a:srgbClr val="000000"/>
              </a:solidFill>
              <a:latin typeface="Arial"/>
              <a:ea typeface="Arial"/>
              <a:cs typeface="Arial"/>
              <a:sym typeface="Arial"/>
            </a:endParaRPr>
          </a:p>
        </p:txBody>
      </p:sp>
      <p:sp>
        <p:nvSpPr>
          <p:cNvPr id="505" name="Google Shape;505;p26: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27: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8" name="Google Shape;528;p27: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Type classes allow the usage of constraints, which restrict the usage of polymorphic types to the ones which are instances of the refereed type class.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In this example, we have a function called square, which works for any type T that is an instance of Mul type class.</a:t>
            </a:r>
            <a:endParaRPr b="0" sz="1800" u="none" strike="noStrike">
              <a:solidFill>
                <a:srgbClr val="000000"/>
              </a:solidFill>
              <a:latin typeface="Arial"/>
              <a:ea typeface="Arial"/>
              <a:cs typeface="Arial"/>
              <a:sym typeface="Arial"/>
            </a:endParaRPr>
          </a:p>
        </p:txBody>
      </p:sp>
      <p:sp>
        <p:nvSpPr>
          <p:cNvPr id="529" name="Google Shape;529;p27: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28: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8" name="Google Shape;548;p28: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Another features included in Core are high-order and anonymous functions.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With them, functions are now first-class citizens in Core Solidity, which means that they can be used as arguments and return values of functions.</a:t>
            </a:r>
            <a:endParaRPr b="0" sz="1800" u="none" strike="noStrike">
              <a:solidFill>
                <a:srgbClr val="000000"/>
              </a:solidFill>
              <a:latin typeface="Arial"/>
              <a:ea typeface="Arial"/>
              <a:cs typeface="Arial"/>
              <a:sym typeface="Arial"/>
            </a:endParaRPr>
          </a:p>
        </p:txBody>
      </p:sp>
      <p:sp>
        <p:nvSpPr>
          <p:cNvPr id="549" name="Google Shape;549;p28: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29: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29: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Let’s consider the usage of these features to build a utility which can be used to count the number of times a given function is called.</a:t>
            </a:r>
            <a:endParaRPr b="0" sz="1800" u="none" strike="noStrike">
              <a:solidFill>
                <a:srgbClr val="000000"/>
              </a:solidFill>
              <a:latin typeface="Arial"/>
              <a:ea typeface="Arial"/>
              <a:cs typeface="Arial"/>
              <a:sym typeface="Arial"/>
            </a:endParaRPr>
          </a:p>
        </p:txBody>
      </p:sp>
      <p:sp>
        <p:nvSpPr>
          <p:cNvPr id="568" name="Google Shape;568;p29: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30: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5" name="Google Shape;585;p30: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Anonymous functions definition starts with the lam keyword, followed by its arguments and body which can capture values of their definition scope.</a:t>
            </a:r>
            <a:endParaRPr b="0" sz="1800" u="none" strike="noStrike">
              <a:solidFill>
                <a:srgbClr val="000000"/>
              </a:solidFill>
              <a:latin typeface="Arial"/>
              <a:ea typeface="Arial"/>
              <a:cs typeface="Arial"/>
              <a:sym typeface="Arial"/>
            </a:endParaRPr>
          </a:p>
        </p:txBody>
      </p:sp>
      <p:sp>
        <p:nvSpPr>
          <p:cNvPr id="586" name="Google Shape;586;p30: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31: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5" name="Google Shape;605;p31: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As an example, counter variable is capture inside the anonymous function definition.</a:t>
            </a:r>
            <a:endParaRPr b="0" sz="1800" u="none" strike="noStrike">
              <a:solidFill>
                <a:srgbClr val="000000"/>
              </a:solidFill>
              <a:latin typeface="Arial"/>
              <a:ea typeface="Arial"/>
              <a:cs typeface="Arial"/>
              <a:sym typeface="Arial"/>
            </a:endParaRPr>
          </a:p>
        </p:txBody>
      </p:sp>
      <p:sp>
        <p:nvSpPr>
          <p:cNvPr id="606" name="Google Shape;606;p31: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32: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5" name="Google Shape;625;p32: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216000" lvl="0" marL="216000" rtl="0" algn="l">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Function types are curried, so a n-argument function type is represented by a tuple of n-arguments followed by an arrow and the return type.</a:t>
            </a:r>
            <a:endParaRPr b="0" sz="2000" u="none" strike="noStrike">
              <a:solidFill>
                <a:srgbClr val="000000"/>
              </a:solidFill>
              <a:latin typeface="Arial"/>
              <a:ea typeface="Arial"/>
              <a:cs typeface="Arial"/>
              <a:sym typeface="Arial"/>
            </a:endParaRPr>
          </a:p>
        </p:txBody>
      </p:sp>
      <p:sp>
        <p:nvSpPr>
          <p:cNvPr id="626" name="Google Shape;626;p32: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33: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6" name="Google Shape;646;p33: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Core Solidity type system allows for a type inference algorithm.</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Most of type annotations are optional.</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Required annotations are only necessary to solve ambiguities, which happen rarely.</a:t>
            </a:r>
            <a:endParaRPr b="0" sz="1800" u="none" strike="noStrike">
              <a:solidFill>
                <a:srgbClr val="000000"/>
              </a:solidFill>
              <a:latin typeface="Arial"/>
              <a:ea typeface="Arial"/>
              <a:cs typeface="Arial"/>
              <a:sym typeface="Arial"/>
            </a:endParaRPr>
          </a:p>
        </p:txBody>
      </p:sp>
      <p:sp>
        <p:nvSpPr>
          <p:cNvPr id="647" name="Google Shape;647;p33: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34: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5" name="Google Shape;665;p34: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As an example, of the usefulness of type inference, consider the following simple array definition in Classic Solidity.</a:t>
            </a:r>
            <a:endParaRPr b="0" sz="1800" u="none" strike="noStrike">
              <a:solidFill>
                <a:srgbClr val="000000"/>
              </a:solidFill>
              <a:latin typeface="Arial"/>
              <a:ea typeface="Arial"/>
              <a:cs typeface="Arial"/>
              <a:sym typeface="Arial"/>
            </a:endParaRPr>
          </a:p>
        </p:txBody>
      </p:sp>
      <p:sp>
        <p:nvSpPr>
          <p:cNvPr id="666" name="Google Shape;666;p34: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35: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4" name="Google Shape;684;p35: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It is rejected by the compiler which returns an error message that says that uint8 is not convertible to uint256</a:t>
            </a:r>
            <a:endParaRPr b="0" sz="1800" u="none" strike="noStrike">
              <a:solidFill>
                <a:srgbClr val="000000"/>
              </a:solidFill>
              <a:latin typeface="Arial"/>
              <a:ea typeface="Arial"/>
              <a:cs typeface="Arial"/>
              <a:sym typeface="Arial"/>
            </a:endParaRPr>
          </a:p>
        </p:txBody>
      </p:sp>
      <p:sp>
        <p:nvSpPr>
          <p:cNvPr id="685" name="Google Shape;685;p35: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36: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3" name="Google Shape;703;p36: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This happens due to the limited support for infering types for array literal elements.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The rule used says that the array has the type of the first expression such that all other elements can be casted to.</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In this example, all elements have type uint8.</a:t>
            </a:r>
            <a:endParaRPr b="0" sz="1800" u="none" strike="noStrike">
              <a:solidFill>
                <a:srgbClr val="000000"/>
              </a:solidFill>
              <a:latin typeface="Arial"/>
              <a:ea typeface="Arial"/>
              <a:cs typeface="Arial"/>
              <a:sym typeface="Arial"/>
            </a:endParaRPr>
          </a:p>
        </p:txBody>
      </p:sp>
      <p:sp>
        <p:nvSpPr>
          <p:cNvPr id="704" name="Google Shape;704;p36: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37: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2" name="Google Shape;722;p37: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We can make the compiler happy by adding a typing coercion to the array first element.</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However, in our view, this type annotation is unnecessary, since the variable definition already has declared the array (and its elements) type.</a:t>
            </a:r>
            <a:endParaRPr b="0" sz="1800" u="none" strike="noStrike">
              <a:solidFill>
                <a:srgbClr val="000000"/>
              </a:solidFill>
              <a:latin typeface="Arial"/>
              <a:ea typeface="Arial"/>
              <a:cs typeface="Arial"/>
              <a:sym typeface="Arial"/>
            </a:endParaRPr>
          </a:p>
        </p:txBody>
      </p:sp>
      <p:sp>
        <p:nvSpPr>
          <p:cNvPr id="723" name="Google Shape;723;p37: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38: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1" name="Google Shape;741;p38: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Thanks to the constraint based type inference algorithm used by Core Solidity, this example is accepted without the need of using any type coercion.</a:t>
            </a:r>
            <a:endParaRPr b="0" sz="1800" u="none" strike="noStrike">
              <a:solidFill>
                <a:srgbClr val="000000"/>
              </a:solidFill>
              <a:latin typeface="Arial"/>
              <a:ea typeface="Arial"/>
              <a:cs typeface="Arial"/>
              <a:sym typeface="Arial"/>
            </a:endParaRPr>
          </a:p>
        </p:txBody>
      </p:sp>
      <p:sp>
        <p:nvSpPr>
          <p:cNvPr id="742" name="Google Shape;742;p38: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39: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0" name="Google Shape;760;p39: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We have seen a lot of new features present in Core Solidity.</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However, developers might be asking: how these features would help me?</a:t>
            </a:r>
            <a:endParaRPr b="0" sz="1800" u="none" strike="noStrike">
              <a:solidFill>
                <a:srgbClr val="000000"/>
              </a:solidFill>
              <a:latin typeface="Arial"/>
              <a:ea typeface="Arial"/>
              <a:cs typeface="Arial"/>
              <a:sym typeface="Arial"/>
            </a:endParaRPr>
          </a:p>
        </p:txBody>
      </p:sp>
      <p:sp>
        <p:nvSpPr>
          <p:cNvPr id="761" name="Google Shape;761;p39: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40: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9" name="Google Shape;779;p40: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Let me show an example.</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Consider the implementation of forge-std Console.log library.</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Since classic does not support Generics and overloading a proper way, the library has more than 30 different overloaded functions that does </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The same thing: call function _sendLogPayload with its input arguments.</a:t>
            </a:r>
            <a:endParaRPr b="0" sz="1800" u="none" strike="noStrike">
              <a:solidFill>
                <a:srgbClr val="000000"/>
              </a:solidFill>
              <a:latin typeface="Arial"/>
              <a:ea typeface="Arial"/>
              <a:cs typeface="Arial"/>
              <a:sym typeface="Arial"/>
            </a:endParaRPr>
          </a:p>
        </p:txBody>
      </p:sp>
      <p:sp>
        <p:nvSpPr>
          <p:cNvPr id="780" name="Google Shape;780;p40: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41: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8" name="Google Shape;798;p41: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And function _sendLogPayloadImplementation uses an assembly block to make a static call to a specific address.</a:t>
            </a:r>
            <a:endParaRPr b="0" sz="1800" u="none" strike="noStrike">
              <a:solidFill>
                <a:srgbClr val="000000"/>
              </a:solidFill>
              <a:latin typeface="Arial"/>
              <a:ea typeface="Arial"/>
              <a:cs typeface="Arial"/>
              <a:sym typeface="Arial"/>
            </a:endParaRPr>
          </a:p>
        </p:txBody>
      </p:sp>
      <p:sp>
        <p:nvSpPr>
          <p:cNvPr id="799" name="Google Shape;799;p41: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42: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6" name="Google Shape;816;p42: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In Core Solidity, we can build the same functionality using a single polymorphic definition.</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In this way, we can eliminate the more than 30 repetitive function definitions.</a:t>
            </a:r>
            <a:endParaRPr b="0" sz="1800" u="none" strike="noStrike">
              <a:solidFill>
                <a:srgbClr val="000000"/>
              </a:solidFill>
              <a:latin typeface="Arial"/>
              <a:ea typeface="Arial"/>
              <a:cs typeface="Arial"/>
              <a:sym typeface="Arial"/>
            </a:endParaRPr>
          </a:p>
        </p:txBody>
      </p:sp>
      <p:sp>
        <p:nvSpPr>
          <p:cNvPr id="817" name="Google Shape;817;p42: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43: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4" name="Google Shape;834;p43: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We achieve this generality by using a type class for ABIEncoding and restrict the log value to work only on type which implements it.</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Function starts by encoding the input argument.</a:t>
            </a:r>
            <a:endParaRPr b="0" sz="1800" u="none" strike="noStrike">
              <a:solidFill>
                <a:srgbClr val="000000"/>
              </a:solidFill>
              <a:latin typeface="Arial"/>
              <a:ea typeface="Arial"/>
              <a:cs typeface="Arial"/>
              <a:sym typeface="Arial"/>
            </a:endParaRPr>
          </a:p>
        </p:txBody>
      </p:sp>
      <p:sp>
        <p:nvSpPr>
          <p:cNvPr id="835" name="Google Shape;835;p43: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44: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6" name="Google Shape;856;p44: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Next, we use another overloaded function to convert the payload value into a assembly level representation.</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Assembly code can mention only values of a specific low level type called word, which is essentially the type of a Yul variable.</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Finally, we just make the static call using the same assembly block.</a:t>
            </a:r>
            <a:endParaRPr b="0" sz="1800" u="none" strike="noStrike">
              <a:solidFill>
                <a:srgbClr val="000000"/>
              </a:solidFill>
              <a:latin typeface="Arial"/>
              <a:ea typeface="Arial"/>
              <a:cs typeface="Arial"/>
              <a:sym typeface="Arial"/>
            </a:endParaRPr>
          </a:p>
        </p:txBody>
      </p:sp>
      <p:sp>
        <p:nvSpPr>
          <p:cNvPr id="857" name="Google Shape;857;p44: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45: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6" name="Google Shape;876;p45: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One of the motivation for the Core Solidity project is to make the new language more expressive, safer and easy to include new features.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In order to achieve such </a:t>
            </a:r>
            <a:r>
              <a:rPr lang="en-US"/>
              <a:t>requirements</a:t>
            </a:r>
            <a:r>
              <a:rPr b="0" lang="en-US" sz="1800" u="none" strike="noStrike">
                <a:solidFill>
                  <a:srgbClr val="000000"/>
                </a:solidFill>
                <a:latin typeface="Arial"/>
                <a:ea typeface="Arial"/>
                <a:cs typeface="Arial"/>
                <a:sym typeface="Arial"/>
              </a:rPr>
              <a:t>, we designed a new mid-level IR called SAIL, which stands for Solidity Algebraic Intermediate Language.</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This language is the minimum language which supports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Functions and low level contracts </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Algebraic types and pattern matching</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Type classes and generics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Variable introduction and assignment</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Short-circuiting if-then-else expression</a:t>
            </a:r>
            <a:endParaRPr b="0" sz="1800" u="none" strike="noStrike">
              <a:solidFill>
                <a:srgbClr val="000000"/>
              </a:solidFill>
              <a:latin typeface="Arial"/>
              <a:ea typeface="Arial"/>
              <a:cs typeface="Arial"/>
              <a:sym typeface="Arial"/>
            </a:endParaRPr>
          </a:p>
        </p:txBody>
      </p:sp>
      <p:sp>
        <p:nvSpPr>
          <p:cNvPr id="877" name="Google Shape;877;p45: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46: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5" name="Google Shape;895;p46: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The idea is that all high-level Core Solidity features will be implemented by a combination of desugaring steps and standard library definitions.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This is similar to other languages used in high-assurance domains like the Lean theorem prover.</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Our ultimate goal with this design is to evolve the language to reach RFC style approach for the language and standard library changes.</a:t>
            </a:r>
            <a:endParaRPr b="0" sz="1800" u="none" strike="noStrike">
              <a:solidFill>
                <a:srgbClr val="000000"/>
              </a:solidFill>
              <a:latin typeface="Arial"/>
              <a:ea typeface="Arial"/>
              <a:cs typeface="Arial"/>
              <a:sym typeface="Arial"/>
            </a:endParaRPr>
          </a:p>
        </p:txBody>
      </p:sp>
      <p:sp>
        <p:nvSpPr>
          <p:cNvPr id="896" name="Google Shape;896;p46: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47: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4" name="Google Shape;914;p47: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Since we are dealing with a major review in a programming language, avoiding a language split is a must.</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We have this in mind and we</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Will keep ABI compatibility </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The syntax chosen in the examples is not final and we will try to minimize syntax changes as much as possible</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*We plan to develop tooling for automated migration between classic and core solidity contracts, whenever possible.</a:t>
            </a:r>
            <a:endParaRPr b="0" sz="1800" u="none" strike="noStrike">
              <a:solidFill>
                <a:srgbClr val="000000"/>
              </a:solidFill>
              <a:latin typeface="Arial"/>
              <a:ea typeface="Arial"/>
              <a:cs typeface="Arial"/>
              <a:sym typeface="Arial"/>
            </a:endParaRPr>
          </a:p>
        </p:txBody>
      </p:sp>
      <p:sp>
        <p:nvSpPr>
          <p:cNvPr id="915" name="Google Shape;915;p47: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48: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3" name="Google Shape;933;p48: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As a more concrete example, let’s consider the following simple contract definition present in Classic Solidity documentation.</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It just defines a storage variable and provide a get and set function for it.</a:t>
            </a:r>
            <a:endParaRPr b="0" sz="1800" u="none" strike="noStrike">
              <a:solidFill>
                <a:srgbClr val="000000"/>
              </a:solidFill>
              <a:latin typeface="Arial"/>
              <a:ea typeface="Arial"/>
              <a:cs typeface="Arial"/>
              <a:sym typeface="Arial"/>
            </a:endParaRPr>
          </a:p>
        </p:txBody>
      </p:sp>
      <p:sp>
        <p:nvSpPr>
          <p:cNvPr id="934" name="Google Shape;934;p48: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p49: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1" name="Google Shape;951;p49: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The Core Solidity version for this contract is almost the same except for:</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usage of postfix types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changes to function signature return type </a:t>
            </a:r>
            <a:endParaRPr b="0" sz="1800" u="none" strike="noStrike">
              <a:solidFill>
                <a:srgbClr val="000000"/>
              </a:solidFill>
              <a:latin typeface="Arial"/>
              <a:ea typeface="Arial"/>
              <a:cs typeface="Arial"/>
              <a:sym typeface="Arial"/>
            </a:endParaRPr>
          </a:p>
        </p:txBody>
      </p:sp>
      <p:sp>
        <p:nvSpPr>
          <p:cNvPr id="952" name="Google Shape;952;p49: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50: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9" name="Google Shape;969;p50: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lang="en-US"/>
              <a:t>Currently</a:t>
            </a:r>
            <a:r>
              <a:rPr b="0" lang="en-US" sz="1800" u="none" strike="noStrike">
                <a:solidFill>
                  <a:srgbClr val="000000"/>
                </a:solidFill>
                <a:latin typeface="Arial"/>
                <a:ea typeface="Arial"/>
                <a:cs typeface="Arial"/>
                <a:sym typeface="Arial"/>
              </a:rPr>
              <a:t>, we have a prototype implementation of the Core Solidity compiler which is able to compile code down to Yul.</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We also have built a prototype standard library using it. The library has implementations for:</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ABI compatible contracts.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ABI encoding / decoding</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Dispatch generation</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Storage access.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Current prototype is able to compile a ERC20 contract using std-lib constructs.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970" name="Google Shape;970;p50: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51: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8" name="Google Shape;988;p51: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Our next steps will involve</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Define compile time evaluation, which is fundamental to achieve reasonable efficiency.</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Define a module system</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As soon as the prototype get stable, our work will be divided into two fronts:</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Start a production implementation, using some system language like C++ or Rust.</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Mechanize the meta-theory of the language, using a proof </a:t>
            </a:r>
            <a:r>
              <a:rPr lang="en-US"/>
              <a:t>assistant</a:t>
            </a:r>
            <a:endParaRPr b="0" sz="1800" u="none" strike="noStrike">
              <a:solidFill>
                <a:srgbClr val="000000"/>
              </a:solidFill>
              <a:latin typeface="Arial"/>
              <a:ea typeface="Arial"/>
              <a:cs typeface="Arial"/>
              <a:sym typeface="Arial"/>
            </a:endParaRPr>
          </a:p>
        </p:txBody>
      </p:sp>
      <p:sp>
        <p:nvSpPr>
          <p:cNvPr id="989" name="Google Shape;989;p51: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52: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7" name="Google Shape;1007;p52: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We have a lot to do, but our primary goal is to deliver the language as it was described so far.</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But we have some cool extensions in mind:</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Adding linear types, which will allow compiler checked resource control, that will be very useful in the context of applications built using solidity.</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Adding refinement types, which will allow users to define properties of their code. Such properties can be verified by an SMT solver.</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Since language extensibility is one of the concerns that give rise to the Core Solidity project, one possible future direction is to add macros to allow new high level constructs to be implemented as libraries that provide syntax that desugars into SAIL code.</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Finally, one possible direction is to look at system languages with theorem proving capabilities like ATS or Bedrock 2.</a:t>
            </a:r>
            <a:endParaRPr b="0" sz="1800" u="none" strike="noStrike">
              <a:solidFill>
                <a:srgbClr val="000000"/>
              </a:solidFill>
              <a:latin typeface="Arial"/>
              <a:ea typeface="Arial"/>
              <a:cs typeface="Arial"/>
              <a:sym typeface="Arial"/>
            </a:endParaRPr>
          </a:p>
        </p:txBody>
      </p:sp>
      <p:sp>
        <p:nvSpPr>
          <p:cNvPr id="1008" name="Google Shape;1008;p52: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p53: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6" name="Google Shape;1026;p53: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Concluding, this is our re-imagination of the Solidity language which focus on make it:</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More expressive</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More secure </a:t>
            </a:r>
            <a:endParaRPr b="0" sz="1800" u="none" strike="noStrike">
              <a:solidFill>
                <a:srgbClr val="000000"/>
              </a:solidFill>
              <a:latin typeface="Arial"/>
              <a:ea typeface="Arial"/>
              <a:cs typeface="Arial"/>
              <a:sym typeface="Arial"/>
            </a:endParaRPr>
          </a:p>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 Mathematically sound </a:t>
            </a:r>
            <a:endParaRPr b="0" sz="1800" u="none" strike="noStrike">
              <a:solidFill>
                <a:srgbClr val="000000"/>
              </a:solidFill>
              <a:latin typeface="Arial"/>
              <a:ea typeface="Arial"/>
              <a:cs typeface="Arial"/>
              <a:sym typeface="Arial"/>
            </a:endParaRPr>
          </a:p>
        </p:txBody>
      </p:sp>
      <p:sp>
        <p:nvSpPr>
          <p:cNvPr id="1027" name="Google Shape;1027;p53: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54:notes"/>
          <p:cNvSpPr/>
          <p:nvPr>
            <p:ph idx="2" type="sldImg"/>
          </p:nvPr>
        </p:nvSpPr>
        <p:spPr>
          <a:xfrm>
            <a:off x="685800" y="1143000"/>
            <a:ext cx="5482080" cy="3081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5" name="Google Shape;1045;p54:notes"/>
          <p:cNvSpPr txBox="1"/>
          <p:nvPr>
            <p:ph idx="1" type="body"/>
          </p:nvPr>
        </p:nvSpPr>
        <p:spPr>
          <a:xfrm>
            <a:off x="685800" y="4400640"/>
            <a:ext cx="5482080" cy="359604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rgbClr val="000000"/>
              </a:buClr>
              <a:buSzPts val="1800"/>
              <a:buFont typeface="Arial"/>
              <a:buNone/>
            </a:pPr>
            <a:r>
              <a:rPr b="0" lang="en-US" sz="1800" u="none" strike="noStrike">
                <a:solidFill>
                  <a:srgbClr val="000000"/>
                </a:solidFill>
                <a:latin typeface="Arial"/>
                <a:ea typeface="Arial"/>
                <a:cs typeface="Arial"/>
                <a:sym typeface="Arial"/>
              </a:rPr>
              <a:t>Thanks for your attention and here are the QR codes for the Core Solidity prototype repository and its feedback forum thread. We would love to hear your opinions and suggestions to help us to shape the future of smart contract development.</a:t>
            </a:r>
            <a:endParaRPr b="0" sz="1800" u="none" strike="noStrike">
              <a:solidFill>
                <a:srgbClr val="000000"/>
              </a:solidFill>
              <a:latin typeface="Arial"/>
              <a:ea typeface="Arial"/>
              <a:cs typeface="Arial"/>
              <a:sym typeface="Arial"/>
            </a:endParaRPr>
          </a:p>
        </p:txBody>
      </p:sp>
      <p:sp>
        <p:nvSpPr>
          <p:cNvPr id="1046" name="Google Shape;1046;p54:notes"/>
          <p:cNvSpPr txBox="1"/>
          <p:nvPr>
            <p:ph idx="12" type="sldNum"/>
          </p:nvPr>
        </p:nvSpPr>
        <p:spPr>
          <a:xfrm>
            <a:off x="3884760" y="8685360"/>
            <a:ext cx="2967480" cy="4543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blank">
  <p:cSld name="BLANK">
    <p:spTree>
      <p:nvGrpSpPr>
        <p:cNvPr id="12" name="Shape 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55"/>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 name="Google Shape;11;p55"/>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31.png"/><Relationship Id="rId7"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3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3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35.png"/><Relationship Id="rId7"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17" name="Shape 17"/>
        <p:cNvGrpSpPr/>
        <p:nvPr/>
      </p:nvGrpSpPr>
      <p:grpSpPr>
        <a:xfrm>
          <a:off x="0" y="0"/>
          <a:ext cx="0" cy="0"/>
          <a:chOff x="0" y="0"/>
          <a:chExt cx="0" cy="0"/>
        </a:xfrm>
      </p:grpSpPr>
      <p:sp>
        <p:nvSpPr>
          <p:cNvPr id="18" name="Google Shape;18;p1"/>
          <p:cNvSpPr/>
          <p:nvPr/>
        </p:nvSpPr>
        <p:spPr>
          <a:xfrm>
            <a:off x="476280" y="1947960"/>
            <a:ext cx="6201360" cy="124812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19" name="Google Shape;19;p1"/>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pic>
        <p:nvPicPr>
          <p:cNvPr descr="preencoded.png" id="20" name="Google Shape;20;p1"/>
          <p:cNvPicPr preferRelativeResize="0"/>
          <p:nvPr/>
        </p:nvPicPr>
        <p:blipFill rotWithShape="1">
          <a:blip r:embed="rId3">
            <a:alphaModFix/>
          </a:blip>
          <a:srcRect b="0" l="0" r="0" t="0"/>
          <a:stretch/>
        </p:blipFill>
        <p:spPr>
          <a:xfrm>
            <a:off x="6243480" y="1023840"/>
            <a:ext cx="1776960" cy="1776960"/>
          </a:xfrm>
          <a:prstGeom prst="rect">
            <a:avLst/>
          </a:prstGeom>
          <a:noFill/>
          <a:ln>
            <a:noFill/>
          </a:ln>
        </p:spPr>
      </p:pic>
      <p:pic>
        <p:nvPicPr>
          <p:cNvPr descr="preencoded.png" id="21" name="Google Shape;21;p1"/>
          <p:cNvPicPr preferRelativeResize="0"/>
          <p:nvPr/>
        </p:nvPicPr>
        <p:blipFill rotWithShape="1">
          <a:blip r:embed="rId4">
            <a:alphaModFix/>
          </a:blip>
          <a:srcRect b="0" l="0" r="0" t="0"/>
          <a:stretch/>
        </p:blipFill>
        <p:spPr>
          <a:xfrm>
            <a:off x="3747960" y="4148280"/>
            <a:ext cx="1981800" cy="988560"/>
          </a:xfrm>
          <a:prstGeom prst="rect">
            <a:avLst/>
          </a:prstGeom>
          <a:noFill/>
          <a:ln>
            <a:noFill/>
          </a:ln>
        </p:spPr>
      </p:pic>
      <p:pic>
        <p:nvPicPr>
          <p:cNvPr descr="preencoded.png" id="22" name="Google Shape;22;p1"/>
          <p:cNvPicPr preferRelativeResize="0"/>
          <p:nvPr/>
        </p:nvPicPr>
        <p:blipFill rotWithShape="1">
          <a:blip r:embed="rId5">
            <a:alphaModFix/>
          </a:blip>
          <a:srcRect b="0" l="0" r="0" t="0"/>
          <a:stretch/>
        </p:blipFill>
        <p:spPr>
          <a:xfrm>
            <a:off x="8831880" y="209520"/>
            <a:ext cx="116280" cy="102960"/>
          </a:xfrm>
          <a:prstGeom prst="rect">
            <a:avLst/>
          </a:prstGeom>
          <a:noFill/>
          <a:ln>
            <a:noFill/>
          </a:ln>
        </p:spPr>
      </p:pic>
      <p:pic>
        <p:nvPicPr>
          <p:cNvPr descr="preencoded.png" id="23" name="Google Shape;23;p1"/>
          <p:cNvPicPr preferRelativeResize="0"/>
          <p:nvPr/>
        </p:nvPicPr>
        <p:blipFill rotWithShape="1">
          <a:blip r:embed="rId6">
            <a:alphaModFix/>
          </a:blip>
          <a:srcRect b="0" l="0" r="0" t="0"/>
          <a:stretch/>
        </p:blipFill>
        <p:spPr>
          <a:xfrm>
            <a:off x="8776800" y="209520"/>
            <a:ext cx="116280" cy="102960"/>
          </a:xfrm>
          <a:prstGeom prst="rect">
            <a:avLst/>
          </a:prstGeom>
          <a:noFill/>
          <a:ln>
            <a:noFill/>
          </a:ln>
        </p:spPr>
      </p:pic>
      <p:pic>
        <p:nvPicPr>
          <p:cNvPr descr="preencoded.png" id="24" name="Google Shape;24;p1"/>
          <p:cNvPicPr preferRelativeResize="0"/>
          <p:nvPr/>
        </p:nvPicPr>
        <p:blipFill rotWithShape="1">
          <a:blip r:embed="rId7">
            <a:alphaModFix/>
          </a:blip>
          <a:srcRect b="0" l="0" r="0" t="0"/>
          <a:stretch/>
        </p:blipFill>
        <p:spPr>
          <a:xfrm>
            <a:off x="8721000" y="307440"/>
            <a:ext cx="116280" cy="101160"/>
          </a:xfrm>
          <a:prstGeom prst="rect">
            <a:avLst/>
          </a:prstGeom>
          <a:noFill/>
          <a:ln>
            <a:noFill/>
          </a:ln>
        </p:spPr>
      </p:pic>
      <p:pic>
        <p:nvPicPr>
          <p:cNvPr descr="preencoded.png" id="25" name="Google Shape;25;p1"/>
          <p:cNvPicPr preferRelativeResize="0"/>
          <p:nvPr/>
        </p:nvPicPr>
        <p:blipFill rotWithShape="1">
          <a:blip r:embed="rId5">
            <a:alphaModFix/>
          </a:blip>
          <a:srcRect b="0" l="0" r="0" t="0"/>
          <a:stretch/>
        </p:blipFill>
        <p:spPr>
          <a:xfrm>
            <a:off x="8721000" y="209520"/>
            <a:ext cx="116280" cy="102960"/>
          </a:xfrm>
          <a:prstGeom prst="rect">
            <a:avLst/>
          </a:prstGeom>
          <a:noFill/>
          <a:ln>
            <a:noFill/>
          </a:ln>
        </p:spPr>
      </p:pic>
      <p:pic>
        <p:nvPicPr>
          <p:cNvPr descr="preencoded.png" id="26" name="Google Shape;26;p1"/>
          <p:cNvPicPr preferRelativeResize="0"/>
          <p:nvPr/>
        </p:nvPicPr>
        <p:blipFill rotWithShape="1">
          <a:blip r:embed="rId6">
            <a:alphaModFix/>
          </a:blip>
          <a:srcRect b="0" l="0" r="0" t="0"/>
          <a:stretch/>
        </p:blipFill>
        <p:spPr>
          <a:xfrm>
            <a:off x="8722440" y="457560"/>
            <a:ext cx="116280" cy="102960"/>
          </a:xfrm>
          <a:prstGeom prst="rect">
            <a:avLst/>
          </a:prstGeom>
          <a:noFill/>
          <a:ln>
            <a:noFill/>
          </a:ln>
        </p:spPr>
      </p:pic>
      <p:pic>
        <p:nvPicPr>
          <p:cNvPr descr="preencoded.png" id="27" name="Google Shape;27;p1"/>
          <p:cNvPicPr preferRelativeResize="0"/>
          <p:nvPr/>
        </p:nvPicPr>
        <p:blipFill rotWithShape="1">
          <a:blip r:embed="rId5">
            <a:alphaModFix/>
          </a:blip>
          <a:srcRect b="0" l="0" r="0" t="0"/>
          <a:stretch/>
        </p:blipFill>
        <p:spPr>
          <a:xfrm>
            <a:off x="8777520" y="457560"/>
            <a:ext cx="116280" cy="102960"/>
          </a:xfrm>
          <a:prstGeom prst="rect">
            <a:avLst/>
          </a:prstGeom>
          <a:noFill/>
          <a:ln>
            <a:noFill/>
          </a:ln>
        </p:spPr>
      </p:pic>
      <p:pic>
        <p:nvPicPr>
          <p:cNvPr descr="preencoded.png" id="28" name="Google Shape;28;p1"/>
          <p:cNvPicPr preferRelativeResize="0"/>
          <p:nvPr/>
        </p:nvPicPr>
        <p:blipFill rotWithShape="1">
          <a:blip r:embed="rId5">
            <a:alphaModFix/>
          </a:blip>
          <a:srcRect b="0" l="0" r="0" t="0"/>
          <a:stretch/>
        </p:blipFill>
        <p:spPr>
          <a:xfrm>
            <a:off x="8832960" y="359640"/>
            <a:ext cx="116280" cy="102960"/>
          </a:xfrm>
          <a:prstGeom prst="rect">
            <a:avLst/>
          </a:prstGeom>
          <a:noFill/>
          <a:ln>
            <a:noFill/>
          </a:ln>
        </p:spPr>
      </p:pic>
      <p:pic>
        <p:nvPicPr>
          <p:cNvPr descr="preencoded.png" id="29" name="Google Shape;29;p1"/>
          <p:cNvPicPr preferRelativeResize="0"/>
          <p:nvPr/>
        </p:nvPicPr>
        <p:blipFill rotWithShape="1">
          <a:blip r:embed="rId6">
            <a:alphaModFix/>
          </a:blip>
          <a:srcRect b="0" l="0" r="0" t="0"/>
          <a:stretch/>
        </p:blipFill>
        <p:spPr>
          <a:xfrm>
            <a:off x="8832960" y="457560"/>
            <a:ext cx="116280" cy="102960"/>
          </a:xfrm>
          <a:prstGeom prst="rect">
            <a:avLst/>
          </a:prstGeom>
          <a:noFill/>
          <a:ln>
            <a:noFill/>
          </a:ln>
        </p:spPr>
      </p:pic>
      <p:sp>
        <p:nvSpPr>
          <p:cNvPr id="30" name="Google Shape;30;p1"/>
          <p:cNvSpPr/>
          <p:nvPr/>
        </p:nvSpPr>
        <p:spPr>
          <a:xfrm>
            <a:off x="230400" y="1659960"/>
            <a:ext cx="8681760" cy="795960"/>
          </a:xfrm>
          <a:prstGeom prst="rect">
            <a:avLst/>
          </a:prstGeom>
          <a:noFill/>
          <a:ln>
            <a:noFill/>
          </a:ln>
        </p:spPr>
        <p:txBody>
          <a:bodyPr anchorCtr="0" anchor="ctr" bIns="45000" lIns="90000" spcFirstLastPara="1" rIns="90000" wrap="square" tIns="45000">
            <a:noAutofit/>
          </a:bodyPr>
          <a:lstStyle/>
          <a:p>
            <a:pPr indent="0" lvl="0" marL="0" marR="0" rtl="0" algn="ctr">
              <a:lnSpc>
                <a:spcPct val="120019"/>
              </a:lnSpc>
              <a:spcBef>
                <a:spcPts val="0"/>
              </a:spcBef>
              <a:spcAft>
                <a:spcPts val="0"/>
              </a:spcAft>
              <a:buNone/>
            </a:pPr>
            <a:r>
              <a:rPr b="0" i="0" lang="en-US" sz="5250" u="none" cap="none" strike="noStrike">
                <a:solidFill>
                  <a:srgbClr val="F8F8FF"/>
                </a:solidFill>
                <a:latin typeface="Overpass Mono"/>
                <a:ea typeface="Overpass Mono"/>
                <a:cs typeface="Overpass Mono"/>
                <a:sym typeface="Overpass Mono"/>
              </a:rPr>
              <a:t>Introducing Core Solidity</a:t>
            </a:r>
            <a:endParaRPr b="0" i="0" sz="5250" u="none" cap="none" strike="noStrike">
              <a:solidFill>
                <a:srgbClr val="FFFFFF"/>
              </a:solidFill>
              <a:latin typeface="Arial"/>
              <a:ea typeface="Arial"/>
              <a:cs typeface="Arial"/>
              <a:sym typeface="Arial"/>
            </a:endParaRPr>
          </a:p>
        </p:txBody>
      </p:sp>
      <p:sp>
        <p:nvSpPr>
          <p:cNvPr id="31" name="Google Shape;31;p1"/>
          <p:cNvSpPr/>
          <p:nvPr/>
        </p:nvSpPr>
        <p:spPr>
          <a:xfrm>
            <a:off x="1877400" y="3039044"/>
            <a:ext cx="5711700" cy="390900"/>
          </a:xfrm>
          <a:prstGeom prst="rect">
            <a:avLst/>
          </a:prstGeom>
          <a:noFill/>
          <a:ln>
            <a:noFill/>
          </a:ln>
        </p:spPr>
        <p:txBody>
          <a:bodyPr anchorCtr="0" anchor="ctr" bIns="45000" lIns="90000" spcFirstLastPara="1" rIns="90000" wrap="square" tIns="45000">
            <a:noAutofit/>
          </a:bodyPr>
          <a:lstStyle/>
          <a:p>
            <a:pPr indent="0" lvl="0" marL="0" marR="0" rtl="0" algn="ctr">
              <a:lnSpc>
                <a:spcPct val="130041"/>
              </a:lnSpc>
              <a:spcBef>
                <a:spcPts val="0"/>
              </a:spcBef>
              <a:spcAft>
                <a:spcPts val="0"/>
              </a:spcAft>
              <a:buNone/>
            </a:pPr>
            <a:r>
              <a:rPr b="0" i="0" lang="en-US" sz="2400" u="none" cap="none" strike="noStrike">
                <a:solidFill>
                  <a:srgbClr val="D2D2FF"/>
                </a:solidFill>
                <a:latin typeface="Overpass Mono"/>
                <a:ea typeface="Overpass Mono"/>
                <a:cs typeface="Overpass Mono"/>
                <a:sym typeface="Overpass Mono"/>
              </a:rPr>
              <a:t>Argot Collective</a:t>
            </a:r>
            <a:endParaRPr b="0" i="0" sz="2400" u="none" cap="none" strike="noStrike">
              <a:solidFill>
                <a:srgbClr val="FFFF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36" name="Shape 36"/>
        <p:cNvGrpSpPr/>
        <p:nvPr/>
      </p:nvGrpSpPr>
      <p:grpSpPr>
        <a:xfrm>
          <a:off x="0" y="0"/>
          <a:ext cx="0" cy="0"/>
          <a:chOff x="0" y="0"/>
          <a:chExt cx="0" cy="0"/>
        </a:xfrm>
      </p:grpSpPr>
      <p:cxnSp>
        <p:nvCxnSpPr>
          <p:cNvPr id="37" name="Google Shape;37;p2"/>
          <p:cNvCxnSpPr/>
          <p:nvPr/>
        </p:nvCxnSpPr>
        <p:spPr>
          <a:xfrm>
            <a:off x="4572000" y="0"/>
            <a:ext cx="360" cy="5143320"/>
          </a:xfrm>
          <a:prstGeom prst="straightConnector1">
            <a:avLst/>
          </a:prstGeom>
          <a:noFill/>
          <a:ln cap="flat" cmpd="sng" w="12700">
            <a:solidFill>
              <a:srgbClr val="2B247C">
                <a:alpha val="20000"/>
              </a:srgbClr>
            </a:solidFill>
            <a:prstDash val="solid"/>
            <a:round/>
            <a:headEnd len="sm" w="sm" type="none"/>
            <a:tailEnd len="sm" w="sm" type="none"/>
          </a:ln>
        </p:spPr>
      </p:cxnSp>
      <p:cxnSp>
        <p:nvCxnSpPr>
          <p:cNvPr id="38" name="Google Shape;38;p2"/>
          <p:cNvCxnSpPr/>
          <p:nvPr/>
        </p:nvCxnSpPr>
        <p:spPr>
          <a:xfrm>
            <a:off x="4572000" y="0"/>
            <a:ext cx="360" cy="5143320"/>
          </a:xfrm>
          <a:prstGeom prst="straightConnector1">
            <a:avLst/>
          </a:prstGeom>
          <a:noFill/>
          <a:ln cap="flat" cmpd="sng" w="12700">
            <a:solidFill>
              <a:srgbClr val="D2D2FF">
                <a:alpha val="20000"/>
              </a:srgbClr>
            </a:solidFill>
            <a:prstDash val="solid"/>
            <a:round/>
            <a:headEnd len="sm" w="sm" type="none"/>
            <a:tailEnd len="sm" w="sm" type="none"/>
          </a:ln>
        </p:spPr>
      </p:cxnSp>
      <p:sp>
        <p:nvSpPr>
          <p:cNvPr id="39" name="Google Shape;39;p2"/>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pic>
        <p:nvPicPr>
          <p:cNvPr descr="preencoded.png" id="40" name="Google Shape;40;p2"/>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41" name="Google Shape;41;p2"/>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42" name="Google Shape;42;p2"/>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43" name="Google Shape;43;p2"/>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44" name="Google Shape;44;p2"/>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45" name="Google Shape;45;p2"/>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46" name="Google Shape;46;p2"/>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47" name="Google Shape;47;p2"/>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48" name="Google Shape;48;p2"/>
          <p:cNvSpPr/>
          <p:nvPr/>
        </p:nvSpPr>
        <p:spPr>
          <a:xfrm>
            <a:off x="476280" y="380880"/>
            <a:ext cx="388188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i="0" lang="en-US" sz="1050" u="none" cap="none" strike="noStrike">
                <a:solidFill>
                  <a:srgbClr val="F8F8FF"/>
                </a:solidFill>
                <a:latin typeface="Overpass"/>
                <a:ea typeface="Overpass"/>
                <a:cs typeface="Overpass"/>
                <a:sym typeface="Overpass"/>
              </a:rPr>
              <a:t>Introduction</a:t>
            </a:r>
            <a:endParaRPr b="0" i="0" sz="1050" u="none" cap="none" strike="noStrike">
              <a:solidFill>
                <a:srgbClr val="FFFFFF"/>
              </a:solidFill>
              <a:latin typeface="Arial"/>
              <a:ea typeface="Arial"/>
              <a:cs typeface="Arial"/>
              <a:sym typeface="Arial"/>
            </a:endParaRPr>
          </a:p>
        </p:txBody>
      </p:sp>
      <p:sp>
        <p:nvSpPr>
          <p:cNvPr id="49" name="Google Shape;49;p2"/>
          <p:cNvSpPr/>
          <p:nvPr/>
        </p:nvSpPr>
        <p:spPr>
          <a:xfrm>
            <a:off x="0" y="1781275"/>
            <a:ext cx="5017500" cy="157680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i="0" lang="en-US" sz="4000" u="none" cap="none" strike="noStrike">
                <a:solidFill>
                  <a:srgbClr val="FFFFFF"/>
                </a:solidFill>
                <a:latin typeface="Overpass Mono"/>
                <a:ea typeface="Overpass Mono"/>
                <a:cs typeface="Overpass Mono"/>
                <a:sym typeface="Overpass Mono"/>
              </a:rPr>
              <a:t>Solidity,today</a:t>
            </a:r>
            <a:endParaRPr b="0" i="0" sz="4000" u="none" cap="none" strike="noStrike">
              <a:solidFill>
                <a:srgbClr val="FFFFFF"/>
              </a:solidFill>
              <a:latin typeface="Arial"/>
              <a:ea typeface="Arial"/>
              <a:cs typeface="Arial"/>
              <a:sym typeface="Arial"/>
            </a:endParaRPr>
          </a:p>
        </p:txBody>
      </p:sp>
      <p:sp>
        <p:nvSpPr>
          <p:cNvPr id="50" name="Google Shape;50;p2"/>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343080" lvl="0" marL="343080" marR="0" rtl="0" algn="l">
              <a:lnSpc>
                <a:spcPct val="124683"/>
              </a:lnSpc>
              <a:spcBef>
                <a:spcPts val="0"/>
              </a:spcBef>
              <a:spcAft>
                <a:spcPts val="0"/>
              </a:spcAft>
              <a:buClr>
                <a:srgbClr val="F8F8FF"/>
              </a:buClr>
              <a:buSzPts val="1580"/>
              <a:buFont typeface="Calibri"/>
              <a:buAutoNum type="arabicPeriod"/>
            </a:pPr>
            <a:r>
              <a:rPr b="0" i="0" lang="en-US" sz="1580" u="none" cap="none" strike="noStrike">
                <a:solidFill>
                  <a:srgbClr val="F8F8FF"/>
                </a:solidFill>
                <a:latin typeface="Overpass"/>
                <a:ea typeface="Overpass"/>
                <a:cs typeface="Overpass"/>
                <a:sym typeface="Overpass"/>
              </a:rPr>
              <a:t>Most used smart contract language</a:t>
            </a:r>
            <a:endParaRPr b="0" i="0" sz="1580" u="none" cap="none" strike="noStrike">
              <a:solidFill>
                <a:srgbClr val="FFFFFF"/>
              </a:solidFill>
              <a:latin typeface="Arial"/>
              <a:ea typeface="Arial"/>
              <a:cs typeface="Arial"/>
              <a:sym typeface="Arial"/>
            </a:endParaRPr>
          </a:p>
          <a:p>
            <a:pPr indent="-343080" lvl="0" marL="343080" marR="0" rtl="0" algn="l">
              <a:lnSpc>
                <a:spcPct val="124683"/>
              </a:lnSpc>
              <a:spcBef>
                <a:spcPts val="0"/>
              </a:spcBef>
              <a:spcAft>
                <a:spcPts val="0"/>
              </a:spcAft>
              <a:buClr>
                <a:srgbClr val="F8F8FF"/>
              </a:buClr>
              <a:buSzPts val="1580"/>
              <a:buFont typeface="Calibri"/>
              <a:buAutoNum type="arabicPeriod"/>
            </a:pPr>
            <a:r>
              <a:rPr b="0" i="0" lang="en-US" sz="1580" u="none" cap="none" strike="noStrike">
                <a:solidFill>
                  <a:srgbClr val="F8F8FF"/>
                </a:solidFill>
                <a:latin typeface="Overpass"/>
                <a:ea typeface="Overpass"/>
                <a:cs typeface="Overpass"/>
                <a:sym typeface="Overpass"/>
              </a:rPr>
              <a:t>Successfully secures billions of dollars</a:t>
            </a:r>
            <a:endParaRPr b="0" i="0" sz="1580" u="none" cap="none" strike="noStrike">
              <a:solidFill>
                <a:srgbClr val="FFFFFF"/>
              </a:solidFill>
              <a:latin typeface="Arial"/>
              <a:ea typeface="Arial"/>
              <a:cs typeface="Arial"/>
              <a:sym typeface="Arial"/>
            </a:endParaRPr>
          </a:p>
          <a:p>
            <a:pPr indent="-343080" lvl="0" marL="343080" marR="0" rtl="0" algn="l">
              <a:lnSpc>
                <a:spcPct val="124683"/>
              </a:lnSpc>
              <a:spcBef>
                <a:spcPts val="0"/>
              </a:spcBef>
              <a:spcAft>
                <a:spcPts val="0"/>
              </a:spcAft>
              <a:buClr>
                <a:srgbClr val="F8F8FF"/>
              </a:buClr>
              <a:buSzPts val="1580"/>
              <a:buFont typeface="Calibri"/>
              <a:buAutoNum type="arabicPeriod"/>
            </a:pPr>
            <a:r>
              <a:rPr b="0" i="0" lang="en-US" sz="1580" u="none" cap="none" strike="noStrike">
                <a:solidFill>
                  <a:srgbClr val="F8F8FF"/>
                </a:solidFill>
                <a:latin typeface="Overpass"/>
                <a:ea typeface="Overpass"/>
                <a:cs typeface="Overpass"/>
                <a:sym typeface="Overpass"/>
              </a:rPr>
              <a:t>However, it has some limitations:</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Type system lacks expressiveness</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Does not support compile time eval.</a:t>
            </a:r>
            <a:endParaRPr b="0" i="0" sz="1580" u="none" cap="none" strike="noStrike">
              <a:solidFill>
                <a:srgbClr val="FFFFFF"/>
              </a:solidFill>
              <a:latin typeface="Arial"/>
              <a:ea typeface="Arial"/>
              <a:cs typeface="Arial"/>
              <a:sym typeface="Arial"/>
            </a:endParaRPr>
          </a:p>
          <a:p>
            <a:pPr indent="-343080" lvl="0" marL="343080" marR="0" rtl="0" algn="l">
              <a:lnSpc>
                <a:spcPct val="124683"/>
              </a:lnSpc>
              <a:spcBef>
                <a:spcPts val="0"/>
              </a:spcBef>
              <a:spcAft>
                <a:spcPts val="0"/>
              </a:spcAft>
              <a:buClr>
                <a:srgbClr val="F8F8FF"/>
              </a:buClr>
              <a:buSzPts val="1580"/>
              <a:buFont typeface="Calibri"/>
              <a:buAutoNum type="arabicPeriod"/>
            </a:pPr>
            <a:r>
              <a:rPr b="0" i="0" lang="en-US" sz="1580" u="none" cap="none" strike="noStrike">
                <a:solidFill>
                  <a:srgbClr val="F8F8FF"/>
                </a:solidFill>
                <a:latin typeface="Overpass"/>
                <a:ea typeface="Overpass"/>
                <a:cs typeface="Overpass"/>
                <a:sym typeface="Overpass"/>
              </a:rPr>
              <a:t>Extending the current impl. is </a:t>
            </a:r>
            <a:r>
              <a:rPr b="1" i="0" lang="en-US" sz="1580" u="none" cap="none" strike="noStrike">
                <a:solidFill>
                  <a:srgbClr val="F8F8FF"/>
                </a:solidFill>
                <a:latin typeface="Overpass"/>
                <a:ea typeface="Overpass"/>
                <a:cs typeface="Overpass"/>
                <a:sym typeface="Overpass"/>
              </a:rPr>
              <a:t>hard</a:t>
            </a:r>
            <a:r>
              <a:rPr b="0" i="0" lang="en-US" sz="1580" u="none" cap="none" strike="noStrike">
                <a:solidFill>
                  <a:srgbClr val="F8F8FF"/>
                </a:solidFill>
                <a:latin typeface="Overpass"/>
                <a:ea typeface="Overpass"/>
                <a:cs typeface="Overpass"/>
                <a:sym typeface="Overpass"/>
              </a:rPr>
              <a:t>.</a:t>
            </a:r>
            <a:endParaRPr b="0" i="0" sz="1580" u="none" cap="none" strike="noStrike">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55" name="Shape 55"/>
        <p:cNvGrpSpPr/>
        <p:nvPr/>
      </p:nvGrpSpPr>
      <p:grpSpPr>
        <a:xfrm>
          <a:off x="0" y="0"/>
          <a:ext cx="0" cy="0"/>
          <a:chOff x="0" y="0"/>
          <a:chExt cx="0" cy="0"/>
        </a:xfrm>
      </p:grpSpPr>
      <p:cxnSp>
        <p:nvCxnSpPr>
          <p:cNvPr id="56" name="Google Shape;56;p3"/>
          <p:cNvCxnSpPr/>
          <p:nvPr/>
        </p:nvCxnSpPr>
        <p:spPr>
          <a:xfrm>
            <a:off x="4572000" y="0"/>
            <a:ext cx="360" cy="5143320"/>
          </a:xfrm>
          <a:prstGeom prst="straightConnector1">
            <a:avLst/>
          </a:prstGeom>
          <a:noFill/>
          <a:ln cap="flat" cmpd="sng" w="12700">
            <a:solidFill>
              <a:srgbClr val="2B247C">
                <a:alpha val="20000"/>
              </a:srgbClr>
            </a:solidFill>
            <a:prstDash val="solid"/>
            <a:round/>
            <a:headEnd len="sm" w="sm" type="none"/>
            <a:tailEnd len="sm" w="sm" type="none"/>
          </a:ln>
        </p:spPr>
      </p:cxnSp>
      <p:cxnSp>
        <p:nvCxnSpPr>
          <p:cNvPr id="57" name="Google Shape;57;p3"/>
          <p:cNvCxnSpPr/>
          <p:nvPr/>
        </p:nvCxnSpPr>
        <p:spPr>
          <a:xfrm>
            <a:off x="4572000" y="0"/>
            <a:ext cx="360" cy="5143320"/>
          </a:xfrm>
          <a:prstGeom prst="straightConnector1">
            <a:avLst/>
          </a:prstGeom>
          <a:noFill/>
          <a:ln cap="flat" cmpd="sng" w="12700">
            <a:solidFill>
              <a:srgbClr val="D2D2FF">
                <a:alpha val="20000"/>
              </a:srgbClr>
            </a:solidFill>
            <a:prstDash val="solid"/>
            <a:round/>
            <a:headEnd len="sm" w="sm" type="none"/>
            <a:tailEnd len="sm" w="sm" type="none"/>
          </a:ln>
        </p:spPr>
      </p:cxnSp>
      <p:sp>
        <p:nvSpPr>
          <p:cNvPr id="58" name="Google Shape;58;p3"/>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pic>
        <p:nvPicPr>
          <p:cNvPr descr="preencoded.png" id="59" name="Google Shape;59;p3"/>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60" name="Google Shape;60;p3"/>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61" name="Google Shape;61;p3"/>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62" name="Google Shape;62;p3"/>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63" name="Google Shape;63;p3"/>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64" name="Google Shape;64;p3"/>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65" name="Google Shape;65;p3"/>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66" name="Google Shape;66;p3"/>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67" name="Google Shape;67;p3"/>
          <p:cNvSpPr/>
          <p:nvPr/>
        </p:nvSpPr>
        <p:spPr>
          <a:xfrm>
            <a:off x="476280" y="380880"/>
            <a:ext cx="388188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i="0" lang="en-US" sz="1050" u="none" cap="none" strike="noStrike">
                <a:solidFill>
                  <a:srgbClr val="F8F8FF"/>
                </a:solidFill>
                <a:latin typeface="Overpass"/>
                <a:ea typeface="Overpass"/>
                <a:cs typeface="Overpass"/>
                <a:sym typeface="Overpass"/>
              </a:rPr>
              <a:t>Introduction</a:t>
            </a:r>
            <a:endParaRPr b="0" i="0" sz="1050" u="none" cap="none" strike="noStrike">
              <a:solidFill>
                <a:srgbClr val="FFFFFF"/>
              </a:solidFill>
              <a:latin typeface="Arial"/>
              <a:ea typeface="Arial"/>
              <a:cs typeface="Arial"/>
              <a:sym typeface="Arial"/>
            </a:endParaRPr>
          </a:p>
        </p:txBody>
      </p:sp>
      <p:sp>
        <p:nvSpPr>
          <p:cNvPr id="68" name="Google Shape;68;p3"/>
          <p:cNvSpPr/>
          <p:nvPr/>
        </p:nvSpPr>
        <p:spPr>
          <a:xfrm>
            <a:off x="-228600" y="1781280"/>
            <a:ext cx="4797720" cy="1576800"/>
          </a:xfrm>
          <a:prstGeom prst="rect">
            <a:avLst/>
          </a:prstGeom>
          <a:noFill/>
          <a:ln>
            <a:noFill/>
          </a:ln>
        </p:spPr>
        <p:txBody>
          <a:bodyPr anchorCtr="0" anchor="ctr" bIns="45000" lIns="90000" spcFirstLastPara="1" rIns="90000" wrap="square" tIns="45000">
            <a:noAutofit/>
          </a:bodyPr>
          <a:lstStyle/>
          <a:p>
            <a:pPr indent="0" lvl="0" marL="0" marR="0" rtl="0" algn="ctr">
              <a:lnSpc>
                <a:spcPct val="78025"/>
              </a:lnSpc>
              <a:spcBef>
                <a:spcPts val="0"/>
              </a:spcBef>
              <a:spcAft>
                <a:spcPts val="0"/>
              </a:spcAft>
              <a:buNone/>
            </a:pPr>
            <a:r>
              <a:rPr b="0" i="0" lang="en-US" sz="4000" u="none" cap="none" strike="noStrike">
                <a:solidFill>
                  <a:srgbClr val="FFFFFF"/>
                </a:solidFill>
                <a:latin typeface="Overpass Mono"/>
                <a:ea typeface="Overpass Mono"/>
                <a:cs typeface="Overpass Mono"/>
                <a:sym typeface="Overpass Mono"/>
              </a:rPr>
              <a:t>What is Core Solidity?</a:t>
            </a:r>
            <a:endParaRPr b="0" i="0" sz="4000" u="none" cap="none" strike="noStrike">
              <a:solidFill>
                <a:srgbClr val="FFFFFF"/>
              </a:solidFill>
              <a:latin typeface="Arial"/>
              <a:ea typeface="Arial"/>
              <a:cs typeface="Arial"/>
              <a:sym typeface="Arial"/>
            </a:endParaRPr>
          </a:p>
        </p:txBody>
      </p:sp>
      <p:sp>
        <p:nvSpPr>
          <p:cNvPr id="69" name="Google Shape;69;p3"/>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343080" lvl="0" marL="343080" marR="0" rtl="0" algn="l">
              <a:lnSpc>
                <a:spcPct val="124683"/>
              </a:lnSpc>
              <a:spcBef>
                <a:spcPts val="0"/>
              </a:spcBef>
              <a:spcAft>
                <a:spcPts val="0"/>
              </a:spcAft>
              <a:buClr>
                <a:srgbClr val="F8F8FF"/>
              </a:buClr>
              <a:buSzPts val="1580"/>
              <a:buFont typeface="Calibri"/>
              <a:buAutoNum type="arabicPeriod"/>
            </a:pPr>
            <a:r>
              <a:rPr b="0" i="0" lang="en-US" sz="1580" u="none" cap="none" strike="noStrike">
                <a:solidFill>
                  <a:srgbClr val="F8F8FF"/>
                </a:solidFill>
                <a:latin typeface="Overpass"/>
                <a:ea typeface="Overpass"/>
                <a:cs typeface="Overpass"/>
                <a:sym typeface="Overpass"/>
              </a:rPr>
              <a:t>A complete rebuild of the language type system and compiler pipeline.</a:t>
            </a:r>
            <a:endParaRPr b="0" i="0" sz="1580" u="none" cap="none" strike="noStrike">
              <a:solidFill>
                <a:srgbClr val="FFFFFF"/>
              </a:solidFill>
              <a:latin typeface="Arial"/>
              <a:ea typeface="Arial"/>
              <a:cs typeface="Arial"/>
              <a:sym typeface="Arial"/>
            </a:endParaRPr>
          </a:p>
          <a:p>
            <a:pPr indent="-343080" lvl="0" marL="343080" marR="0" rtl="0" algn="l">
              <a:lnSpc>
                <a:spcPct val="124683"/>
              </a:lnSpc>
              <a:spcBef>
                <a:spcPts val="0"/>
              </a:spcBef>
              <a:spcAft>
                <a:spcPts val="0"/>
              </a:spcAft>
              <a:buClr>
                <a:srgbClr val="F8F8FF"/>
              </a:buClr>
              <a:buSzPts val="1580"/>
              <a:buFont typeface="Calibri"/>
              <a:buAutoNum type="arabicPeriod"/>
            </a:pPr>
            <a:r>
              <a:rPr b="0" i="0" lang="en-US" sz="1580" u="none" cap="none" strike="noStrike">
                <a:solidFill>
                  <a:srgbClr val="F8F8FF"/>
                </a:solidFill>
                <a:latin typeface="Overpass"/>
                <a:ea typeface="Overpass"/>
                <a:cs typeface="Overpass"/>
                <a:sym typeface="Overpass"/>
              </a:rPr>
              <a:t>Introduce new features</a:t>
            </a:r>
            <a:endParaRPr b="0" i="0" sz="1580" u="none" cap="none" strike="noStrike">
              <a:solidFill>
                <a:srgbClr val="FFFFFF"/>
              </a:solidFill>
              <a:latin typeface="Arial"/>
              <a:ea typeface="Arial"/>
              <a:cs typeface="Arial"/>
              <a:sym typeface="Arial"/>
            </a:endParaRPr>
          </a:p>
          <a:p>
            <a:pPr indent="-343080" lvl="0" marL="343080" marR="0" rtl="0" algn="l">
              <a:lnSpc>
                <a:spcPct val="124683"/>
              </a:lnSpc>
              <a:spcBef>
                <a:spcPts val="0"/>
              </a:spcBef>
              <a:spcAft>
                <a:spcPts val="0"/>
              </a:spcAft>
              <a:buClr>
                <a:srgbClr val="F8F8FF"/>
              </a:buClr>
              <a:buSzPts val="1580"/>
              <a:buFont typeface="Calibri"/>
              <a:buAutoNum type="arabicPeriod"/>
            </a:pPr>
            <a:r>
              <a:rPr b="0" i="0" lang="en-US" sz="1580" u="none" cap="none" strike="noStrike">
                <a:solidFill>
                  <a:srgbClr val="F8F8FF"/>
                </a:solidFill>
                <a:latin typeface="Overpass"/>
                <a:ea typeface="Overpass"/>
                <a:cs typeface="Overpass"/>
                <a:sym typeface="Overpass"/>
              </a:rPr>
              <a:t>A formal semantics to enable analysis and verification.</a:t>
            </a:r>
            <a:endParaRPr b="0" i="0" sz="1580" u="none" cap="none" strike="noStrike">
              <a:solidFill>
                <a:srgbClr val="FFFFFF"/>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74" name="Shape 74"/>
        <p:cNvGrpSpPr/>
        <p:nvPr/>
      </p:nvGrpSpPr>
      <p:grpSpPr>
        <a:xfrm>
          <a:off x="0" y="0"/>
          <a:ext cx="0" cy="0"/>
          <a:chOff x="0" y="0"/>
          <a:chExt cx="0" cy="0"/>
        </a:xfrm>
      </p:grpSpPr>
      <p:cxnSp>
        <p:nvCxnSpPr>
          <p:cNvPr id="75" name="Google Shape;75;p4"/>
          <p:cNvCxnSpPr/>
          <p:nvPr/>
        </p:nvCxnSpPr>
        <p:spPr>
          <a:xfrm>
            <a:off x="4572000" y="0"/>
            <a:ext cx="360" cy="5143320"/>
          </a:xfrm>
          <a:prstGeom prst="straightConnector1">
            <a:avLst/>
          </a:prstGeom>
          <a:noFill/>
          <a:ln cap="flat" cmpd="sng" w="12700">
            <a:solidFill>
              <a:srgbClr val="2B247C">
                <a:alpha val="20000"/>
              </a:srgbClr>
            </a:solidFill>
            <a:prstDash val="solid"/>
            <a:round/>
            <a:headEnd len="sm" w="sm" type="none"/>
            <a:tailEnd len="sm" w="sm" type="none"/>
          </a:ln>
        </p:spPr>
      </p:cxnSp>
      <p:cxnSp>
        <p:nvCxnSpPr>
          <p:cNvPr id="76" name="Google Shape;76;p4"/>
          <p:cNvCxnSpPr/>
          <p:nvPr/>
        </p:nvCxnSpPr>
        <p:spPr>
          <a:xfrm>
            <a:off x="4572000" y="0"/>
            <a:ext cx="360" cy="5143320"/>
          </a:xfrm>
          <a:prstGeom prst="straightConnector1">
            <a:avLst/>
          </a:prstGeom>
          <a:noFill/>
          <a:ln cap="flat" cmpd="sng" w="12700">
            <a:solidFill>
              <a:srgbClr val="D2D2FF">
                <a:alpha val="20000"/>
              </a:srgbClr>
            </a:solidFill>
            <a:prstDash val="solid"/>
            <a:round/>
            <a:headEnd len="sm" w="sm" type="none"/>
            <a:tailEnd len="sm" w="sm" type="none"/>
          </a:ln>
        </p:spPr>
      </p:cxnSp>
      <p:sp>
        <p:nvSpPr>
          <p:cNvPr id="77" name="Google Shape;77;p4"/>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pic>
        <p:nvPicPr>
          <p:cNvPr descr="preencoded.png" id="78" name="Google Shape;78;p4"/>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79" name="Google Shape;79;p4"/>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80" name="Google Shape;80;p4"/>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81" name="Google Shape;81;p4"/>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82" name="Google Shape;82;p4"/>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83" name="Google Shape;83;p4"/>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84" name="Google Shape;84;p4"/>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85" name="Google Shape;85;p4"/>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86" name="Google Shape;86;p4"/>
          <p:cNvSpPr/>
          <p:nvPr/>
        </p:nvSpPr>
        <p:spPr>
          <a:xfrm>
            <a:off x="476280" y="380880"/>
            <a:ext cx="388188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i="0" lang="en-US" sz="1050" u="none" cap="none" strike="noStrike">
                <a:solidFill>
                  <a:srgbClr val="F8F8FF"/>
                </a:solidFill>
                <a:latin typeface="Overpass"/>
                <a:ea typeface="Overpass"/>
                <a:cs typeface="Overpass"/>
                <a:sym typeface="Overpass"/>
              </a:rPr>
              <a:t>Introduction</a:t>
            </a:r>
            <a:endParaRPr b="0" i="0" sz="1050" u="none" cap="none" strike="noStrike">
              <a:solidFill>
                <a:srgbClr val="FFFFFF"/>
              </a:solidFill>
              <a:latin typeface="Arial"/>
              <a:ea typeface="Arial"/>
              <a:cs typeface="Arial"/>
              <a:sym typeface="Arial"/>
            </a:endParaRPr>
          </a:p>
        </p:txBody>
      </p:sp>
      <p:sp>
        <p:nvSpPr>
          <p:cNvPr id="87" name="Google Shape;87;p4"/>
          <p:cNvSpPr/>
          <p:nvPr/>
        </p:nvSpPr>
        <p:spPr>
          <a:xfrm>
            <a:off x="-228600" y="1781280"/>
            <a:ext cx="4797720" cy="1576800"/>
          </a:xfrm>
          <a:prstGeom prst="rect">
            <a:avLst/>
          </a:prstGeom>
          <a:noFill/>
          <a:ln>
            <a:noFill/>
          </a:ln>
        </p:spPr>
        <p:txBody>
          <a:bodyPr anchorCtr="0" anchor="ctr" bIns="45000" lIns="90000" spcFirstLastPara="1" rIns="90000" wrap="square" tIns="45000">
            <a:noAutofit/>
          </a:bodyPr>
          <a:lstStyle/>
          <a:p>
            <a:pPr indent="0" lvl="0" marL="0" marR="0" rtl="0" algn="ctr">
              <a:lnSpc>
                <a:spcPct val="78025"/>
              </a:lnSpc>
              <a:spcBef>
                <a:spcPts val="0"/>
              </a:spcBef>
              <a:spcAft>
                <a:spcPts val="0"/>
              </a:spcAft>
              <a:buNone/>
            </a:pPr>
            <a:r>
              <a:rPr b="0" i="0" lang="en-US" sz="4000" u="none" cap="none" strike="noStrike">
                <a:solidFill>
                  <a:srgbClr val="FFFFFF"/>
                </a:solidFill>
                <a:latin typeface="Overpass Mono"/>
                <a:ea typeface="Overpass Mono"/>
                <a:cs typeface="Overpass Mono"/>
                <a:sym typeface="Overpass Mono"/>
              </a:rPr>
              <a:t>Core Solidity </a:t>
            </a:r>
            <a:endParaRPr b="0" i="0" sz="4000" u="none" cap="none" strike="noStrike">
              <a:solidFill>
                <a:srgbClr val="FFFFFF"/>
              </a:solidFill>
              <a:latin typeface="Arial"/>
              <a:ea typeface="Arial"/>
              <a:cs typeface="Arial"/>
              <a:sym typeface="Arial"/>
            </a:endParaRPr>
          </a:p>
          <a:p>
            <a:pPr indent="0" lvl="0" marL="0" marR="0" rtl="0" algn="ctr">
              <a:lnSpc>
                <a:spcPct val="78025"/>
              </a:lnSpc>
              <a:spcBef>
                <a:spcPts val="0"/>
              </a:spcBef>
              <a:spcAft>
                <a:spcPts val="0"/>
              </a:spcAft>
              <a:buNone/>
            </a:pPr>
            <a:r>
              <a:rPr b="0" i="0" lang="en-US" sz="4000" u="none" cap="none" strike="noStrike">
                <a:solidFill>
                  <a:srgbClr val="FFFFFF"/>
                </a:solidFill>
                <a:latin typeface="Overpass Mono"/>
                <a:ea typeface="Overpass Mono"/>
                <a:cs typeface="Overpass Mono"/>
                <a:sym typeface="Overpass Mono"/>
              </a:rPr>
              <a:t>New features</a:t>
            </a:r>
            <a:endParaRPr b="0" i="0" sz="4000" u="none" cap="none" strike="noStrike">
              <a:solidFill>
                <a:srgbClr val="FFFFFF"/>
              </a:solidFill>
              <a:latin typeface="Arial"/>
              <a:ea typeface="Arial"/>
              <a:cs typeface="Arial"/>
              <a:sym typeface="Arial"/>
            </a:endParaRPr>
          </a:p>
        </p:txBody>
      </p:sp>
      <p:sp>
        <p:nvSpPr>
          <p:cNvPr id="88" name="Google Shape;88;p4"/>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343080" lvl="0" marL="343080" marR="0" rtl="0" algn="l">
              <a:lnSpc>
                <a:spcPct val="124683"/>
              </a:lnSpc>
              <a:spcBef>
                <a:spcPts val="0"/>
              </a:spcBef>
              <a:spcAft>
                <a:spcPts val="0"/>
              </a:spcAft>
              <a:buClr>
                <a:srgbClr val="F8F8FF"/>
              </a:buClr>
              <a:buSzPts val="1580"/>
              <a:buFont typeface="Calibri"/>
              <a:buAutoNum type="arabicPeriod"/>
            </a:pPr>
            <a:r>
              <a:rPr b="0" i="0" lang="en-US" sz="1580" u="none" cap="none" strike="noStrike">
                <a:solidFill>
                  <a:srgbClr val="F8F8FF"/>
                </a:solidFill>
                <a:latin typeface="Overpass"/>
                <a:ea typeface="Overpass"/>
                <a:cs typeface="Overpass"/>
                <a:sym typeface="Overpass"/>
              </a:rPr>
              <a:t>Generics and type classes (traits)</a:t>
            </a:r>
            <a:endParaRPr b="0" i="0" sz="1580" u="none" cap="none" strike="noStrike">
              <a:solidFill>
                <a:srgbClr val="FFFFFF"/>
              </a:solidFill>
              <a:latin typeface="Arial"/>
              <a:ea typeface="Arial"/>
              <a:cs typeface="Arial"/>
              <a:sym typeface="Arial"/>
            </a:endParaRPr>
          </a:p>
          <a:p>
            <a:pPr indent="-343080" lvl="0" marL="343080" marR="0" rtl="0" algn="l">
              <a:lnSpc>
                <a:spcPct val="124683"/>
              </a:lnSpc>
              <a:spcBef>
                <a:spcPts val="0"/>
              </a:spcBef>
              <a:spcAft>
                <a:spcPts val="0"/>
              </a:spcAft>
              <a:buClr>
                <a:srgbClr val="F8F8FF"/>
              </a:buClr>
              <a:buSzPts val="1580"/>
              <a:buFont typeface="Calibri"/>
              <a:buAutoNum type="arabicPeriod"/>
            </a:pPr>
            <a:r>
              <a:rPr b="0" i="0" lang="en-US" sz="1580" u="none" cap="none" strike="noStrike">
                <a:solidFill>
                  <a:srgbClr val="F8F8FF"/>
                </a:solidFill>
                <a:latin typeface="Overpass"/>
                <a:ea typeface="Overpass"/>
                <a:cs typeface="Overpass"/>
                <a:sym typeface="Overpass"/>
              </a:rPr>
              <a:t>Algebraic data types and pattern matching</a:t>
            </a:r>
            <a:endParaRPr b="0" i="0" sz="1580" u="none" cap="none" strike="noStrike">
              <a:solidFill>
                <a:srgbClr val="FFFFFF"/>
              </a:solidFill>
              <a:latin typeface="Arial"/>
              <a:ea typeface="Arial"/>
              <a:cs typeface="Arial"/>
              <a:sym typeface="Arial"/>
            </a:endParaRPr>
          </a:p>
          <a:p>
            <a:pPr indent="-343080" lvl="0" marL="343080" marR="0" rtl="0" algn="l">
              <a:lnSpc>
                <a:spcPct val="124683"/>
              </a:lnSpc>
              <a:spcBef>
                <a:spcPts val="0"/>
              </a:spcBef>
              <a:spcAft>
                <a:spcPts val="0"/>
              </a:spcAft>
              <a:buClr>
                <a:srgbClr val="F8F8FF"/>
              </a:buClr>
              <a:buSzPts val="1580"/>
              <a:buFont typeface="Calibri"/>
              <a:buAutoNum type="arabicPeriod"/>
            </a:pPr>
            <a:r>
              <a:rPr b="0" i="0" lang="en-US" sz="1580" u="none" cap="none" strike="noStrike">
                <a:solidFill>
                  <a:srgbClr val="F8F8FF"/>
                </a:solidFill>
                <a:latin typeface="Overpass"/>
                <a:ea typeface="Overpass"/>
                <a:cs typeface="Overpass"/>
                <a:sym typeface="Overpass"/>
              </a:rPr>
              <a:t>Type inference</a:t>
            </a:r>
            <a:endParaRPr b="0" i="0" sz="1580" u="none" cap="none" strike="noStrike">
              <a:solidFill>
                <a:srgbClr val="FFFFFF"/>
              </a:solidFill>
              <a:latin typeface="Arial"/>
              <a:ea typeface="Arial"/>
              <a:cs typeface="Arial"/>
              <a:sym typeface="Arial"/>
            </a:endParaRPr>
          </a:p>
          <a:p>
            <a:pPr indent="-343080" lvl="0" marL="343080" marR="0" rtl="0" algn="l">
              <a:lnSpc>
                <a:spcPct val="124683"/>
              </a:lnSpc>
              <a:spcBef>
                <a:spcPts val="0"/>
              </a:spcBef>
              <a:spcAft>
                <a:spcPts val="0"/>
              </a:spcAft>
              <a:buClr>
                <a:srgbClr val="F8F8FF"/>
              </a:buClr>
              <a:buSzPts val="1580"/>
              <a:buFont typeface="Calibri"/>
              <a:buAutoNum type="arabicPeriod"/>
            </a:pPr>
            <a:r>
              <a:rPr b="0" i="0" lang="en-US" sz="1580" u="none" cap="none" strike="noStrike">
                <a:solidFill>
                  <a:srgbClr val="F8F8FF"/>
                </a:solidFill>
                <a:latin typeface="Overpass"/>
                <a:ea typeface="Overpass"/>
                <a:cs typeface="Overpass"/>
                <a:sym typeface="Overpass"/>
              </a:rPr>
              <a:t>High-order and anonymous functions.</a:t>
            </a:r>
            <a:endParaRPr b="0" i="0" sz="1580" u="none" cap="none" strike="noStrike">
              <a:solidFill>
                <a:srgbClr val="FFFFFF"/>
              </a:solidFill>
              <a:latin typeface="Arial"/>
              <a:ea typeface="Arial"/>
              <a:cs typeface="Arial"/>
              <a:sym typeface="Arial"/>
            </a:endParaRPr>
          </a:p>
          <a:p>
            <a:pPr indent="-343080" lvl="0" marL="343080" marR="0" rtl="0" algn="l">
              <a:lnSpc>
                <a:spcPct val="124683"/>
              </a:lnSpc>
              <a:spcBef>
                <a:spcPts val="0"/>
              </a:spcBef>
              <a:spcAft>
                <a:spcPts val="0"/>
              </a:spcAft>
              <a:buClr>
                <a:srgbClr val="F8F8FF"/>
              </a:buClr>
              <a:buSzPts val="1580"/>
              <a:buFont typeface="Calibri"/>
              <a:buAutoNum type="arabicPeriod"/>
            </a:pPr>
            <a:r>
              <a:rPr b="0" i="0" lang="en-US" sz="1580" u="none" cap="none" strike="noStrike">
                <a:solidFill>
                  <a:srgbClr val="F8F8FF"/>
                </a:solidFill>
                <a:latin typeface="Overpass"/>
                <a:ea typeface="Overpass"/>
                <a:cs typeface="Overpass"/>
                <a:sym typeface="Overpass"/>
              </a:rPr>
              <a:t>Compile time evaluation.</a:t>
            </a:r>
            <a:endParaRPr b="0" i="0" sz="1580" u="none" cap="none" strike="noStrike">
              <a:solidFill>
                <a:srgbClr val="FFFFFF"/>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93" name="Shape 93"/>
        <p:cNvGrpSpPr/>
        <p:nvPr/>
      </p:nvGrpSpPr>
      <p:grpSpPr>
        <a:xfrm>
          <a:off x="0" y="0"/>
          <a:ext cx="0" cy="0"/>
          <a:chOff x="0" y="0"/>
          <a:chExt cx="0" cy="0"/>
        </a:xfrm>
      </p:grpSpPr>
      <p:sp>
        <p:nvSpPr>
          <p:cNvPr id="94" name="Google Shape;94;p5"/>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pic>
        <p:nvPicPr>
          <p:cNvPr descr="preencoded.png" id="95" name="Google Shape;95;p5"/>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96" name="Google Shape;96;p5"/>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97" name="Google Shape;97;p5"/>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98" name="Google Shape;98;p5"/>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99" name="Google Shape;99;p5"/>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100" name="Google Shape;100;p5"/>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101" name="Google Shape;101;p5"/>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102" name="Google Shape;102;p5"/>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103" name="Google Shape;103;p5"/>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i="0" lang="en-US" sz="1050" u="none" cap="none" strike="noStrike">
                <a:solidFill>
                  <a:srgbClr val="FFFFFF"/>
                </a:solidFill>
                <a:latin typeface="Overpass"/>
                <a:ea typeface="Overpass"/>
                <a:cs typeface="Overpass"/>
                <a:sym typeface="Overpass"/>
              </a:rPr>
              <a:t>Core Solidity New Features</a:t>
            </a:r>
            <a:endParaRPr b="0" i="0" sz="1050" u="none" cap="none" strike="noStrike">
              <a:solidFill>
                <a:srgbClr val="FFFFFF"/>
              </a:solidFill>
              <a:latin typeface="Arial"/>
              <a:ea typeface="Arial"/>
              <a:cs typeface="Arial"/>
              <a:sym typeface="Arial"/>
            </a:endParaRPr>
          </a:p>
        </p:txBody>
      </p:sp>
      <p:sp>
        <p:nvSpPr>
          <p:cNvPr id="104" name="Google Shape;104;p5"/>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i="0" lang="en-US" sz="4000" u="none" cap="none" strike="noStrike">
                <a:solidFill>
                  <a:srgbClr val="D2D2FF"/>
                </a:solidFill>
                <a:latin typeface="Overpass Mono"/>
                <a:ea typeface="Overpass Mono"/>
                <a:cs typeface="Overpass Mono"/>
                <a:sym typeface="Overpass Mono"/>
              </a:rPr>
              <a:t>Algebraic data types</a:t>
            </a:r>
            <a:endParaRPr b="0" i="0" sz="4000" u="none" cap="none" strike="noStrike">
              <a:solidFill>
                <a:srgbClr val="FFFFFF"/>
              </a:solidFill>
              <a:latin typeface="Arial"/>
              <a:ea typeface="Arial"/>
              <a:cs typeface="Arial"/>
              <a:sym typeface="Arial"/>
            </a:endParaRPr>
          </a:p>
        </p:txBody>
      </p:sp>
      <p:sp>
        <p:nvSpPr>
          <p:cNvPr id="105" name="Google Shape;105;p5"/>
          <p:cNvSpPr/>
          <p:nvPr/>
        </p:nvSpPr>
        <p:spPr>
          <a:xfrm>
            <a:off x="468000" y="3358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i="0" lang="en-US" sz="1800" u="none" cap="none" strike="noStrike">
                <a:solidFill>
                  <a:srgbClr val="F8F8FF"/>
                </a:solidFill>
                <a:latin typeface="Overpass"/>
                <a:ea typeface="Overpass"/>
                <a:cs typeface="Overpass"/>
                <a:sym typeface="Overpass"/>
              </a:rPr>
              <a:t>Data type for representing a 18 decimal fixed point</a:t>
            </a:r>
            <a:endParaRPr b="0" i="0" sz="1800" u="none" cap="none" strike="noStrike">
              <a:solidFill>
                <a:srgbClr val="FFFFFF"/>
              </a:solidFill>
              <a:latin typeface="Arial"/>
              <a:ea typeface="Arial"/>
              <a:cs typeface="Arial"/>
              <a:sym typeface="Arial"/>
            </a:endParaRPr>
          </a:p>
        </p:txBody>
      </p:sp>
      <p:pic>
        <p:nvPicPr>
          <p:cNvPr id="106" name="Google Shape;106;p5"/>
          <p:cNvPicPr preferRelativeResize="0"/>
          <p:nvPr/>
        </p:nvPicPr>
        <p:blipFill rotWithShape="1">
          <a:blip r:embed="rId6">
            <a:alphaModFix/>
          </a:blip>
          <a:srcRect b="35942" l="18178" r="22512" t="52305"/>
          <a:stretch/>
        </p:blipFill>
        <p:spPr>
          <a:xfrm>
            <a:off x="462600" y="1951200"/>
            <a:ext cx="3884040" cy="45504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111" name="Shape 111"/>
        <p:cNvGrpSpPr/>
        <p:nvPr/>
      </p:nvGrpSpPr>
      <p:grpSpPr>
        <a:xfrm>
          <a:off x="0" y="0"/>
          <a:ext cx="0" cy="0"/>
          <a:chOff x="0" y="0"/>
          <a:chExt cx="0" cy="0"/>
        </a:xfrm>
      </p:grpSpPr>
      <p:sp>
        <p:nvSpPr>
          <p:cNvPr id="112" name="Google Shape;112;p6"/>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113" name="Google Shape;113;p6"/>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114" name="Google Shape;114;p6"/>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115" name="Google Shape;115;p6"/>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116" name="Google Shape;116;p6"/>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117" name="Google Shape;117;p6"/>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118" name="Google Shape;118;p6"/>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119" name="Google Shape;119;p6"/>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120" name="Google Shape;120;p6"/>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121" name="Google Shape;121;p6"/>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122" name="Google Shape;122;p6"/>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Algebraic data types</a:t>
            </a:r>
            <a:endParaRPr b="0" sz="4000" u="none" strike="noStrike">
              <a:solidFill>
                <a:srgbClr val="FFFFFF"/>
              </a:solidFill>
              <a:latin typeface="Arial"/>
              <a:ea typeface="Arial"/>
              <a:cs typeface="Arial"/>
              <a:sym typeface="Arial"/>
            </a:endParaRPr>
          </a:p>
        </p:txBody>
      </p:sp>
      <p:sp>
        <p:nvSpPr>
          <p:cNvPr id="123" name="Google Shape;123;p6"/>
          <p:cNvSpPr/>
          <p:nvPr/>
        </p:nvSpPr>
        <p:spPr>
          <a:xfrm>
            <a:off x="468000" y="3358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Data type for representing a 18 decimal fixed point</a:t>
            </a:r>
            <a:endParaRPr b="0" sz="1800" u="none" strike="noStrike">
              <a:solidFill>
                <a:srgbClr val="FFFFFF"/>
              </a:solidFill>
              <a:latin typeface="Arial"/>
              <a:ea typeface="Arial"/>
              <a:cs typeface="Arial"/>
              <a:sym typeface="Arial"/>
            </a:endParaRPr>
          </a:p>
          <a:p>
            <a:pPr indent="-216000" lvl="1" marL="432000" marR="0" rtl="0" algn="l">
              <a:lnSpc>
                <a:spcPct val="109444"/>
              </a:lnSpc>
              <a:spcBef>
                <a:spcPts val="0"/>
              </a:spcBef>
              <a:spcAft>
                <a:spcPts val="0"/>
              </a:spcAft>
              <a:buClr>
                <a:srgbClr val="FFFFFF"/>
              </a:buClr>
              <a:buSzPts val="810"/>
              <a:buFont typeface="Noto Sans Symbols"/>
              <a:buChar char="●"/>
            </a:pPr>
            <a:r>
              <a:rPr b="0" i="0" lang="en-US" sz="1800" u="none" cap="none" strike="noStrike">
                <a:solidFill>
                  <a:srgbClr val="F8F8FF"/>
                </a:solidFill>
                <a:latin typeface="Overpass"/>
                <a:ea typeface="Overpass"/>
                <a:cs typeface="Overpass"/>
                <a:sym typeface="Overpass"/>
              </a:rPr>
              <a:t>Constructors and type names live in different namespaces</a:t>
            </a:r>
            <a:endParaRPr b="0" i="0" sz="1800" u="none" cap="none" strike="noStrike">
              <a:solidFill>
                <a:srgbClr val="FFFFFF"/>
              </a:solidFill>
              <a:latin typeface="Arial"/>
              <a:ea typeface="Arial"/>
              <a:cs typeface="Arial"/>
              <a:sym typeface="Arial"/>
            </a:endParaRPr>
          </a:p>
        </p:txBody>
      </p:sp>
      <p:pic>
        <p:nvPicPr>
          <p:cNvPr id="124" name="Google Shape;124;p6"/>
          <p:cNvPicPr preferRelativeResize="0"/>
          <p:nvPr/>
        </p:nvPicPr>
        <p:blipFill rotWithShape="1">
          <a:blip r:embed="rId6">
            <a:alphaModFix/>
          </a:blip>
          <a:srcRect b="35942" l="18178" r="22512" t="52305"/>
          <a:stretch/>
        </p:blipFill>
        <p:spPr>
          <a:xfrm>
            <a:off x="462600" y="1951200"/>
            <a:ext cx="3884040" cy="455040"/>
          </a:xfrm>
          <a:prstGeom prst="rect">
            <a:avLst/>
          </a:prstGeom>
          <a:noFill/>
          <a:ln>
            <a:noFill/>
          </a:ln>
        </p:spPr>
      </p:pic>
      <p:sp>
        <p:nvSpPr>
          <p:cNvPr id="125" name="Google Shape;125;p6"/>
          <p:cNvSpPr/>
          <p:nvPr/>
        </p:nvSpPr>
        <p:spPr>
          <a:xfrm>
            <a:off x="4631400" y="1319760"/>
            <a:ext cx="222552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Type name</a:t>
            </a:r>
            <a:endParaRPr b="0" sz="2200" u="none" strike="noStrike">
              <a:solidFill>
                <a:srgbClr val="FFFFFF"/>
              </a:solidFill>
              <a:latin typeface="Arial"/>
              <a:ea typeface="Arial"/>
              <a:cs typeface="Arial"/>
              <a:sym typeface="Arial"/>
            </a:endParaRPr>
          </a:p>
        </p:txBody>
      </p:sp>
      <p:cxnSp>
        <p:nvCxnSpPr>
          <p:cNvPr id="126" name="Google Shape;126;p6"/>
          <p:cNvCxnSpPr/>
          <p:nvPr/>
        </p:nvCxnSpPr>
        <p:spPr>
          <a:xfrm flipH="1">
            <a:off x="1828800" y="1600200"/>
            <a:ext cx="2802600" cy="351000"/>
          </a:xfrm>
          <a:prstGeom prst="straightConnector1">
            <a:avLst/>
          </a:prstGeom>
          <a:noFill/>
          <a:ln cap="flat" cmpd="sng" w="36700">
            <a:solidFill>
              <a:srgbClr val="FFFFFF"/>
            </a:solidFill>
            <a:prstDash val="solid"/>
            <a:round/>
            <a:headEnd len="sm" w="sm" type="none"/>
            <a:tailEnd len="med" w="med" type="triangle"/>
          </a:ln>
        </p:spPr>
      </p:cxnSp>
      <p:sp>
        <p:nvSpPr>
          <p:cNvPr id="127" name="Google Shape;127;p6"/>
          <p:cNvSpPr/>
          <p:nvPr/>
        </p:nvSpPr>
        <p:spPr>
          <a:xfrm>
            <a:off x="4307400" y="2651760"/>
            <a:ext cx="319932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Constructor name</a:t>
            </a:r>
            <a:endParaRPr b="0" sz="2200" u="none" strike="noStrike">
              <a:solidFill>
                <a:srgbClr val="FFFFFF"/>
              </a:solidFill>
              <a:latin typeface="Arial"/>
              <a:ea typeface="Arial"/>
              <a:cs typeface="Arial"/>
              <a:sym typeface="Arial"/>
            </a:endParaRPr>
          </a:p>
        </p:txBody>
      </p:sp>
      <p:cxnSp>
        <p:nvCxnSpPr>
          <p:cNvPr id="128" name="Google Shape;128;p6"/>
          <p:cNvCxnSpPr/>
          <p:nvPr/>
        </p:nvCxnSpPr>
        <p:spPr>
          <a:xfrm rot="10800000">
            <a:off x="2671200" y="2335320"/>
            <a:ext cx="1600200" cy="564480"/>
          </a:xfrm>
          <a:prstGeom prst="straightConnector1">
            <a:avLst/>
          </a:prstGeom>
          <a:noFill/>
          <a:ln cap="flat" cmpd="sng" w="36700">
            <a:solidFill>
              <a:srgbClr val="FFFFFF"/>
            </a:solidFill>
            <a:prstDash val="solid"/>
            <a:round/>
            <a:headEnd len="sm" w="sm"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133" name="Shape 133"/>
        <p:cNvGrpSpPr/>
        <p:nvPr/>
      </p:nvGrpSpPr>
      <p:grpSpPr>
        <a:xfrm>
          <a:off x="0" y="0"/>
          <a:ext cx="0" cy="0"/>
          <a:chOff x="0" y="0"/>
          <a:chExt cx="0" cy="0"/>
        </a:xfrm>
      </p:grpSpPr>
      <p:sp>
        <p:nvSpPr>
          <p:cNvPr id="134" name="Google Shape;134;p7"/>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135" name="Google Shape;135;p7"/>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136" name="Google Shape;136;p7"/>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137" name="Google Shape;137;p7"/>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138" name="Google Shape;138;p7"/>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139" name="Google Shape;139;p7"/>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140" name="Google Shape;140;p7"/>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141" name="Google Shape;141;p7"/>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142" name="Google Shape;142;p7"/>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143" name="Google Shape;143;p7"/>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144" name="Google Shape;144;p7"/>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Algebraic data types</a:t>
            </a:r>
            <a:endParaRPr b="0" sz="4000" u="none" strike="noStrike">
              <a:solidFill>
                <a:srgbClr val="FFFFFF"/>
              </a:solidFill>
              <a:latin typeface="Arial"/>
              <a:ea typeface="Arial"/>
              <a:cs typeface="Arial"/>
              <a:sym typeface="Arial"/>
            </a:endParaRPr>
          </a:p>
        </p:txBody>
      </p:sp>
      <p:pic>
        <p:nvPicPr>
          <p:cNvPr id="145" name="Google Shape;145;p7"/>
          <p:cNvPicPr preferRelativeResize="0"/>
          <p:nvPr/>
        </p:nvPicPr>
        <p:blipFill rotWithShape="1">
          <a:blip r:embed="rId6">
            <a:alphaModFix/>
          </a:blip>
          <a:srcRect b="29216" l="14925" r="15694" t="32220"/>
          <a:stretch/>
        </p:blipFill>
        <p:spPr>
          <a:xfrm>
            <a:off x="437400" y="1535760"/>
            <a:ext cx="5025960" cy="1974600"/>
          </a:xfrm>
          <a:prstGeom prst="rect">
            <a:avLst/>
          </a:prstGeom>
          <a:noFill/>
          <a:ln>
            <a:noFill/>
          </a:ln>
        </p:spPr>
      </p:pic>
      <p:sp>
        <p:nvSpPr>
          <p:cNvPr id="146" name="Google Shape;146;p7"/>
          <p:cNvSpPr/>
          <p:nvPr/>
        </p:nvSpPr>
        <p:spPr>
          <a:xfrm>
            <a:off x="504000" y="3401280"/>
            <a:ext cx="8410320" cy="157680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98500"/>
              </a:lnSpc>
              <a:spcBef>
                <a:spcPts val="0"/>
              </a:spcBef>
              <a:spcAft>
                <a:spcPts val="0"/>
              </a:spcAft>
              <a:buClr>
                <a:srgbClr val="FFFFFF"/>
              </a:buClr>
              <a:buSzPts val="900"/>
              <a:buFont typeface="Noto Sans Symbols"/>
              <a:buChar char="●"/>
            </a:pPr>
            <a:r>
              <a:rPr b="0" lang="en-US" sz="2000" u="none" strike="noStrike">
                <a:solidFill>
                  <a:srgbClr val="F8F8FF"/>
                </a:solidFill>
                <a:latin typeface="Overpass"/>
                <a:ea typeface="Overpass"/>
                <a:cs typeface="Overpass"/>
                <a:sym typeface="Overpass"/>
              </a:rPr>
              <a:t>Allows data modelling using sum and product types.</a:t>
            </a:r>
            <a:endParaRPr b="0" sz="2000" u="none" strike="noStrike">
              <a:solidFill>
                <a:srgbClr val="FFFFFF"/>
              </a:solidFill>
              <a:latin typeface="Arial"/>
              <a:ea typeface="Arial"/>
              <a:cs typeface="Arial"/>
              <a:sym typeface="Arial"/>
            </a:endParaRPr>
          </a:p>
        </p:txBody>
      </p:sp>
      <p:sp>
        <p:nvSpPr>
          <p:cNvPr id="147" name="Google Shape;147;p7"/>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152" name="Shape 152"/>
        <p:cNvGrpSpPr/>
        <p:nvPr/>
      </p:nvGrpSpPr>
      <p:grpSpPr>
        <a:xfrm>
          <a:off x="0" y="0"/>
          <a:ext cx="0" cy="0"/>
          <a:chOff x="0" y="0"/>
          <a:chExt cx="0" cy="0"/>
        </a:xfrm>
      </p:grpSpPr>
      <p:sp>
        <p:nvSpPr>
          <p:cNvPr id="153" name="Google Shape;153;p8"/>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154" name="Google Shape;154;p8"/>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155" name="Google Shape;155;p8"/>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156" name="Google Shape;156;p8"/>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157" name="Google Shape;157;p8"/>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158" name="Google Shape;158;p8"/>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159" name="Google Shape;159;p8"/>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160" name="Google Shape;160;p8"/>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161" name="Google Shape;161;p8"/>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162" name="Google Shape;162;p8"/>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163" name="Google Shape;163;p8"/>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Algebraic data types</a:t>
            </a:r>
            <a:endParaRPr b="0" sz="4000" u="none" strike="noStrike">
              <a:solidFill>
                <a:srgbClr val="FFFFFF"/>
              </a:solidFill>
              <a:latin typeface="Arial"/>
              <a:ea typeface="Arial"/>
              <a:cs typeface="Arial"/>
              <a:sym typeface="Arial"/>
            </a:endParaRPr>
          </a:p>
        </p:txBody>
      </p:sp>
      <p:pic>
        <p:nvPicPr>
          <p:cNvPr id="164" name="Google Shape;164;p8"/>
          <p:cNvPicPr preferRelativeResize="0"/>
          <p:nvPr/>
        </p:nvPicPr>
        <p:blipFill rotWithShape="1">
          <a:blip r:embed="rId6">
            <a:alphaModFix/>
          </a:blip>
          <a:srcRect b="29216" l="14925" r="15694" t="32220"/>
          <a:stretch/>
        </p:blipFill>
        <p:spPr>
          <a:xfrm>
            <a:off x="149400" y="1535760"/>
            <a:ext cx="5025960" cy="1974600"/>
          </a:xfrm>
          <a:prstGeom prst="rect">
            <a:avLst/>
          </a:prstGeom>
          <a:noFill/>
          <a:ln>
            <a:noFill/>
          </a:ln>
        </p:spPr>
      </p:pic>
      <p:sp>
        <p:nvSpPr>
          <p:cNvPr id="165" name="Google Shape;165;p8"/>
          <p:cNvSpPr/>
          <p:nvPr/>
        </p:nvSpPr>
        <p:spPr>
          <a:xfrm>
            <a:off x="504000" y="4114800"/>
            <a:ext cx="841032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98500"/>
              </a:lnSpc>
              <a:spcBef>
                <a:spcPts val="0"/>
              </a:spcBef>
              <a:spcAft>
                <a:spcPts val="0"/>
              </a:spcAft>
              <a:buClr>
                <a:srgbClr val="FFFFFF"/>
              </a:buClr>
              <a:buSzPts val="900"/>
              <a:buFont typeface="Noto Sans Symbols"/>
              <a:buChar char="●"/>
            </a:pPr>
            <a:r>
              <a:rPr b="0" lang="en-US" sz="2000" u="none" strike="noStrike">
                <a:solidFill>
                  <a:srgbClr val="F8F8FF"/>
                </a:solidFill>
                <a:latin typeface="Overpass"/>
                <a:ea typeface="Overpass"/>
                <a:cs typeface="Overpass"/>
                <a:sym typeface="Overpass"/>
              </a:rPr>
              <a:t>Sums allows the definition of exclusive alternatives in a type.</a:t>
            </a:r>
            <a:endParaRPr b="0" sz="2000" u="none" strike="noStrike">
              <a:solidFill>
                <a:srgbClr val="FFFFFF"/>
              </a:solidFill>
              <a:latin typeface="Arial"/>
              <a:ea typeface="Arial"/>
              <a:cs typeface="Arial"/>
              <a:sym typeface="Arial"/>
            </a:endParaRPr>
          </a:p>
        </p:txBody>
      </p:sp>
      <p:sp>
        <p:nvSpPr>
          <p:cNvPr id="166" name="Google Shape;166;p8"/>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67" name="Google Shape;167;p8"/>
          <p:cNvSpPr/>
          <p:nvPr/>
        </p:nvSpPr>
        <p:spPr>
          <a:xfrm>
            <a:off x="4415400" y="1103760"/>
            <a:ext cx="286128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Type name</a:t>
            </a:r>
            <a:endParaRPr b="0" sz="2200" u="none" strike="noStrike">
              <a:solidFill>
                <a:srgbClr val="FFFFFF"/>
              </a:solidFill>
              <a:latin typeface="Arial"/>
              <a:ea typeface="Arial"/>
              <a:cs typeface="Arial"/>
              <a:sym typeface="Arial"/>
            </a:endParaRPr>
          </a:p>
        </p:txBody>
      </p:sp>
      <p:cxnSp>
        <p:nvCxnSpPr>
          <p:cNvPr id="168" name="Google Shape;168;p8"/>
          <p:cNvCxnSpPr/>
          <p:nvPr/>
        </p:nvCxnSpPr>
        <p:spPr>
          <a:xfrm flipH="1">
            <a:off x="2430000" y="1371600"/>
            <a:ext cx="2021400" cy="349200"/>
          </a:xfrm>
          <a:prstGeom prst="straightConnector1">
            <a:avLst/>
          </a:prstGeom>
          <a:noFill/>
          <a:ln cap="flat" cmpd="sng" w="36700">
            <a:solidFill>
              <a:srgbClr val="FFFFFF"/>
            </a:solidFill>
            <a:prstDash val="solid"/>
            <a:round/>
            <a:headEnd len="sm" w="sm" type="none"/>
            <a:tailEnd len="med" w="med" type="triangle"/>
          </a:ln>
        </p:spPr>
      </p:cxnSp>
      <p:sp>
        <p:nvSpPr>
          <p:cNvPr id="169" name="Google Shape;169;p8"/>
          <p:cNvSpPr/>
          <p:nvPr/>
        </p:nvSpPr>
        <p:spPr>
          <a:xfrm rot="-44400">
            <a:off x="5211720" y="2211840"/>
            <a:ext cx="393408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93809"/>
              </a:lnSpc>
              <a:spcBef>
                <a:spcPts val="0"/>
              </a:spcBef>
              <a:spcAft>
                <a:spcPts val="0"/>
              </a:spcAft>
              <a:buNone/>
            </a:pPr>
            <a:r>
              <a:rPr b="1" lang="en-US" sz="2100" u="none" strike="noStrike">
                <a:solidFill>
                  <a:srgbClr val="F8F8FF"/>
                </a:solidFill>
                <a:latin typeface="Overpass"/>
                <a:ea typeface="Overpass"/>
                <a:cs typeface="Overpass"/>
                <a:sym typeface="Overpass"/>
              </a:rPr>
              <a:t>Sum types/Alternatives</a:t>
            </a:r>
            <a:endParaRPr b="0" sz="2100" u="none" strike="noStrike">
              <a:solidFill>
                <a:srgbClr val="FFFFFF"/>
              </a:solidFill>
              <a:latin typeface="Arial"/>
              <a:ea typeface="Arial"/>
              <a:cs typeface="Arial"/>
              <a:sym typeface="Arial"/>
            </a:endParaRPr>
          </a:p>
        </p:txBody>
      </p:sp>
      <p:sp>
        <p:nvSpPr>
          <p:cNvPr id="170" name="Google Shape;170;p8"/>
          <p:cNvSpPr/>
          <p:nvPr/>
        </p:nvSpPr>
        <p:spPr>
          <a:xfrm>
            <a:off x="4969800" y="1721160"/>
            <a:ext cx="226080" cy="1597680"/>
          </a:xfrm>
          <a:custGeom>
            <a:rect b="b" l="l" r="r" t="t"/>
            <a:pathLst>
              <a:path extrusionOk="0" h="21600" w="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cap="flat" cmpd="sng" w="36700">
            <a:solidFill>
              <a:srgbClr val="FFFFFF"/>
            </a:solidFill>
            <a:prstDash val="solid"/>
            <a:round/>
            <a:headEnd len="sm" w="sm" type="none"/>
            <a:tailEnd len="sm" w="sm" type="none"/>
          </a:ln>
        </p:spPr>
        <p:txBody>
          <a:bodyPr anchorCtr="0" anchor="ctr" bIns="63350" lIns="108350" spcFirstLastPara="1" rIns="108350" wrap="square" tIns="63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175" name="Shape 175"/>
        <p:cNvGrpSpPr/>
        <p:nvPr/>
      </p:nvGrpSpPr>
      <p:grpSpPr>
        <a:xfrm>
          <a:off x="0" y="0"/>
          <a:ext cx="0" cy="0"/>
          <a:chOff x="0" y="0"/>
          <a:chExt cx="0" cy="0"/>
        </a:xfrm>
      </p:grpSpPr>
      <p:sp>
        <p:nvSpPr>
          <p:cNvPr id="176" name="Google Shape;176;p9"/>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177" name="Google Shape;177;p9"/>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178" name="Google Shape;178;p9"/>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179" name="Google Shape;179;p9"/>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180" name="Google Shape;180;p9"/>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181" name="Google Shape;181;p9"/>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182" name="Google Shape;182;p9"/>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183" name="Google Shape;183;p9"/>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184" name="Google Shape;184;p9"/>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185" name="Google Shape;185;p9"/>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186" name="Google Shape;186;p9"/>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Algebraic data types</a:t>
            </a:r>
            <a:endParaRPr b="0" sz="4000" u="none" strike="noStrike">
              <a:solidFill>
                <a:srgbClr val="FFFFFF"/>
              </a:solidFill>
              <a:latin typeface="Arial"/>
              <a:ea typeface="Arial"/>
              <a:cs typeface="Arial"/>
              <a:sym typeface="Arial"/>
            </a:endParaRPr>
          </a:p>
        </p:txBody>
      </p:sp>
      <p:pic>
        <p:nvPicPr>
          <p:cNvPr id="187" name="Google Shape;187;p9"/>
          <p:cNvPicPr preferRelativeResize="0"/>
          <p:nvPr/>
        </p:nvPicPr>
        <p:blipFill rotWithShape="1">
          <a:blip r:embed="rId6">
            <a:alphaModFix/>
          </a:blip>
          <a:srcRect b="29216" l="14925" r="15694" t="32220"/>
          <a:stretch/>
        </p:blipFill>
        <p:spPr>
          <a:xfrm>
            <a:off x="437400" y="1535760"/>
            <a:ext cx="5025960" cy="1974600"/>
          </a:xfrm>
          <a:prstGeom prst="rect">
            <a:avLst/>
          </a:prstGeom>
          <a:noFill/>
          <a:ln>
            <a:noFill/>
          </a:ln>
        </p:spPr>
      </p:pic>
      <p:sp>
        <p:nvSpPr>
          <p:cNvPr id="188" name="Google Shape;188;p9"/>
          <p:cNvSpPr/>
          <p:nvPr/>
        </p:nvSpPr>
        <p:spPr>
          <a:xfrm>
            <a:off x="504000" y="4114800"/>
            <a:ext cx="818172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98500"/>
              </a:lnSpc>
              <a:spcBef>
                <a:spcPts val="0"/>
              </a:spcBef>
              <a:spcAft>
                <a:spcPts val="0"/>
              </a:spcAft>
              <a:buClr>
                <a:srgbClr val="FFFFFF"/>
              </a:buClr>
              <a:buSzPts val="900"/>
              <a:buFont typeface="Noto Sans Symbols"/>
              <a:buChar char="●"/>
            </a:pPr>
            <a:r>
              <a:rPr b="0" lang="en-US" sz="2000" u="none" strike="noStrike">
                <a:solidFill>
                  <a:srgbClr val="F8F8FF"/>
                </a:solidFill>
                <a:latin typeface="Overpass"/>
                <a:ea typeface="Overpass"/>
                <a:cs typeface="Overpass"/>
                <a:sym typeface="Overpass"/>
              </a:rPr>
              <a:t>Products combine values into structured tuples.</a:t>
            </a:r>
            <a:endParaRPr b="0" sz="2000" u="none" strike="noStrike">
              <a:solidFill>
                <a:srgbClr val="FFFFFF"/>
              </a:solidFill>
              <a:latin typeface="Arial"/>
              <a:ea typeface="Arial"/>
              <a:cs typeface="Arial"/>
              <a:sym typeface="Arial"/>
            </a:endParaRPr>
          </a:p>
        </p:txBody>
      </p:sp>
      <p:sp>
        <p:nvSpPr>
          <p:cNvPr id="189" name="Google Shape;189;p9"/>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90" name="Google Shape;190;p9"/>
          <p:cNvSpPr/>
          <p:nvPr/>
        </p:nvSpPr>
        <p:spPr>
          <a:xfrm>
            <a:off x="4415400" y="1103760"/>
            <a:ext cx="286128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Type name</a:t>
            </a:r>
            <a:endParaRPr b="0" sz="2200" u="none" strike="noStrike">
              <a:solidFill>
                <a:srgbClr val="FFFFFF"/>
              </a:solidFill>
              <a:latin typeface="Arial"/>
              <a:ea typeface="Arial"/>
              <a:cs typeface="Arial"/>
              <a:sym typeface="Arial"/>
            </a:endParaRPr>
          </a:p>
        </p:txBody>
      </p:sp>
      <p:cxnSp>
        <p:nvCxnSpPr>
          <p:cNvPr id="191" name="Google Shape;191;p9"/>
          <p:cNvCxnSpPr/>
          <p:nvPr/>
        </p:nvCxnSpPr>
        <p:spPr>
          <a:xfrm flipH="1">
            <a:off x="2430000" y="1371600"/>
            <a:ext cx="2021400" cy="349200"/>
          </a:xfrm>
          <a:prstGeom prst="straightConnector1">
            <a:avLst/>
          </a:prstGeom>
          <a:noFill/>
          <a:ln cap="flat" cmpd="sng" w="36700">
            <a:solidFill>
              <a:srgbClr val="FFFFFF"/>
            </a:solidFill>
            <a:prstDash val="solid"/>
            <a:round/>
            <a:headEnd len="sm" w="sm" type="none"/>
            <a:tailEnd len="med" w="med" type="triangle"/>
          </a:ln>
        </p:spPr>
      </p:cxnSp>
      <p:sp>
        <p:nvSpPr>
          <p:cNvPr id="192" name="Google Shape;192;p9"/>
          <p:cNvSpPr/>
          <p:nvPr/>
        </p:nvSpPr>
        <p:spPr>
          <a:xfrm>
            <a:off x="2826000" y="3677400"/>
            <a:ext cx="286128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Product type</a:t>
            </a:r>
            <a:endParaRPr b="0" sz="2200" u="none" strike="noStrike">
              <a:solidFill>
                <a:srgbClr val="FFFFFF"/>
              </a:solidFill>
              <a:latin typeface="Arial"/>
              <a:ea typeface="Arial"/>
              <a:cs typeface="Arial"/>
              <a:sym typeface="Arial"/>
            </a:endParaRPr>
          </a:p>
        </p:txBody>
      </p:sp>
      <p:sp>
        <p:nvSpPr>
          <p:cNvPr id="193" name="Google Shape;193;p9"/>
          <p:cNvSpPr/>
          <p:nvPr/>
        </p:nvSpPr>
        <p:spPr>
          <a:xfrm rot="5340600">
            <a:off x="3589200" y="2368440"/>
            <a:ext cx="465120" cy="2385000"/>
          </a:xfrm>
          <a:custGeom>
            <a:rect b="b" l="l" r="r" t="t"/>
            <a:pathLst>
              <a:path extrusionOk="0" h="21600" w="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cap="flat" cmpd="sng" w="36700">
            <a:solidFill>
              <a:srgbClr val="FFFFFF"/>
            </a:solidFill>
            <a:prstDash val="solid"/>
            <a:round/>
            <a:headEnd len="sm" w="sm" type="none"/>
            <a:tailEnd len="sm" w="sm" type="none"/>
          </a:ln>
        </p:spPr>
        <p:txBody>
          <a:bodyPr anchorCtr="0" anchor="ctr" bIns="63350" lIns="108350" spcFirstLastPara="1" rIns="108350" wrap="square" tIns="63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198" name="Shape 198"/>
        <p:cNvGrpSpPr/>
        <p:nvPr/>
      </p:nvGrpSpPr>
      <p:grpSpPr>
        <a:xfrm>
          <a:off x="0" y="0"/>
          <a:ext cx="0" cy="0"/>
          <a:chOff x="0" y="0"/>
          <a:chExt cx="0" cy="0"/>
        </a:xfrm>
      </p:grpSpPr>
      <p:sp>
        <p:nvSpPr>
          <p:cNvPr id="199" name="Google Shape;199;p10"/>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200" name="Google Shape;200;p10"/>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201" name="Google Shape;201;p10"/>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202" name="Google Shape;202;p10"/>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203" name="Google Shape;203;p10"/>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204" name="Google Shape;204;p10"/>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205" name="Google Shape;205;p10"/>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206" name="Google Shape;206;p10"/>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207" name="Google Shape;207;p10"/>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208" name="Google Shape;208;p10"/>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209" name="Google Shape;209;p10"/>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Pattern Matching</a:t>
            </a:r>
            <a:endParaRPr b="0" sz="4000" u="none" strike="noStrike">
              <a:solidFill>
                <a:srgbClr val="FFFFFF"/>
              </a:solidFill>
              <a:latin typeface="Arial"/>
              <a:ea typeface="Arial"/>
              <a:cs typeface="Arial"/>
              <a:sym typeface="Arial"/>
            </a:endParaRPr>
          </a:p>
        </p:txBody>
      </p:sp>
      <p:sp>
        <p:nvSpPr>
          <p:cNvPr id="210" name="Google Shape;210;p10"/>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11" name="Google Shape;211;p10"/>
          <p:cNvSpPr/>
          <p:nvPr/>
        </p:nvSpPr>
        <p:spPr>
          <a:xfrm>
            <a:off x="396000" y="4222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Pattern matching allows changing control flow based on value shape.</a:t>
            </a:r>
            <a:endParaRPr b="0" sz="1800" u="none" strike="noStrike">
              <a:solidFill>
                <a:srgbClr val="FFFFFF"/>
              </a:solidFill>
              <a:latin typeface="Arial"/>
              <a:ea typeface="Arial"/>
              <a:cs typeface="Arial"/>
              <a:sym typeface="Arial"/>
            </a:endParaRPr>
          </a:p>
        </p:txBody>
      </p:sp>
      <p:pic>
        <p:nvPicPr>
          <p:cNvPr id="212" name="Google Shape;212;p10"/>
          <p:cNvPicPr preferRelativeResize="0"/>
          <p:nvPr/>
        </p:nvPicPr>
        <p:blipFill rotWithShape="1">
          <a:blip r:embed="rId6">
            <a:alphaModFix/>
          </a:blip>
          <a:srcRect b="23604" l="12191" r="12802" t="29756"/>
          <a:stretch/>
        </p:blipFill>
        <p:spPr>
          <a:xfrm>
            <a:off x="495000" y="1816200"/>
            <a:ext cx="6855840" cy="2283840"/>
          </a:xfrm>
          <a:prstGeom prst="rect">
            <a:avLst/>
          </a:prstGeom>
          <a:noFill/>
          <a:ln>
            <a:noFill/>
          </a:ln>
        </p:spPr>
      </p:pic>
      <p:pic>
        <p:nvPicPr>
          <p:cNvPr id="213" name="Google Shape;213;p10"/>
          <p:cNvPicPr preferRelativeResize="0"/>
          <p:nvPr/>
        </p:nvPicPr>
        <p:blipFill rotWithShape="1">
          <a:blip r:embed="rId7">
            <a:alphaModFix/>
          </a:blip>
          <a:srcRect b="35942" l="18178" r="22512" t="52305"/>
          <a:stretch/>
        </p:blipFill>
        <p:spPr>
          <a:xfrm>
            <a:off x="354600" y="1555560"/>
            <a:ext cx="3337920" cy="39096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218" name="Shape 218"/>
        <p:cNvGrpSpPr/>
        <p:nvPr/>
      </p:nvGrpSpPr>
      <p:grpSpPr>
        <a:xfrm>
          <a:off x="0" y="0"/>
          <a:ext cx="0" cy="0"/>
          <a:chOff x="0" y="0"/>
          <a:chExt cx="0" cy="0"/>
        </a:xfrm>
      </p:grpSpPr>
      <p:sp>
        <p:nvSpPr>
          <p:cNvPr id="219" name="Google Shape;219;p11"/>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220" name="Google Shape;220;p11"/>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221" name="Google Shape;221;p11"/>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222" name="Google Shape;222;p11"/>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223" name="Google Shape;223;p11"/>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224" name="Google Shape;224;p11"/>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225" name="Google Shape;225;p11"/>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226" name="Google Shape;226;p11"/>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227" name="Google Shape;227;p11"/>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228" name="Google Shape;228;p11"/>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229" name="Google Shape;229;p11"/>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Pattern Matching</a:t>
            </a:r>
            <a:endParaRPr b="0" sz="4000" u="none" strike="noStrike">
              <a:solidFill>
                <a:srgbClr val="FFFFFF"/>
              </a:solidFill>
              <a:latin typeface="Arial"/>
              <a:ea typeface="Arial"/>
              <a:cs typeface="Arial"/>
              <a:sym typeface="Arial"/>
            </a:endParaRPr>
          </a:p>
        </p:txBody>
      </p:sp>
      <p:sp>
        <p:nvSpPr>
          <p:cNvPr id="230" name="Google Shape;230;p11"/>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id="231" name="Google Shape;231;p11"/>
          <p:cNvPicPr preferRelativeResize="0"/>
          <p:nvPr/>
        </p:nvPicPr>
        <p:blipFill rotWithShape="1">
          <a:blip r:embed="rId6">
            <a:alphaModFix/>
          </a:blip>
          <a:srcRect b="23604" l="12191" r="12802" t="29756"/>
          <a:stretch/>
        </p:blipFill>
        <p:spPr>
          <a:xfrm>
            <a:off x="495000" y="1384200"/>
            <a:ext cx="6855840" cy="2283840"/>
          </a:xfrm>
          <a:prstGeom prst="rect">
            <a:avLst/>
          </a:prstGeom>
          <a:noFill/>
          <a:ln>
            <a:noFill/>
          </a:ln>
        </p:spPr>
      </p:pic>
      <p:sp>
        <p:nvSpPr>
          <p:cNvPr id="232" name="Google Shape;232;p11"/>
          <p:cNvSpPr/>
          <p:nvPr/>
        </p:nvSpPr>
        <p:spPr>
          <a:xfrm>
            <a:off x="4415400" y="1355760"/>
            <a:ext cx="381240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Pattern match block</a:t>
            </a:r>
            <a:endParaRPr b="0" sz="2200" u="none" strike="noStrike">
              <a:solidFill>
                <a:srgbClr val="FFFFFF"/>
              </a:solidFill>
              <a:latin typeface="Arial"/>
              <a:ea typeface="Arial"/>
              <a:cs typeface="Arial"/>
              <a:sym typeface="Arial"/>
            </a:endParaRPr>
          </a:p>
        </p:txBody>
      </p:sp>
      <p:cxnSp>
        <p:nvCxnSpPr>
          <p:cNvPr id="233" name="Google Shape;233;p11"/>
          <p:cNvCxnSpPr/>
          <p:nvPr/>
        </p:nvCxnSpPr>
        <p:spPr>
          <a:xfrm flipH="1">
            <a:off x="1636200" y="1600200"/>
            <a:ext cx="2707200" cy="914400"/>
          </a:xfrm>
          <a:prstGeom prst="straightConnector1">
            <a:avLst/>
          </a:prstGeom>
          <a:noFill/>
          <a:ln cap="flat" cmpd="sng" w="36700">
            <a:solidFill>
              <a:srgbClr val="FFFFFF"/>
            </a:solidFill>
            <a:prstDash val="solid"/>
            <a:round/>
            <a:headEnd len="sm" w="sm"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238" name="Shape 238"/>
        <p:cNvGrpSpPr/>
        <p:nvPr/>
      </p:nvGrpSpPr>
      <p:grpSpPr>
        <a:xfrm>
          <a:off x="0" y="0"/>
          <a:ext cx="0" cy="0"/>
          <a:chOff x="0" y="0"/>
          <a:chExt cx="0" cy="0"/>
        </a:xfrm>
      </p:grpSpPr>
      <p:sp>
        <p:nvSpPr>
          <p:cNvPr id="239" name="Google Shape;239;p12"/>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240" name="Google Shape;240;p12"/>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241" name="Google Shape;241;p12"/>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242" name="Google Shape;242;p12"/>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243" name="Google Shape;243;p12"/>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244" name="Google Shape;244;p12"/>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245" name="Google Shape;245;p12"/>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246" name="Google Shape;246;p12"/>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247" name="Google Shape;247;p12"/>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248" name="Google Shape;248;p12"/>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249" name="Google Shape;249;p12"/>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Pattern Matching</a:t>
            </a:r>
            <a:endParaRPr b="0" sz="4000" u="none" strike="noStrike">
              <a:solidFill>
                <a:srgbClr val="FFFFFF"/>
              </a:solidFill>
              <a:latin typeface="Arial"/>
              <a:ea typeface="Arial"/>
              <a:cs typeface="Arial"/>
              <a:sym typeface="Arial"/>
            </a:endParaRPr>
          </a:p>
        </p:txBody>
      </p:sp>
      <p:sp>
        <p:nvSpPr>
          <p:cNvPr id="250" name="Google Shape;250;p12"/>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id="251" name="Google Shape;251;p12"/>
          <p:cNvPicPr preferRelativeResize="0"/>
          <p:nvPr/>
        </p:nvPicPr>
        <p:blipFill rotWithShape="1">
          <a:blip r:embed="rId6">
            <a:alphaModFix/>
          </a:blip>
          <a:srcRect b="23604" l="12191" r="12802" t="29756"/>
          <a:stretch/>
        </p:blipFill>
        <p:spPr>
          <a:xfrm>
            <a:off x="495000" y="1384200"/>
            <a:ext cx="6855840" cy="2283840"/>
          </a:xfrm>
          <a:prstGeom prst="rect">
            <a:avLst/>
          </a:prstGeom>
          <a:noFill/>
          <a:ln>
            <a:noFill/>
          </a:ln>
        </p:spPr>
      </p:pic>
      <p:sp>
        <p:nvSpPr>
          <p:cNvPr id="252" name="Google Shape;252;p12"/>
          <p:cNvSpPr/>
          <p:nvPr/>
        </p:nvSpPr>
        <p:spPr>
          <a:xfrm>
            <a:off x="5423400" y="1247760"/>
            <a:ext cx="381240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Discriminee</a:t>
            </a:r>
            <a:endParaRPr b="0" sz="2200" u="none" strike="noStrike">
              <a:solidFill>
                <a:srgbClr val="FFFFFF"/>
              </a:solidFill>
              <a:latin typeface="Arial"/>
              <a:ea typeface="Arial"/>
              <a:cs typeface="Arial"/>
              <a:sym typeface="Arial"/>
            </a:endParaRPr>
          </a:p>
        </p:txBody>
      </p:sp>
      <p:cxnSp>
        <p:nvCxnSpPr>
          <p:cNvPr id="253" name="Google Shape;253;p12"/>
          <p:cNvCxnSpPr/>
          <p:nvPr/>
        </p:nvCxnSpPr>
        <p:spPr>
          <a:xfrm flipH="1">
            <a:off x="2644200" y="1564200"/>
            <a:ext cx="2707200" cy="914400"/>
          </a:xfrm>
          <a:prstGeom prst="straightConnector1">
            <a:avLst/>
          </a:prstGeom>
          <a:noFill/>
          <a:ln cap="flat" cmpd="sng" w="36700">
            <a:solidFill>
              <a:srgbClr val="FFFFFF"/>
            </a:solidFill>
            <a:prstDash val="solid"/>
            <a:round/>
            <a:headEnd len="sm" w="sm"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258" name="Shape 258"/>
        <p:cNvGrpSpPr/>
        <p:nvPr/>
      </p:nvGrpSpPr>
      <p:grpSpPr>
        <a:xfrm>
          <a:off x="0" y="0"/>
          <a:ext cx="0" cy="0"/>
          <a:chOff x="0" y="0"/>
          <a:chExt cx="0" cy="0"/>
        </a:xfrm>
      </p:grpSpPr>
      <p:sp>
        <p:nvSpPr>
          <p:cNvPr id="259" name="Google Shape;259;p13"/>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260" name="Google Shape;260;p13"/>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261" name="Google Shape;261;p13"/>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262" name="Google Shape;262;p13"/>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263" name="Google Shape;263;p13"/>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264" name="Google Shape;264;p13"/>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265" name="Google Shape;265;p13"/>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266" name="Google Shape;266;p13"/>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267" name="Google Shape;267;p13"/>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268" name="Google Shape;268;p13"/>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269" name="Google Shape;269;p13"/>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Pattern Matching</a:t>
            </a:r>
            <a:endParaRPr b="0" sz="4000" u="none" strike="noStrike">
              <a:solidFill>
                <a:srgbClr val="FFFFFF"/>
              </a:solidFill>
              <a:latin typeface="Arial"/>
              <a:ea typeface="Arial"/>
              <a:cs typeface="Arial"/>
              <a:sym typeface="Arial"/>
            </a:endParaRPr>
          </a:p>
        </p:txBody>
      </p:sp>
      <p:sp>
        <p:nvSpPr>
          <p:cNvPr id="270" name="Google Shape;270;p13"/>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id="271" name="Google Shape;271;p13"/>
          <p:cNvPicPr preferRelativeResize="0"/>
          <p:nvPr/>
        </p:nvPicPr>
        <p:blipFill rotWithShape="1">
          <a:blip r:embed="rId6">
            <a:alphaModFix/>
          </a:blip>
          <a:srcRect b="23604" l="12191" r="12802" t="29756"/>
          <a:stretch/>
        </p:blipFill>
        <p:spPr>
          <a:xfrm>
            <a:off x="495000" y="1384200"/>
            <a:ext cx="6855840" cy="2283840"/>
          </a:xfrm>
          <a:prstGeom prst="rect">
            <a:avLst/>
          </a:prstGeom>
          <a:noFill/>
          <a:ln>
            <a:noFill/>
          </a:ln>
        </p:spPr>
      </p:pic>
      <p:sp>
        <p:nvSpPr>
          <p:cNvPr id="272" name="Google Shape;272;p13"/>
          <p:cNvSpPr/>
          <p:nvPr/>
        </p:nvSpPr>
        <p:spPr>
          <a:xfrm>
            <a:off x="4343400" y="3870720"/>
            <a:ext cx="381240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Wrapped uint256 values</a:t>
            </a:r>
            <a:endParaRPr b="0" sz="2200" u="none" strike="noStrike">
              <a:solidFill>
                <a:srgbClr val="FFFFFF"/>
              </a:solidFill>
              <a:latin typeface="Arial"/>
              <a:ea typeface="Arial"/>
              <a:cs typeface="Arial"/>
              <a:sym typeface="Arial"/>
            </a:endParaRPr>
          </a:p>
        </p:txBody>
      </p:sp>
      <p:cxnSp>
        <p:nvCxnSpPr>
          <p:cNvPr id="273" name="Google Shape;273;p13"/>
          <p:cNvCxnSpPr/>
          <p:nvPr/>
        </p:nvCxnSpPr>
        <p:spPr>
          <a:xfrm rot="10800000">
            <a:off x="2057400" y="3043800"/>
            <a:ext cx="2217600" cy="1094400"/>
          </a:xfrm>
          <a:prstGeom prst="straightConnector1">
            <a:avLst/>
          </a:prstGeom>
          <a:noFill/>
          <a:ln cap="flat" cmpd="sng" w="36700">
            <a:solidFill>
              <a:srgbClr val="FFFFFF"/>
            </a:solidFill>
            <a:prstDash val="solid"/>
            <a:round/>
            <a:headEnd len="sm" w="sm" type="none"/>
            <a:tailEnd len="med" w="med" type="triangle"/>
          </a:ln>
        </p:spPr>
      </p:cxnSp>
      <p:cxnSp>
        <p:nvCxnSpPr>
          <p:cNvPr id="274" name="Google Shape;274;p13"/>
          <p:cNvCxnSpPr/>
          <p:nvPr/>
        </p:nvCxnSpPr>
        <p:spPr>
          <a:xfrm rot="10800000">
            <a:off x="3200400" y="3043800"/>
            <a:ext cx="1143000" cy="1071000"/>
          </a:xfrm>
          <a:prstGeom prst="straightConnector1">
            <a:avLst/>
          </a:prstGeom>
          <a:noFill/>
          <a:ln cap="flat" cmpd="sng" w="36700">
            <a:solidFill>
              <a:srgbClr val="FFFFFF"/>
            </a:solidFill>
            <a:prstDash val="solid"/>
            <a:round/>
            <a:headEnd len="sm" w="sm"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279" name="Shape 279"/>
        <p:cNvGrpSpPr/>
        <p:nvPr/>
      </p:nvGrpSpPr>
      <p:grpSpPr>
        <a:xfrm>
          <a:off x="0" y="0"/>
          <a:ext cx="0" cy="0"/>
          <a:chOff x="0" y="0"/>
          <a:chExt cx="0" cy="0"/>
        </a:xfrm>
      </p:grpSpPr>
      <p:sp>
        <p:nvSpPr>
          <p:cNvPr id="280" name="Google Shape;280;p14"/>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281" name="Google Shape;281;p14"/>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282" name="Google Shape;282;p14"/>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283" name="Google Shape;283;p14"/>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284" name="Google Shape;284;p14"/>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285" name="Google Shape;285;p14"/>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286" name="Google Shape;286;p14"/>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287" name="Google Shape;287;p14"/>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288" name="Google Shape;288;p14"/>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289" name="Google Shape;289;p14"/>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290" name="Google Shape;290;p14"/>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Pattern Matching</a:t>
            </a:r>
            <a:endParaRPr b="0" sz="4000" u="none" strike="noStrike">
              <a:solidFill>
                <a:srgbClr val="FFFFFF"/>
              </a:solidFill>
              <a:latin typeface="Arial"/>
              <a:ea typeface="Arial"/>
              <a:cs typeface="Arial"/>
              <a:sym typeface="Arial"/>
            </a:endParaRPr>
          </a:p>
        </p:txBody>
      </p:sp>
      <p:sp>
        <p:nvSpPr>
          <p:cNvPr id="291" name="Google Shape;291;p14"/>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id="292" name="Google Shape;292;p14"/>
          <p:cNvPicPr preferRelativeResize="0"/>
          <p:nvPr/>
        </p:nvPicPr>
        <p:blipFill rotWithShape="1">
          <a:blip r:embed="rId6">
            <a:alphaModFix/>
          </a:blip>
          <a:srcRect b="23604" l="12191" r="12802" t="29756"/>
          <a:stretch/>
        </p:blipFill>
        <p:spPr>
          <a:xfrm>
            <a:off x="495000" y="1384200"/>
            <a:ext cx="6855840" cy="2283840"/>
          </a:xfrm>
          <a:prstGeom prst="rect">
            <a:avLst/>
          </a:prstGeom>
          <a:noFill/>
          <a:ln>
            <a:noFill/>
          </a:ln>
        </p:spPr>
      </p:pic>
      <p:sp>
        <p:nvSpPr>
          <p:cNvPr id="293" name="Google Shape;293;p14"/>
          <p:cNvSpPr/>
          <p:nvPr/>
        </p:nvSpPr>
        <p:spPr>
          <a:xfrm>
            <a:off x="4055400" y="3618720"/>
            <a:ext cx="3812400" cy="614880"/>
          </a:xfrm>
          <a:prstGeom prst="rect">
            <a:avLst/>
          </a:prstGeom>
          <a:noFill/>
          <a:ln>
            <a:noFill/>
          </a:ln>
        </p:spPr>
        <p:txBody>
          <a:bodyPr anchorCtr="0" anchor="ctr" bIns="45000" lIns="90000" spcFirstLastPara="1" rIns="90000" wrap="square" tIns="45000">
            <a:noAutofit/>
          </a:bodyPr>
          <a:lstStyle/>
          <a:p>
            <a:pPr indent="0" lvl="0" marL="0" marR="0" rtl="0" algn="ctr">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Wrapping result in </a:t>
            </a:r>
            <a:endParaRPr b="0" sz="2200" u="none" strike="noStrike">
              <a:solidFill>
                <a:srgbClr val="FFFFFF"/>
              </a:solidFill>
              <a:latin typeface="Arial"/>
              <a:ea typeface="Arial"/>
              <a:cs typeface="Arial"/>
              <a:sym typeface="Arial"/>
            </a:endParaRPr>
          </a:p>
          <a:p>
            <a:pPr indent="0" lvl="0" marL="0" marR="0" rtl="0" algn="ctr">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data constructor</a:t>
            </a:r>
            <a:endParaRPr b="0" sz="2200" u="none" strike="noStrike">
              <a:solidFill>
                <a:srgbClr val="FFFFFF"/>
              </a:solidFill>
              <a:latin typeface="Arial"/>
              <a:ea typeface="Arial"/>
              <a:cs typeface="Arial"/>
              <a:sym typeface="Arial"/>
            </a:endParaRPr>
          </a:p>
        </p:txBody>
      </p:sp>
      <p:sp>
        <p:nvSpPr>
          <p:cNvPr id="294" name="Google Shape;294;p14"/>
          <p:cNvSpPr/>
          <p:nvPr/>
        </p:nvSpPr>
        <p:spPr>
          <a:xfrm rot="5340600">
            <a:off x="5783400" y="2151360"/>
            <a:ext cx="465120" cy="2284200"/>
          </a:xfrm>
          <a:custGeom>
            <a:rect b="b" l="l" r="r" t="t"/>
            <a:pathLst>
              <a:path extrusionOk="0" h="21600" w="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cap="flat" cmpd="sng" w="36700">
            <a:solidFill>
              <a:srgbClr val="FFFFFF"/>
            </a:solidFill>
            <a:prstDash val="solid"/>
            <a:round/>
            <a:headEnd len="sm" w="sm" type="none"/>
            <a:tailEnd len="sm" w="sm" type="none"/>
          </a:ln>
        </p:spPr>
        <p:txBody>
          <a:bodyPr anchorCtr="0" anchor="ctr" bIns="63350" lIns="108350" spcFirstLastPara="1" rIns="108350" wrap="square" tIns="63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299" name="Shape 299"/>
        <p:cNvGrpSpPr/>
        <p:nvPr/>
      </p:nvGrpSpPr>
      <p:grpSpPr>
        <a:xfrm>
          <a:off x="0" y="0"/>
          <a:ext cx="0" cy="0"/>
          <a:chOff x="0" y="0"/>
          <a:chExt cx="0" cy="0"/>
        </a:xfrm>
      </p:grpSpPr>
      <p:sp>
        <p:nvSpPr>
          <p:cNvPr id="300" name="Google Shape;300;p15"/>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301" name="Google Shape;301;p15"/>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302" name="Google Shape;302;p15"/>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303" name="Google Shape;303;p15"/>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304" name="Google Shape;304;p15"/>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305" name="Google Shape;305;p15"/>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306" name="Google Shape;306;p15"/>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307" name="Google Shape;307;p15"/>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308" name="Google Shape;308;p15"/>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309" name="Google Shape;309;p15"/>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310" name="Google Shape;310;p15"/>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Generics</a:t>
            </a:r>
            <a:endParaRPr b="0" sz="4000" u="none" strike="noStrike">
              <a:solidFill>
                <a:srgbClr val="FFFFFF"/>
              </a:solidFill>
              <a:latin typeface="Arial"/>
              <a:ea typeface="Arial"/>
              <a:cs typeface="Arial"/>
              <a:sym typeface="Arial"/>
            </a:endParaRPr>
          </a:p>
        </p:txBody>
      </p:sp>
      <p:sp>
        <p:nvSpPr>
          <p:cNvPr id="311" name="Google Shape;311;p15"/>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id="312" name="Google Shape;312;p15"/>
          <p:cNvPicPr preferRelativeResize="0"/>
          <p:nvPr/>
        </p:nvPicPr>
        <p:blipFill rotWithShape="1">
          <a:blip r:embed="rId6">
            <a:alphaModFix/>
          </a:blip>
          <a:srcRect b="34358" l="12193" r="15302" t="35543"/>
          <a:stretch/>
        </p:blipFill>
        <p:spPr>
          <a:xfrm>
            <a:off x="279000" y="1745280"/>
            <a:ext cx="6627240" cy="1416960"/>
          </a:xfrm>
          <a:prstGeom prst="rect">
            <a:avLst/>
          </a:prstGeom>
          <a:noFill/>
          <a:ln>
            <a:noFill/>
          </a:ln>
        </p:spPr>
      </p:pic>
      <p:sp>
        <p:nvSpPr>
          <p:cNvPr id="313" name="Google Shape;313;p15"/>
          <p:cNvSpPr/>
          <p:nvPr/>
        </p:nvSpPr>
        <p:spPr>
          <a:xfrm>
            <a:off x="324000" y="3610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Generics allows functions that work in a uniform way for all types.</a:t>
            </a:r>
            <a:endParaRPr b="0" sz="1800" u="none" strike="noStrike">
              <a:solidFill>
                <a:srgbClr val="FFFFFF"/>
              </a:solidFill>
              <a:latin typeface="Arial"/>
              <a:ea typeface="Arial"/>
              <a:cs typeface="Arial"/>
              <a:sym typeface="Arial"/>
            </a:endParaRPr>
          </a:p>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Example: polymorphic identity function.</a:t>
            </a:r>
            <a:endParaRPr b="0" sz="1800" u="none" strike="noStrike">
              <a:solidFill>
                <a:srgbClr val="FFFFFF"/>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318" name="Shape 318"/>
        <p:cNvGrpSpPr/>
        <p:nvPr/>
      </p:nvGrpSpPr>
      <p:grpSpPr>
        <a:xfrm>
          <a:off x="0" y="0"/>
          <a:ext cx="0" cy="0"/>
          <a:chOff x="0" y="0"/>
          <a:chExt cx="0" cy="0"/>
        </a:xfrm>
      </p:grpSpPr>
      <p:sp>
        <p:nvSpPr>
          <p:cNvPr id="319" name="Google Shape;319;p16"/>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320" name="Google Shape;320;p16"/>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321" name="Google Shape;321;p16"/>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322" name="Google Shape;322;p16"/>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323" name="Google Shape;323;p16"/>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324" name="Google Shape;324;p16"/>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325" name="Google Shape;325;p16"/>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326" name="Google Shape;326;p16"/>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327" name="Google Shape;327;p16"/>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328" name="Google Shape;328;p16"/>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329" name="Google Shape;329;p16"/>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Generics</a:t>
            </a:r>
            <a:endParaRPr b="0" sz="4000" u="none" strike="noStrike">
              <a:solidFill>
                <a:srgbClr val="FFFFFF"/>
              </a:solidFill>
              <a:latin typeface="Arial"/>
              <a:ea typeface="Arial"/>
              <a:cs typeface="Arial"/>
              <a:sym typeface="Arial"/>
            </a:endParaRPr>
          </a:p>
        </p:txBody>
      </p:sp>
      <p:sp>
        <p:nvSpPr>
          <p:cNvPr id="330" name="Google Shape;330;p16"/>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id="331" name="Google Shape;331;p16"/>
          <p:cNvPicPr preferRelativeResize="0"/>
          <p:nvPr/>
        </p:nvPicPr>
        <p:blipFill rotWithShape="1">
          <a:blip r:embed="rId6">
            <a:alphaModFix/>
          </a:blip>
          <a:srcRect b="34358" l="12193" r="15302" t="35543"/>
          <a:stretch/>
        </p:blipFill>
        <p:spPr>
          <a:xfrm>
            <a:off x="279000" y="1961280"/>
            <a:ext cx="6627240" cy="1416960"/>
          </a:xfrm>
          <a:prstGeom prst="rect">
            <a:avLst/>
          </a:prstGeom>
          <a:noFill/>
          <a:ln>
            <a:noFill/>
          </a:ln>
        </p:spPr>
      </p:pic>
      <p:sp>
        <p:nvSpPr>
          <p:cNvPr id="332" name="Google Shape;332;p16"/>
          <p:cNvSpPr/>
          <p:nvPr/>
        </p:nvSpPr>
        <p:spPr>
          <a:xfrm>
            <a:off x="324000" y="3610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Generics allows functions that work in a uniform way for all types.</a:t>
            </a:r>
            <a:endParaRPr b="0" sz="1800" u="none" strike="noStrike">
              <a:solidFill>
                <a:srgbClr val="FFFFFF"/>
              </a:solidFill>
              <a:latin typeface="Arial"/>
              <a:ea typeface="Arial"/>
              <a:cs typeface="Arial"/>
              <a:sym typeface="Arial"/>
            </a:endParaRPr>
          </a:p>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Example: polymorphic identity function.</a:t>
            </a:r>
            <a:endParaRPr b="0" sz="1800" u="none" strike="noStrike">
              <a:solidFill>
                <a:srgbClr val="FFFFFF"/>
              </a:solidFill>
              <a:latin typeface="Arial"/>
              <a:ea typeface="Arial"/>
              <a:cs typeface="Arial"/>
              <a:sym typeface="Arial"/>
            </a:endParaRPr>
          </a:p>
        </p:txBody>
      </p:sp>
      <p:sp>
        <p:nvSpPr>
          <p:cNvPr id="333" name="Google Shape;333;p16"/>
          <p:cNvSpPr/>
          <p:nvPr/>
        </p:nvSpPr>
        <p:spPr>
          <a:xfrm>
            <a:off x="3011400" y="1283760"/>
            <a:ext cx="381240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Type variable definition.</a:t>
            </a:r>
            <a:endParaRPr b="0" sz="2200" u="none" strike="noStrike">
              <a:solidFill>
                <a:srgbClr val="FFFFFF"/>
              </a:solidFill>
              <a:latin typeface="Arial"/>
              <a:ea typeface="Arial"/>
              <a:cs typeface="Arial"/>
              <a:sym typeface="Arial"/>
            </a:endParaRPr>
          </a:p>
        </p:txBody>
      </p:sp>
      <p:cxnSp>
        <p:nvCxnSpPr>
          <p:cNvPr id="334" name="Google Shape;334;p16"/>
          <p:cNvCxnSpPr/>
          <p:nvPr/>
        </p:nvCxnSpPr>
        <p:spPr>
          <a:xfrm flipH="1">
            <a:off x="1600200" y="1564200"/>
            <a:ext cx="1371600" cy="685800"/>
          </a:xfrm>
          <a:prstGeom prst="straightConnector1">
            <a:avLst/>
          </a:prstGeom>
          <a:noFill/>
          <a:ln cap="flat" cmpd="sng" w="36700">
            <a:solidFill>
              <a:srgbClr val="FFFFFF"/>
            </a:solidFill>
            <a:prstDash val="solid"/>
            <a:round/>
            <a:headEnd len="sm" w="sm" type="none"/>
            <a:tailEnd len="med" w="med" type="triangle"/>
          </a:ln>
        </p:spPr>
      </p:cxnSp>
      <p:sp>
        <p:nvSpPr>
          <p:cNvPr id="335" name="Google Shape;335;p16"/>
          <p:cNvSpPr/>
          <p:nvPr/>
        </p:nvSpPr>
        <p:spPr>
          <a:xfrm>
            <a:off x="5063400" y="3047760"/>
            <a:ext cx="381240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Parameter type.</a:t>
            </a:r>
            <a:endParaRPr b="0" sz="2200" u="none" strike="noStrike">
              <a:solidFill>
                <a:srgbClr val="FFFFFF"/>
              </a:solidFill>
              <a:latin typeface="Arial"/>
              <a:ea typeface="Arial"/>
              <a:cs typeface="Arial"/>
              <a:sym typeface="Arial"/>
            </a:endParaRPr>
          </a:p>
        </p:txBody>
      </p:sp>
      <p:cxnSp>
        <p:nvCxnSpPr>
          <p:cNvPr id="336" name="Google Shape;336;p16"/>
          <p:cNvCxnSpPr/>
          <p:nvPr/>
        </p:nvCxnSpPr>
        <p:spPr>
          <a:xfrm rot="10800000">
            <a:off x="5545800" y="2550600"/>
            <a:ext cx="914400" cy="685800"/>
          </a:xfrm>
          <a:prstGeom prst="straightConnector1">
            <a:avLst/>
          </a:prstGeom>
          <a:noFill/>
          <a:ln cap="flat" cmpd="sng" w="36700">
            <a:solidFill>
              <a:srgbClr val="FFFFFF"/>
            </a:solidFill>
            <a:prstDash val="solid"/>
            <a:round/>
            <a:headEnd len="sm" w="sm"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341" name="Shape 341"/>
        <p:cNvGrpSpPr/>
        <p:nvPr/>
      </p:nvGrpSpPr>
      <p:grpSpPr>
        <a:xfrm>
          <a:off x="0" y="0"/>
          <a:ext cx="0" cy="0"/>
          <a:chOff x="0" y="0"/>
          <a:chExt cx="0" cy="0"/>
        </a:xfrm>
      </p:grpSpPr>
      <p:sp>
        <p:nvSpPr>
          <p:cNvPr id="342" name="Google Shape;342;p17"/>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343" name="Google Shape;343;p17"/>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344" name="Google Shape;344;p17"/>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345" name="Google Shape;345;p17"/>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346" name="Google Shape;346;p17"/>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347" name="Google Shape;347;p17"/>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348" name="Google Shape;348;p17"/>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349" name="Google Shape;349;p17"/>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350" name="Google Shape;350;p17"/>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351" name="Google Shape;351;p17"/>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352" name="Google Shape;352;p17"/>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Generics</a:t>
            </a:r>
            <a:endParaRPr b="0" sz="4000" u="none" strike="noStrike">
              <a:solidFill>
                <a:srgbClr val="FFFFFF"/>
              </a:solidFill>
              <a:latin typeface="Arial"/>
              <a:ea typeface="Arial"/>
              <a:cs typeface="Arial"/>
              <a:sym typeface="Arial"/>
            </a:endParaRPr>
          </a:p>
        </p:txBody>
      </p:sp>
      <p:sp>
        <p:nvSpPr>
          <p:cNvPr id="353" name="Google Shape;353;p17"/>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id="354" name="Google Shape;354;p17"/>
          <p:cNvPicPr preferRelativeResize="0"/>
          <p:nvPr/>
        </p:nvPicPr>
        <p:blipFill rotWithShape="1">
          <a:blip r:embed="rId6">
            <a:alphaModFix/>
          </a:blip>
          <a:srcRect b="34358" l="12193" r="15302" t="35543"/>
          <a:stretch/>
        </p:blipFill>
        <p:spPr>
          <a:xfrm>
            <a:off x="279000" y="1961280"/>
            <a:ext cx="6627240" cy="1416960"/>
          </a:xfrm>
          <a:prstGeom prst="rect">
            <a:avLst/>
          </a:prstGeom>
          <a:noFill/>
          <a:ln>
            <a:noFill/>
          </a:ln>
        </p:spPr>
      </p:pic>
      <p:sp>
        <p:nvSpPr>
          <p:cNvPr id="355" name="Google Shape;355;p17"/>
          <p:cNvSpPr/>
          <p:nvPr/>
        </p:nvSpPr>
        <p:spPr>
          <a:xfrm>
            <a:off x="324000" y="3610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Generics allows functions that work in a uniform way for all types.</a:t>
            </a:r>
            <a:endParaRPr b="0" sz="1800" u="none" strike="noStrike">
              <a:solidFill>
                <a:srgbClr val="FFFFFF"/>
              </a:solidFill>
              <a:latin typeface="Arial"/>
              <a:ea typeface="Arial"/>
              <a:cs typeface="Arial"/>
              <a:sym typeface="Arial"/>
            </a:endParaRPr>
          </a:p>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Example: polymorphic identity function.</a:t>
            </a:r>
            <a:endParaRPr b="0" sz="1800" u="none" strike="noStrike">
              <a:solidFill>
                <a:srgbClr val="FFFFFF"/>
              </a:solidFill>
              <a:latin typeface="Arial"/>
              <a:ea typeface="Arial"/>
              <a:cs typeface="Arial"/>
              <a:sym typeface="Arial"/>
            </a:endParaRPr>
          </a:p>
        </p:txBody>
      </p:sp>
      <p:sp>
        <p:nvSpPr>
          <p:cNvPr id="356" name="Google Shape;356;p17"/>
          <p:cNvSpPr/>
          <p:nvPr/>
        </p:nvSpPr>
        <p:spPr>
          <a:xfrm>
            <a:off x="3011400" y="1283760"/>
            <a:ext cx="381240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Type variable definition.</a:t>
            </a:r>
            <a:endParaRPr b="0" sz="2200" u="none" strike="noStrike">
              <a:solidFill>
                <a:srgbClr val="FFFFFF"/>
              </a:solidFill>
              <a:latin typeface="Arial"/>
              <a:ea typeface="Arial"/>
              <a:cs typeface="Arial"/>
              <a:sym typeface="Arial"/>
            </a:endParaRPr>
          </a:p>
        </p:txBody>
      </p:sp>
      <p:cxnSp>
        <p:nvCxnSpPr>
          <p:cNvPr id="357" name="Google Shape;357;p17"/>
          <p:cNvCxnSpPr/>
          <p:nvPr/>
        </p:nvCxnSpPr>
        <p:spPr>
          <a:xfrm flipH="1">
            <a:off x="1600200" y="1564200"/>
            <a:ext cx="1371600" cy="685800"/>
          </a:xfrm>
          <a:prstGeom prst="straightConnector1">
            <a:avLst/>
          </a:prstGeom>
          <a:noFill/>
          <a:ln cap="flat" cmpd="sng" w="36700">
            <a:solidFill>
              <a:srgbClr val="FFFFFF"/>
            </a:solidFill>
            <a:prstDash val="solid"/>
            <a:round/>
            <a:headEnd len="sm" w="sm" type="none"/>
            <a:tailEnd len="med" w="med" type="triangle"/>
          </a:ln>
        </p:spPr>
      </p:cxnSp>
      <p:sp>
        <p:nvSpPr>
          <p:cNvPr id="358" name="Google Shape;358;p17"/>
          <p:cNvSpPr/>
          <p:nvPr/>
        </p:nvSpPr>
        <p:spPr>
          <a:xfrm>
            <a:off x="2651400" y="2903760"/>
            <a:ext cx="381240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Function return type.</a:t>
            </a:r>
            <a:endParaRPr b="0" sz="2200" u="none" strike="noStrike">
              <a:solidFill>
                <a:srgbClr val="FFFFFF"/>
              </a:solidFill>
              <a:latin typeface="Arial"/>
              <a:ea typeface="Arial"/>
              <a:cs typeface="Arial"/>
              <a:sym typeface="Arial"/>
            </a:endParaRPr>
          </a:p>
        </p:txBody>
      </p:sp>
      <p:cxnSp>
        <p:nvCxnSpPr>
          <p:cNvPr id="359" name="Google Shape;359;p17"/>
          <p:cNvCxnSpPr/>
          <p:nvPr/>
        </p:nvCxnSpPr>
        <p:spPr>
          <a:xfrm flipH="1" rot="10800000">
            <a:off x="5943600" y="2514600"/>
            <a:ext cx="457200" cy="685800"/>
          </a:xfrm>
          <a:prstGeom prst="straightConnector1">
            <a:avLst/>
          </a:prstGeom>
          <a:noFill/>
          <a:ln cap="flat" cmpd="sng" w="36700">
            <a:solidFill>
              <a:srgbClr val="FFFFFF"/>
            </a:solidFill>
            <a:prstDash val="solid"/>
            <a:round/>
            <a:headEnd len="sm" w="sm"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364" name="Shape 364"/>
        <p:cNvGrpSpPr/>
        <p:nvPr/>
      </p:nvGrpSpPr>
      <p:grpSpPr>
        <a:xfrm>
          <a:off x="0" y="0"/>
          <a:ext cx="0" cy="0"/>
          <a:chOff x="0" y="0"/>
          <a:chExt cx="0" cy="0"/>
        </a:xfrm>
      </p:grpSpPr>
      <p:sp>
        <p:nvSpPr>
          <p:cNvPr id="365" name="Google Shape;365;p19"/>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366" name="Google Shape;366;p19"/>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367" name="Google Shape;367;p19"/>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368" name="Google Shape;368;p19"/>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369" name="Google Shape;369;p19"/>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370" name="Google Shape;370;p19"/>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371" name="Google Shape;371;p19"/>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372" name="Google Shape;372;p19"/>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373" name="Google Shape;373;p19"/>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374" name="Google Shape;374;p19"/>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375" name="Google Shape;375;p19"/>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Generics</a:t>
            </a:r>
            <a:endParaRPr b="0" sz="4000" u="none" strike="noStrike">
              <a:solidFill>
                <a:srgbClr val="FFFFFF"/>
              </a:solidFill>
              <a:latin typeface="Arial"/>
              <a:ea typeface="Arial"/>
              <a:cs typeface="Arial"/>
              <a:sym typeface="Arial"/>
            </a:endParaRPr>
          </a:p>
        </p:txBody>
      </p:sp>
      <p:sp>
        <p:nvSpPr>
          <p:cNvPr id="376" name="Google Shape;376;p19"/>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77" name="Google Shape;377;p19"/>
          <p:cNvSpPr/>
          <p:nvPr/>
        </p:nvSpPr>
        <p:spPr>
          <a:xfrm>
            <a:off x="324000" y="3358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Core supports the definition of generic types</a:t>
            </a:r>
            <a:endParaRPr b="0" sz="1800" u="none" strike="noStrike">
              <a:solidFill>
                <a:srgbClr val="FFFFFF"/>
              </a:solidFill>
              <a:latin typeface="Arial"/>
              <a:ea typeface="Arial"/>
              <a:cs typeface="Arial"/>
              <a:sym typeface="Arial"/>
            </a:endParaRPr>
          </a:p>
          <a:p>
            <a:pPr indent="-216000" lvl="1" marL="432000" marR="0" rtl="0" algn="l">
              <a:lnSpc>
                <a:spcPct val="109444"/>
              </a:lnSpc>
              <a:spcBef>
                <a:spcPts val="0"/>
              </a:spcBef>
              <a:spcAft>
                <a:spcPts val="0"/>
              </a:spcAft>
              <a:buClr>
                <a:srgbClr val="FFFFFF"/>
              </a:buClr>
              <a:buSzPts val="810"/>
              <a:buFont typeface="Noto Sans Symbols"/>
              <a:buChar char="●"/>
            </a:pPr>
            <a:r>
              <a:rPr b="0" i="0" lang="en-US" sz="1800" u="none" cap="none" strike="noStrike">
                <a:solidFill>
                  <a:srgbClr val="F8F8FF"/>
                </a:solidFill>
                <a:latin typeface="Overpass"/>
                <a:ea typeface="Overpass"/>
                <a:cs typeface="Overpass"/>
                <a:sym typeface="Overpass"/>
              </a:rPr>
              <a:t>Type parameter for the payload used in Err constructor</a:t>
            </a:r>
            <a:endParaRPr b="0" i="0" sz="1800" u="none" cap="none" strike="noStrike">
              <a:solidFill>
                <a:srgbClr val="FFFFFF"/>
              </a:solidFill>
              <a:latin typeface="Arial"/>
              <a:ea typeface="Arial"/>
              <a:cs typeface="Arial"/>
              <a:sym typeface="Arial"/>
            </a:endParaRPr>
          </a:p>
        </p:txBody>
      </p:sp>
      <p:pic>
        <p:nvPicPr>
          <p:cNvPr id="378" name="Google Shape;378;p19"/>
          <p:cNvPicPr preferRelativeResize="0"/>
          <p:nvPr/>
        </p:nvPicPr>
        <p:blipFill rotWithShape="1">
          <a:blip r:embed="rId6">
            <a:alphaModFix/>
          </a:blip>
          <a:srcRect b="34310" l="16214" r="16945" t="42770"/>
          <a:stretch/>
        </p:blipFill>
        <p:spPr>
          <a:xfrm>
            <a:off x="365400" y="1708200"/>
            <a:ext cx="5027760" cy="91296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383" name="Shape 383"/>
        <p:cNvGrpSpPr/>
        <p:nvPr/>
      </p:nvGrpSpPr>
      <p:grpSpPr>
        <a:xfrm>
          <a:off x="0" y="0"/>
          <a:ext cx="0" cy="0"/>
          <a:chOff x="0" y="0"/>
          <a:chExt cx="0" cy="0"/>
        </a:xfrm>
      </p:grpSpPr>
      <p:sp>
        <p:nvSpPr>
          <p:cNvPr id="384" name="Google Shape;384;p20"/>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385" name="Google Shape;385;p20"/>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386" name="Google Shape;386;p20"/>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387" name="Google Shape;387;p20"/>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388" name="Google Shape;388;p20"/>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389" name="Google Shape;389;p20"/>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390" name="Google Shape;390;p20"/>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391" name="Google Shape;391;p20"/>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392" name="Google Shape;392;p20"/>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393" name="Google Shape;393;p20"/>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394" name="Google Shape;394;p20"/>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Generics</a:t>
            </a:r>
            <a:endParaRPr b="0" sz="4000" u="none" strike="noStrike">
              <a:solidFill>
                <a:srgbClr val="FFFFFF"/>
              </a:solidFill>
              <a:latin typeface="Arial"/>
              <a:ea typeface="Arial"/>
              <a:cs typeface="Arial"/>
              <a:sym typeface="Arial"/>
            </a:endParaRPr>
          </a:p>
        </p:txBody>
      </p:sp>
      <p:sp>
        <p:nvSpPr>
          <p:cNvPr id="395" name="Google Shape;395;p20"/>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96" name="Google Shape;396;p20"/>
          <p:cNvSpPr/>
          <p:nvPr/>
        </p:nvSpPr>
        <p:spPr>
          <a:xfrm>
            <a:off x="324000" y="3358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Core supports the definition of generic types</a:t>
            </a:r>
            <a:endParaRPr b="0" sz="1800" u="none" strike="noStrike">
              <a:solidFill>
                <a:srgbClr val="FFFFFF"/>
              </a:solidFill>
              <a:latin typeface="Arial"/>
              <a:ea typeface="Arial"/>
              <a:cs typeface="Arial"/>
              <a:sym typeface="Arial"/>
            </a:endParaRPr>
          </a:p>
          <a:p>
            <a:pPr indent="-216000" lvl="1" marL="432000" marR="0" rtl="0" algn="l">
              <a:lnSpc>
                <a:spcPct val="109444"/>
              </a:lnSpc>
              <a:spcBef>
                <a:spcPts val="0"/>
              </a:spcBef>
              <a:spcAft>
                <a:spcPts val="0"/>
              </a:spcAft>
              <a:buClr>
                <a:srgbClr val="FFFFFF"/>
              </a:buClr>
              <a:buSzPts val="810"/>
              <a:buFont typeface="Noto Sans Symbols"/>
              <a:buChar char="●"/>
            </a:pPr>
            <a:r>
              <a:rPr b="0" i="0" lang="en-US" sz="1800" u="none" cap="none" strike="noStrike">
                <a:solidFill>
                  <a:srgbClr val="F8F8FF"/>
                </a:solidFill>
                <a:latin typeface="Overpass"/>
                <a:ea typeface="Overpass"/>
                <a:cs typeface="Overpass"/>
                <a:sym typeface="Overpass"/>
              </a:rPr>
              <a:t>Type parameter for the payload used in Err constructor</a:t>
            </a:r>
            <a:endParaRPr b="0" i="0" sz="1800" u="none" cap="none" strike="noStrike">
              <a:solidFill>
                <a:srgbClr val="FFFFFF"/>
              </a:solidFill>
              <a:latin typeface="Arial"/>
              <a:ea typeface="Arial"/>
              <a:cs typeface="Arial"/>
              <a:sym typeface="Arial"/>
            </a:endParaRPr>
          </a:p>
        </p:txBody>
      </p:sp>
      <p:pic>
        <p:nvPicPr>
          <p:cNvPr id="397" name="Google Shape;397;p20"/>
          <p:cNvPicPr preferRelativeResize="0"/>
          <p:nvPr/>
        </p:nvPicPr>
        <p:blipFill rotWithShape="1">
          <a:blip r:embed="rId6">
            <a:alphaModFix/>
          </a:blip>
          <a:srcRect b="34310" l="16214" r="16945" t="42770"/>
          <a:stretch/>
        </p:blipFill>
        <p:spPr>
          <a:xfrm>
            <a:off x="365400" y="1708200"/>
            <a:ext cx="5027760" cy="912960"/>
          </a:xfrm>
          <a:prstGeom prst="rect">
            <a:avLst/>
          </a:prstGeom>
          <a:noFill/>
          <a:ln>
            <a:noFill/>
          </a:ln>
        </p:spPr>
      </p:pic>
      <p:sp>
        <p:nvSpPr>
          <p:cNvPr id="398" name="Google Shape;398;p20"/>
          <p:cNvSpPr/>
          <p:nvPr/>
        </p:nvSpPr>
        <p:spPr>
          <a:xfrm>
            <a:off x="3515400" y="816120"/>
            <a:ext cx="426636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Type parameter definition</a:t>
            </a:r>
            <a:endParaRPr b="0" sz="2200" u="none" strike="noStrike">
              <a:solidFill>
                <a:srgbClr val="FFFFFF"/>
              </a:solidFill>
              <a:latin typeface="Arial"/>
              <a:ea typeface="Arial"/>
              <a:cs typeface="Arial"/>
              <a:sym typeface="Arial"/>
            </a:endParaRPr>
          </a:p>
        </p:txBody>
      </p:sp>
      <p:cxnSp>
        <p:nvCxnSpPr>
          <p:cNvPr id="399" name="Google Shape;399;p20"/>
          <p:cNvCxnSpPr/>
          <p:nvPr/>
        </p:nvCxnSpPr>
        <p:spPr>
          <a:xfrm flipH="1">
            <a:off x="2514600" y="1143000"/>
            <a:ext cx="1000800" cy="914400"/>
          </a:xfrm>
          <a:prstGeom prst="straightConnector1">
            <a:avLst/>
          </a:prstGeom>
          <a:noFill/>
          <a:ln cap="flat" cmpd="sng" w="36700">
            <a:solidFill>
              <a:srgbClr val="FFFFFF"/>
            </a:solidFill>
            <a:prstDash val="solid"/>
            <a:round/>
            <a:headEnd len="sm" w="sm"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404" name="Shape 404"/>
        <p:cNvGrpSpPr/>
        <p:nvPr/>
      </p:nvGrpSpPr>
      <p:grpSpPr>
        <a:xfrm>
          <a:off x="0" y="0"/>
          <a:ext cx="0" cy="0"/>
          <a:chOff x="0" y="0"/>
          <a:chExt cx="0" cy="0"/>
        </a:xfrm>
      </p:grpSpPr>
      <p:sp>
        <p:nvSpPr>
          <p:cNvPr id="405" name="Google Shape;405;p21"/>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406" name="Google Shape;406;p21"/>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407" name="Google Shape;407;p21"/>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408" name="Google Shape;408;p21"/>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409" name="Google Shape;409;p21"/>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410" name="Google Shape;410;p21"/>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411" name="Google Shape;411;p21"/>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412" name="Google Shape;412;p21"/>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413" name="Google Shape;413;p21"/>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414" name="Google Shape;414;p21"/>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415" name="Google Shape;415;p21"/>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Generics</a:t>
            </a:r>
            <a:endParaRPr b="0" sz="4000" u="none" strike="noStrike">
              <a:solidFill>
                <a:srgbClr val="FFFFFF"/>
              </a:solidFill>
              <a:latin typeface="Arial"/>
              <a:ea typeface="Arial"/>
              <a:cs typeface="Arial"/>
              <a:sym typeface="Arial"/>
            </a:endParaRPr>
          </a:p>
        </p:txBody>
      </p:sp>
      <p:sp>
        <p:nvSpPr>
          <p:cNvPr id="416" name="Google Shape;416;p21"/>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17" name="Google Shape;417;p21"/>
          <p:cNvSpPr/>
          <p:nvPr/>
        </p:nvSpPr>
        <p:spPr>
          <a:xfrm>
            <a:off x="324000" y="3358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Core supports the definition of generic types</a:t>
            </a:r>
            <a:endParaRPr b="0" sz="1800" u="none" strike="noStrike">
              <a:solidFill>
                <a:srgbClr val="FFFFFF"/>
              </a:solidFill>
              <a:latin typeface="Arial"/>
              <a:ea typeface="Arial"/>
              <a:cs typeface="Arial"/>
              <a:sym typeface="Arial"/>
            </a:endParaRPr>
          </a:p>
          <a:p>
            <a:pPr indent="-216000" lvl="1" marL="432000" marR="0" rtl="0" algn="l">
              <a:lnSpc>
                <a:spcPct val="109444"/>
              </a:lnSpc>
              <a:spcBef>
                <a:spcPts val="0"/>
              </a:spcBef>
              <a:spcAft>
                <a:spcPts val="0"/>
              </a:spcAft>
              <a:buClr>
                <a:srgbClr val="FFFFFF"/>
              </a:buClr>
              <a:buSzPts val="810"/>
              <a:buFont typeface="Noto Sans Symbols"/>
              <a:buChar char="●"/>
            </a:pPr>
            <a:r>
              <a:rPr b="0" i="0" lang="en-US" sz="1800" u="none" cap="none" strike="noStrike">
                <a:solidFill>
                  <a:srgbClr val="F8F8FF"/>
                </a:solidFill>
                <a:latin typeface="Overpass"/>
                <a:ea typeface="Overpass"/>
                <a:cs typeface="Overpass"/>
                <a:sym typeface="Overpass"/>
              </a:rPr>
              <a:t>Type parameter for the payload used in Err constructor</a:t>
            </a:r>
            <a:endParaRPr b="0" i="0" sz="1800" u="none" cap="none" strike="noStrike">
              <a:solidFill>
                <a:srgbClr val="FFFFFF"/>
              </a:solidFill>
              <a:latin typeface="Arial"/>
              <a:ea typeface="Arial"/>
              <a:cs typeface="Arial"/>
              <a:sym typeface="Arial"/>
            </a:endParaRPr>
          </a:p>
        </p:txBody>
      </p:sp>
      <p:pic>
        <p:nvPicPr>
          <p:cNvPr id="418" name="Google Shape;418;p21"/>
          <p:cNvPicPr preferRelativeResize="0"/>
          <p:nvPr/>
        </p:nvPicPr>
        <p:blipFill rotWithShape="1">
          <a:blip r:embed="rId6">
            <a:alphaModFix/>
          </a:blip>
          <a:srcRect b="34310" l="16214" r="16945" t="42770"/>
          <a:stretch/>
        </p:blipFill>
        <p:spPr>
          <a:xfrm>
            <a:off x="365400" y="1708200"/>
            <a:ext cx="5027760" cy="912960"/>
          </a:xfrm>
          <a:prstGeom prst="rect">
            <a:avLst/>
          </a:prstGeom>
          <a:noFill/>
          <a:ln>
            <a:noFill/>
          </a:ln>
        </p:spPr>
      </p:pic>
      <p:sp>
        <p:nvSpPr>
          <p:cNvPr id="419" name="Google Shape;419;p21"/>
          <p:cNvSpPr/>
          <p:nvPr/>
        </p:nvSpPr>
        <p:spPr>
          <a:xfrm>
            <a:off x="3515400" y="816120"/>
            <a:ext cx="426636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Type parameter use</a:t>
            </a:r>
            <a:endParaRPr b="0" sz="2200" u="none" strike="noStrike">
              <a:solidFill>
                <a:srgbClr val="FFFFFF"/>
              </a:solidFill>
              <a:latin typeface="Arial"/>
              <a:ea typeface="Arial"/>
              <a:cs typeface="Arial"/>
              <a:sym typeface="Arial"/>
            </a:endParaRPr>
          </a:p>
        </p:txBody>
      </p:sp>
      <p:cxnSp>
        <p:nvCxnSpPr>
          <p:cNvPr id="420" name="Google Shape;420;p21"/>
          <p:cNvCxnSpPr/>
          <p:nvPr/>
        </p:nvCxnSpPr>
        <p:spPr>
          <a:xfrm>
            <a:off x="4572000" y="1371600"/>
            <a:ext cx="228600" cy="685800"/>
          </a:xfrm>
          <a:prstGeom prst="straightConnector1">
            <a:avLst/>
          </a:prstGeom>
          <a:noFill/>
          <a:ln cap="flat" cmpd="sng" w="36700">
            <a:solidFill>
              <a:srgbClr val="FFFFFF"/>
            </a:solidFill>
            <a:prstDash val="solid"/>
            <a:round/>
            <a:headEnd len="sm" w="sm"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425" name="Shape 425"/>
        <p:cNvGrpSpPr/>
        <p:nvPr/>
      </p:nvGrpSpPr>
      <p:grpSpPr>
        <a:xfrm>
          <a:off x="0" y="0"/>
          <a:ext cx="0" cy="0"/>
          <a:chOff x="0" y="0"/>
          <a:chExt cx="0" cy="0"/>
        </a:xfrm>
      </p:grpSpPr>
      <p:cxnSp>
        <p:nvCxnSpPr>
          <p:cNvPr id="426" name="Google Shape;426;p22"/>
          <p:cNvCxnSpPr/>
          <p:nvPr/>
        </p:nvCxnSpPr>
        <p:spPr>
          <a:xfrm>
            <a:off x="4572000" y="0"/>
            <a:ext cx="360" cy="5143320"/>
          </a:xfrm>
          <a:prstGeom prst="straightConnector1">
            <a:avLst/>
          </a:prstGeom>
          <a:noFill/>
          <a:ln cap="flat" cmpd="sng" w="12700">
            <a:solidFill>
              <a:srgbClr val="2B247C">
                <a:alpha val="20000"/>
              </a:srgbClr>
            </a:solidFill>
            <a:prstDash val="solid"/>
            <a:round/>
            <a:headEnd len="sm" w="sm" type="none"/>
            <a:tailEnd len="sm" w="sm" type="none"/>
          </a:ln>
        </p:spPr>
      </p:cxnSp>
      <p:cxnSp>
        <p:nvCxnSpPr>
          <p:cNvPr id="427" name="Google Shape;427;p22"/>
          <p:cNvCxnSpPr/>
          <p:nvPr/>
        </p:nvCxnSpPr>
        <p:spPr>
          <a:xfrm>
            <a:off x="4572000" y="0"/>
            <a:ext cx="360" cy="5143320"/>
          </a:xfrm>
          <a:prstGeom prst="straightConnector1">
            <a:avLst/>
          </a:prstGeom>
          <a:noFill/>
          <a:ln cap="flat" cmpd="sng" w="12700">
            <a:solidFill>
              <a:srgbClr val="D2D2FF">
                <a:alpha val="20000"/>
              </a:srgbClr>
            </a:solidFill>
            <a:prstDash val="solid"/>
            <a:round/>
            <a:headEnd len="sm" w="sm" type="none"/>
            <a:tailEnd len="sm" w="sm" type="none"/>
          </a:ln>
        </p:spPr>
      </p:cxnSp>
      <p:sp>
        <p:nvSpPr>
          <p:cNvPr id="428" name="Google Shape;428;p22"/>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429" name="Google Shape;429;p22"/>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430" name="Google Shape;430;p22"/>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431" name="Google Shape;431;p22"/>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432" name="Google Shape;432;p22"/>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433" name="Google Shape;433;p22"/>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434" name="Google Shape;434;p22"/>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435" name="Google Shape;435;p22"/>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436" name="Google Shape;436;p22"/>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437" name="Google Shape;437;p22"/>
          <p:cNvSpPr/>
          <p:nvPr/>
        </p:nvSpPr>
        <p:spPr>
          <a:xfrm>
            <a:off x="476280" y="380880"/>
            <a:ext cx="388188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8F8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438" name="Google Shape;438;p22"/>
          <p:cNvSpPr/>
          <p:nvPr/>
        </p:nvSpPr>
        <p:spPr>
          <a:xfrm>
            <a:off x="-228600" y="1781280"/>
            <a:ext cx="4797720" cy="1576800"/>
          </a:xfrm>
          <a:prstGeom prst="rect">
            <a:avLst/>
          </a:prstGeom>
          <a:noFill/>
          <a:ln>
            <a:noFill/>
          </a:ln>
        </p:spPr>
        <p:txBody>
          <a:bodyPr anchorCtr="0" anchor="ctr" bIns="45000" lIns="90000" spcFirstLastPara="1" rIns="90000" wrap="square" tIns="45000">
            <a:noAutofit/>
          </a:bodyPr>
          <a:lstStyle/>
          <a:p>
            <a:pPr indent="0" lvl="0" marL="0" marR="0" rtl="0" algn="ctr">
              <a:lnSpc>
                <a:spcPct val="78025"/>
              </a:lnSpc>
              <a:spcBef>
                <a:spcPts val="0"/>
              </a:spcBef>
              <a:spcAft>
                <a:spcPts val="0"/>
              </a:spcAft>
              <a:buNone/>
            </a:pPr>
            <a:r>
              <a:rPr b="0" lang="en-US" sz="4000" u="none" strike="noStrike">
                <a:solidFill>
                  <a:srgbClr val="FFFFFF"/>
                </a:solidFill>
                <a:latin typeface="Overpass Mono"/>
                <a:ea typeface="Overpass Mono"/>
                <a:cs typeface="Overpass Mono"/>
                <a:sym typeface="Overpass Mono"/>
              </a:rPr>
              <a:t>Generics and </a:t>
            </a:r>
            <a:endParaRPr b="0" sz="4000" u="none" strike="noStrike">
              <a:solidFill>
                <a:srgbClr val="FFFFFF"/>
              </a:solidFill>
              <a:latin typeface="Arial"/>
              <a:ea typeface="Arial"/>
              <a:cs typeface="Arial"/>
              <a:sym typeface="Arial"/>
            </a:endParaRPr>
          </a:p>
          <a:p>
            <a:pPr indent="0" lvl="0" marL="0" marR="0" rtl="0" algn="ctr">
              <a:lnSpc>
                <a:spcPct val="78025"/>
              </a:lnSpc>
              <a:spcBef>
                <a:spcPts val="0"/>
              </a:spcBef>
              <a:spcAft>
                <a:spcPts val="0"/>
              </a:spcAft>
              <a:buNone/>
            </a:pPr>
            <a:r>
              <a:rPr b="0" lang="en-US" sz="4000" u="none" strike="noStrike">
                <a:solidFill>
                  <a:srgbClr val="FFFFFF"/>
                </a:solidFill>
                <a:latin typeface="Overpass Mono"/>
                <a:ea typeface="Overpass Mono"/>
                <a:cs typeface="Overpass Mono"/>
                <a:sym typeface="Overpass Mono"/>
              </a:rPr>
              <a:t>Type classes</a:t>
            </a:r>
            <a:endParaRPr b="0" sz="4000" u="none" strike="noStrike">
              <a:solidFill>
                <a:srgbClr val="FFFFFF"/>
              </a:solidFill>
              <a:latin typeface="Arial"/>
              <a:ea typeface="Arial"/>
              <a:cs typeface="Arial"/>
              <a:sym typeface="Arial"/>
            </a:endParaRPr>
          </a:p>
        </p:txBody>
      </p:sp>
      <p:sp>
        <p:nvSpPr>
          <p:cNvPr id="439" name="Google Shape;439;p22"/>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343080" lvl="0" marL="343080" marR="0" rtl="0" algn="l">
              <a:lnSpc>
                <a:spcPct val="124683"/>
              </a:lnSpc>
              <a:spcBef>
                <a:spcPts val="0"/>
              </a:spcBef>
              <a:spcAft>
                <a:spcPts val="0"/>
              </a:spcAft>
              <a:buClr>
                <a:srgbClr val="F8F8FF"/>
              </a:buClr>
              <a:buSzPts val="1580"/>
              <a:buFont typeface="Calibri"/>
              <a:buAutoNum type="arabicPeriod"/>
            </a:pPr>
            <a:r>
              <a:rPr b="0" lang="en-US" sz="1580" u="none" strike="noStrike">
                <a:solidFill>
                  <a:srgbClr val="F8F8FF"/>
                </a:solidFill>
                <a:latin typeface="Overpass"/>
                <a:ea typeface="Overpass"/>
                <a:cs typeface="Overpass"/>
                <a:sym typeface="Overpass"/>
              </a:rPr>
              <a:t>Generics are a bit limited.</a:t>
            </a:r>
            <a:endParaRPr b="0" sz="1580" u="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Few functionality works </a:t>
            </a:r>
            <a:r>
              <a:rPr b="1" i="0" lang="en-US" sz="1580" u="none" cap="none" strike="noStrike">
                <a:solidFill>
                  <a:srgbClr val="F8F8FF"/>
                </a:solidFill>
                <a:latin typeface="Overpass"/>
                <a:ea typeface="Overpass"/>
                <a:cs typeface="Overpass"/>
                <a:sym typeface="Overpass"/>
              </a:rPr>
              <a:t>for all</a:t>
            </a:r>
            <a:r>
              <a:rPr b="0" i="0" lang="en-US" sz="1580" u="none" cap="none" strike="noStrike">
                <a:solidFill>
                  <a:srgbClr val="F8F8FF"/>
                </a:solidFill>
                <a:latin typeface="Overpass"/>
                <a:ea typeface="Overpass"/>
                <a:cs typeface="Overpass"/>
                <a:sym typeface="Overpass"/>
              </a:rPr>
              <a:t> types.</a:t>
            </a:r>
            <a:endParaRPr b="0" i="0" sz="1580" u="none" cap="none" strike="noStrike">
              <a:solidFill>
                <a:srgbClr val="FFFFFF"/>
              </a:solidFill>
              <a:latin typeface="Arial"/>
              <a:ea typeface="Arial"/>
              <a:cs typeface="Arial"/>
              <a:sym typeface="Arial"/>
            </a:endParaRPr>
          </a:p>
          <a:p>
            <a:pPr indent="0" lvl="0" marL="0" marR="0" rtl="0" algn="l">
              <a:lnSpc>
                <a:spcPct val="124683"/>
              </a:lnSpc>
              <a:spcBef>
                <a:spcPts val="0"/>
              </a:spcBef>
              <a:spcAft>
                <a:spcPts val="0"/>
              </a:spcAft>
              <a:buNone/>
            </a:pPr>
            <a:r>
              <a:t/>
            </a:r>
            <a:endParaRPr b="0" sz="1580" u="none" strike="noStrike">
              <a:solidFill>
                <a:srgbClr val="FFFFFF"/>
              </a:solidFill>
              <a:latin typeface="Arial"/>
              <a:ea typeface="Arial"/>
              <a:cs typeface="Arial"/>
              <a:sym typeface="Arial"/>
            </a:endParaRPr>
          </a:p>
          <a:p>
            <a:pPr indent="-343080" lvl="0" marL="343080" marR="0" rtl="0" algn="l">
              <a:lnSpc>
                <a:spcPct val="124683"/>
              </a:lnSpc>
              <a:spcBef>
                <a:spcPts val="0"/>
              </a:spcBef>
              <a:spcAft>
                <a:spcPts val="0"/>
              </a:spcAft>
              <a:buClr>
                <a:srgbClr val="F8F8FF"/>
              </a:buClr>
              <a:buSzPts val="1580"/>
              <a:buFont typeface="Calibri"/>
              <a:buAutoNum type="arabicPeriod"/>
            </a:pPr>
            <a:r>
              <a:rPr b="0" lang="en-US" sz="1580" u="none" strike="noStrike">
                <a:solidFill>
                  <a:srgbClr val="F8F8FF"/>
                </a:solidFill>
                <a:latin typeface="Overpass"/>
                <a:ea typeface="Overpass"/>
                <a:cs typeface="Overpass"/>
                <a:sym typeface="Overpass"/>
              </a:rPr>
              <a:t>We need functionality which works for </a:t>
            </a:r>
            <a:r>
              <a:rPr b="1" lang="en-US" sz="1580" u="none" strike="noStrike">
                <a:solidFill>
                  <a:srgbClr val="F8F8FF"/>
                </a:solidFill>
                <a:latin typeface="Overpass"/>
                <a:ea typeface="Overpass"/>
                <a:cs typeface="Overpass"/>
                <a:sym typeface="Overpass"/>
              </a:rPr>
              <a:t>some</a:t>
            </a:r>
            <a:r>
              <a:rPr b="0" lang="en-US" sz="1580" u="none" strike="noStrike">
                <a:solidFill>
                  <a:srgbClr val="F8F8FF"/>
                </a:solidFill>
                <a:latin typeface="Overpass"/>
                <a:ea typeface="Overpass"/>
                <a:cs typeface="Overpass"/>
                <a:sym typeface="Overpass"/>
              </a:rPr>
              <a:t> types.</a:t>
            </a:r>
            <a:endParaRPr b="0" sz="1580" u="none" strike="noStrike">
              <a:solidFill>
                <a:srgbClr val="FFFFFF"/>
              </a:solidFill>
              <a:latin typeface="Arial"/>
              <a:ea typeface="Arial"/>
              <a:cs typeface="Arial"/>
              <a:sym typeface="Arial"/>
            </a:endParaRPr>
          </a:p>
          <a:p>
            <a:pPr indent="0" lvl="0" marL="0" marR="0" rtl="0" algn="l">
              <a:lnSpc>
                <a:spcPct val="124683"/>
              </a:lnSpc>
              <a:spcBef>
                <a:spcPts val="0"/>
              </a:spcBef>
              <a:spcAft>
                <a:spcPts val="0"/>
              </a:spcAft>
              <a:buNone/>
            </a:pPr>
            <a:r>
              <a:t/>
            </a:r>
            <a:endParaRPr b="0" sz="1580" u="none" strike="noStrike">
              <a:solidFill>
                <a:srgbClr val="FFFFFF"/>
              </a:solidFill>
              <a:latin typeface="Arial"/>
              <a:ea typeface="Arial"/>
              <a:cs typeface="Arial"/>
              <a:sym typeface="Arial"/>
            </a:endParaRPr>
          </a:p>
          <a:p>
            <a:pPr indent="-343080" lvl="0" marL="343080" marR="0" rtl="0" algn="l">
              <a:lnSpc>
                <a:spcPct val="124683"/>
              </a:lnSpc>
              <a:spcBef>
                <a:spcPts val="0"/>
              </a:spcBef>
              <a:spcAft>
                <a:spcPts val="0"/>
              </a:spcAft>
              <a:buClr>
                <a:srgbClr val="F8F8FF"/>
              </a:buClr>
              <a:buSzPts val="1580"/>
              <a:buFont typeface="Calibri"/>
              <a:buAutoNum type="arabicPeriod"/>
            </a:pPr>
            <a:r>
              <a:rPr b="0" lang="en-US" sz="1580" u="none" strike="noStrike">
                <a:solidFill>
                  <a:srgbClr val="F8F8FF"/>
                </a:solidFill>
                <a:latin typeface="Overpass"/>
                <a:ea typeface="Overpass"/>
                <a:cs typeface="Overpass"/>
                <a:sym typeface="Overpass"/>
              </a:rPr>
              <a:t>Type classes are the solution!</a:t>
            </a:r>
            <a:endParaRPr b="0" sz="1580" u="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Allow the systematic combination of generics and overloading.</a:t>
            </a:r>
            <a:endParaRPr b="0" i="0" sz="1580" u="none" cap="none" strike="noStrike">
              <a:solidFill>
                <a:srgbClr val="FFFFFF"/>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444" name="Shape 444"/>
        <p:cNvGrpSpPr/>
        <p:nvPr/>
      </p:nvGrpSpPr>
      <p:grpSpPr>
        <a:xfrm>
          <a:off x="0" y="0"/>
          <a:ext cx="0" cy="0"/>
          <a:chOff x="0" y="0"/>
          <a:chExt cx="0" cy="0"/>
        </a:xfrm>
      </p:grpSpPr>
      <p:sp>
        <p:nvSpPr>
          <p:cNvPr id="445" name="Google Shape;445;p23"/>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446" name="Google Shape;446;p23"/>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447" name="Google Shape;447;p23"/>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448" name="Google Shape;448;p23"/>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449" name="Google Shape;449;p23"/>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450" name="Google Shape;450;p23"/>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451" name="Google Shape;451;p23"/>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452" name="Google Shape;452;p23"/>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453" name="Google Shape;453;p23"/>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454" name="Google Shape;454;p23"/>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455" name="Google Shape;455;p23"/>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Type classes</a:t>
            </a:r>
            <a:endParaRPr b="0" sz="4000" u="none" strike="noStrike">
              <a:solidFill>
                <a:srgbClr val="FFFFFF"/>
              </a:solidFill>
              <a:latin typeface="Arial"/>
              <a:ea typeface="Arial"/>
              <a:cs typeface="Arial"/>
              <a:sym typeface="Arial"/>
            </a:endParaRPr>
          </a:p>
        </p:txBody>
      </p:sp>
      <p:sp>
        <p:nvSpPr>
          <p:cNvPr id="456" name="Google Shape;456;p23"/>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57" name="Google Shape;457;p23"/>
          <p:cNvSpPr/>
          <p:nvPr/>
        </p:nvSpPr>
        <p:spPr>
          <a:xfrm>
            <a:off x="324000" y="3358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Type classes define a set of operations with their types.</a:t>
            </a:r>
            <a:endParaRPr b="0" sz="1800" u="none" strike="noStrike">
              <a:solidFill>
                <a:srgbClr val="FFFFFF"/>
              </a:solidFill>
              <a:latin typeface="Arial"/>
              <a:ea typeface="Arial"/>
              <a:cs typeface="Arial"/>
              <a:sym typeface="Arial"/>
            </a:endParaRPr>
          </a:p>
          <a:p>
            <a:pPr indent="-216000" lvl="1" marL="432000" marR="0" rtl="0" algn="l">
              <a:lnSpc>
                <a:spcPct val="109444"/>
              </a:lnSpc>
              <a:spcBef>
                <a:spcPts val="0"/>
              </a:spcBef>
              <a:spcAft>
                <a:spcPts val="0"/>
              </a:spcAft>
              <a:buClr>
                <a:srgbClr val="FFFFFF"/>
              </a:buClr>
              <a:buSzPts val="810"/>
              <a:buFont typeface="Noto Sans Symbols"/>
              <a:buChar char="●"/>
            </a:pPr>
            <a:r>
              <a:rPr b="0" i="0" lang="en-US" sz="1800" u="none" cap="none" strike="noStrike">
                <a:solidFill>
                  <a:srgbClr val="F8F8FF"/>
                </a:solidFill>
                <a:latin typeface="Overpass"/>
                <a:ea typeface="Overpass"/>
                <a:cs typeface="Overpass"/>
                <a:sym typeface="Overpass"/>
              </a:rPr>
              <a:t>Example: class for defining a multiplication operation</a:t>
            </a:r>
            <a:endParaRPr b="0" i="0" sz="1800" u="none" cap="none" strike="noStrike">
              <a:solidFill>
                <a:srgbClr val="FFFFFF"/>
              </a:solidFill>
              <a:latin typeface="Arial"/>
              <a:ea typeface="Arial"/>
              <a:cs typeface="Arial"/>
              <a:sym typeface="Arial"/>
            </a:endParaRPr>
          </a:p>
        </p:txBody>
      </p:sp>
      <p:pic>
        <p:nvPicPr>
          <p:cNvPr id="458" name="Google Shape;458;p23"/>
          <p:cNvPicPr preferRelativeResize="0"/>
          <p:nvPr/>
        </p:nvPicPr>
        <p:blipFill rotWithShape="1">
          <a:blip r:embed="rId6">
            <a:alphaModFix/>
          </a:blip>
          <a:srcRect b="34896" l="13392" r="14106" t="38436"/>
          <a:stretch/>
        </p:blipFill>
        <p:spPr>
          <a:xfrm>
            <a:off x="327600" y="1949400"/>
            <a:ext cx="6627960" cy="129996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463" name="Shape 463"/>
        <p:cNvGrpSpPr/>
        <p:nvPr/>
      </p:nvGrpSpPr>
      <p:grpSpPr>
        <a:xfrm>
          <a:off x="0" y="0"/>
          <a:ext cx="0" cy="0"/>
          <a:chOff x="0" y="0"/>
          <a:chExt cx="0" cy="0"/>
        </a:xfrm>
      </p:grpSpPr>
      <p:sp>
        <p:nvSpPr>
          <p:cNvPr id="464" name="Google Shape;464;p24"/>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465" name="Google Shape;465;p24"/>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466" name="Google Shape;466;p24"/>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467" name="Google Shape;467;p24"/>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468" name="Google Shape;468;p24"/>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469" name="Google Shape;469;p24"/>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470" name="Google Shape;470;p24"/>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471" name="Google Shape;471;p24"/>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472" name="Google Shape;472;p24"/>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473" name="Google Shape;473;p24"/>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474" name="Google Shape;474;p24"/>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Type classes</a:t>
            </a:r>
            <a:endParaRPr b="0" sz="4000" u="none" strike="noStrike">
              <a:solidFill>
                <a:srgbClr val="FFFFFF"/>
              </a:solidFill>
              <a:latin typeface="Arial"/>
              <a:ea typeface="Arial"/>
              <a:cs typeface="Arial"/>
              <a:sym typeface="Arial"/>
            </a:endParaRPr>
          </a:p>
        </p:txBody>
      </p:sp>
      <p:sp>
        <p:nvSpPr>
          <p:cNvPr id="475" name="Google Shape;475;p24"/>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76" name="Google Shape;476;p24"/>
          <p:cNvSpPr/>
          <p:nvPr/>
        </p:nvSpPr>
        <p:spPr>
          <a:xfrm>
            <a:off x="324000" y="3358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Type classes define a set of operations with their types.</a:t>
            </a:r>
            <a:endParaRPr b="0" sz="1800" u="none" strike="noStrike">
              <a:solidFill>
                <a:srgbClr val="FFFFFF"/>
              </a:solidFill>
              <a:latin typeface="Arial"/>
              <a:ea typeface="Arial"/>
              <a:cs typeface="Arial"/>
              <a:sym typeface="Arial"/>
            </a:endParaRPr>
          </a:p>
          <a:p>
            <a:pPr indent="-216000" lvl="1" marL="432000" marR="0" rtl="0" algn="l">
              <a:lnSpc>
                <a:spcPct val="109444"/>
              </a:lnSpc>
              <a:spcBef>
                <a:spcPts val="0"/>
              </a:spcBef>
              <a:spcAft>
                <a:spcPts val="0"/>
              </a:spcAft>
              <a:buClr>
                <a:srgbClr val="FFFFFF"/>
              </a:buClr>
              <a:buSzPts val="810"/>
              <a:buFont typeface="Noto Sans Symbols"/>
              <a:buChar char="●"/>
            </a:pPr>
            <a:r>
              <a:rPr b="0" i="0" lang="en-US" sz="1800" u="none" cap="none" strike="noStrike">
                <a:solidFill>
                  <a:srgbClr val="F8F8FF"/>
                </a:solidFill>
                <a:latin typeface="Overpass"/>
                <a:ea typeface="Overpass"/>
                <a:cs typeface="Overpass"/>
                <a:sym typeface="Overpass"/>
              </a:rPr>
              <a:t>Example: class for defining a multiplication operation</a:t>
            </a:r>
            <a:endParaRPr b="0" i="0" sz="1800" u="none" cap="none" strike="noStrike">
              <a:solidFill>
                <a:srgbClr val="FFFFFF"/>
              </a:solidFill>
              <a:latin typeface="Arial"/>
              <a:ea typeface="Arial"/>
              <a:cs typeface="Arial"/>
              <a:sym typeface="Arial"/>
            </a:endParaRPr>
          </a:p>
        </p:txBody>
      </p:sp>
      <p:pic>
        <p:nvPicPr>
          <p:cNvPr id="477" name="Google Shape;477;p24"/>
          <p:cNvPicPr preferRelativeResize="0"/>
          <p:nvPr/>
        </p:nvPicPr>
        <p:blipFill rotWithShape="1">
          <a:blip r:embed="rId6">
            <a:alphaModFix/>
          </a:blip>
          <a:srcRect b="34896" l="13392" r="14106" t="38436"/>
          <a:stretch/>
        </p:blipFill>
        <p:spPr>
          <a:xfrm>
            <a:off x="327600" y="1949400"/>
            <a:ext cx="6627960" cy="1299960"/>
          </a:xfrm>
          <a:prstGeom prst="rect">
            <a:avLst/>
          </a:prstGeom>
          <a:noFill/>
          <a:ln>
            <a:noFill/>
          </a:ln>
        </p:spPr>
      </p:pic>
      <p:sp>
        <p:nvSpPr>
          <p:cNvPr id="478" name="Google Shape;478;p24"/>
          <p:cNvSpPr/>
          <p:nvPr/>
        </p:nvSpPr>
        <p:spPr>
          <a:xfrm>
            <a:off x="4343400" y="1104120"/>
            <a:ext cx="280152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Class name</a:t>
            </a:r>
            <a:endParaRPr b="0" sz="2200" u="none" strike="noStrike">
              <a:solidFill>
                <a:srgbClr val="FFFFFF"/>
              </a:solidFill>
              <a:latin typeface="Arial"/>
              <a:ea typeface="Arial"/>
              <a:cs typeface="Arial"/>
              <a:sym typeface="Arial"/>
            </a:endParaRPr>
          </a:p>
        </p:txBody>
      </p:sp>
      <p:cxnSp>
        <p:nvCxnSpPr>
          <p:cNvPr id="479" name="Google Shape;479;p24"/>
          <p:cNvCxnSpPr/>
          <p:nvPr/>
        </p:nvCxnSpPr>
        <p:spPr>
          <a:xfrm flipH="1">
            <a:off x="3886200" y="1371600"/>
            <a:ext cx="457200" cy="685800"/>
          </a:xfrm>
          <a:prstGeom prst="straightConnector1">
            <a:avLst/>
          </a:prstGeom>
          <a:noFill/>
          <a:ln cap="flat" cmpd="sng" w="36700">
            <a:solidFill>
              <a:srgbClr val="FFFFFF"/>
            </a:solidFill>
            <a:prstDash val="solid"/>
            <a:round/>
            <a:headEnd len="sm" w="sm"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484" name="Shape 484"/>
        <p:cNvGrpSpPr/>
        <p:nvPr/>
      </p:nvGrpSpPr>
      <p:grpSpPr>
        <a:xfrm>
          <a:off x="0" y="0"/>
          <a:ext cx="0" cy="0"/>
          <a:chOff x="0" y="0"/>
          <a:chExt cx="0" cy="0"/>
        </a:xfrm>
      </p:grpSpPr>
      <p:sp>
        <p:nvSpPr>
          <p:cNvPr id="485" name="Google Shape;485;p25"/>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486" name="Google Shape;486;p25"/>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487" name="Google Shape;487;p25"/>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488" name="Google Shape;488;p25"/>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489" name="Google Shape;489;p25"/>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490" name="Google Shape;490;p25"/>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491" name="Google Shape;491;p25"/>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492" name="Google Shape;492;p25"/>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493" name="Google Shape;493;p25"/>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494" name="Google Shape;494;p25"/>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495" name="Google Shape;495;p25"/>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Type classes</a:t>
            </a:r>
            <a:endParaRPr b="0" sz="4000" u="none" strike="noStrike">
              <a:solidFill>
                <a:srgbClr val="FFFFFF"/>
              </a:solidFill>
              <a:latin typeface="Arial"/>
              <a:ea typeface="Arial"/>
              <a:cs typeface="Arial"/>
              <a:sym typeface="Arial"/>
            </a:endParaRPr>
          </a:p>
        </p:txBody>
      </p:sp>
      <p:sp>
        <p:nvSpPr>
          <p:cNvPr id="496" name="Google Shape;496;p25"/>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id="497" name="Google Shape;497;p25"/>
          <p:cNvPicPr preferRelativeResize="0"/>
          <p:nvPr/>
        </p:nvPicPr>
        <p:blipFill rotWithShape="1">
          <a:blip r:embed="rId6">
            <a:alphaModFix/>
          </a:blip>
          <a:srcRect b="34896" l="13392" r="14106" t="38436"/>
          <a:stretch/>
        </p:blipFill>
        <p:spPr>
          <a:xfrm>
            <a:off x="327600" y="1949400"/>
            <a:ext cx="6627960" cy="1299960"/>
          </a:xfrm>
          <a:prstGeom prst="rect">
            <a:avLst/>
          </a:prstGeom>
          <a:noFill/>
          <a:ln>
            <a:noFill/>
          </a:ln>
        </p:spPr>
      </p:pic>
      <p:sp>
        <p:nvSpPr>
          <p:cNvPr id="498" name="Google Shape;498;p25"/>
          <p:cNvSpPr/>
          <p:nvPr/>
        </p:nvSpPr>
        <p:spPr>
          <a:xfrm>
            <a:off x="4343400" y="1104120"/>
            <a:ext cx="280152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Type argument</a:t>
            </a:r>
            <a:endParaRPr b="0" sz="2200" u="none" strike="noStrike">
              <a:solidFill>
                <a:srgbClr val="FFFFFF"/>
              </a:solidFill>
              <a:latin typeface="Arial"/>
              <a:ea typeface="Arial"/>
              <a:cs typeface="Arial"/>
              <a:sym typeface="Arial"/>
            </a:endParaRPr>
          </a:p>
        </p:txBody>
      </p:sp>
      <p:cxnSp>
        <p:nvCxnSpPr>
          <p:cNvPr id="499" name="Google Shape;499;p25"/>
          <p:cNvCxnSpPr/>
          <p:nvPr/>
        </p:nvCxnSpPr>
        <p:spPr>
          <a:xfrm flipH="1">
            <a:off x="3200400" y="1371600"/>
            <a:ext cx="1143000" cy="685800"/>
          </a:xfrm>
          <a:prstGeom prst="straightConnector1">
            <a:avLst/>
          </a:prstGeom>
          <a:noFill/>
          <a:ln cap="flat" cmpd="sng" w="36700">
            <a:solidFill>
              <a:srgbClr val="FFFFFF"/>
            </a:solidFill>
            <a:prstDash val="solid"/>
            <a:round/>
            <a:headEnd len="sm" w="sm" type="none"/>
            <a:tailEnd len="med" w="med" type="triangle"/>
          </a:ln>
        </p:spPr>
      </p:cxnSp>
      <p:sp>
        <p:nvSpPr>
          <p:cNvPr id="500" name="Google Shape;500;p25"/>
          <p:cNvSpPr/>
          <p:nvPr/>
        </p:nvSpPr>
        <p:spPr>
          <a:xfrm rot="5340000">
            <a:off x="3699000" y="413640"/>
            <a:ext cx="227520" cy="5259240"/>
          </a:xfrm>
          <a:custGeom>
            <a:rect b="b" l="l" r="r" t="t"/>
            <a:pathLst>
              <a:path extrusionOk="0" h="21600" w="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cap="flat" cmpd="sng" w="36700">
            <a:solidFill>
              <a:srgbClr val="FFFFFF"/>
            </a:solidFill>
            <a:prstDash val="solid"/>
            <a:round/>
            <a:headEnd len="sm" w="sm" type="none"/>
            <a:tailEnd len="sm" w="sm" type="none"/>
          </a:ln>
        </p:spPr>
        <p:txBody>
          <a:bodyPr anchorCtr="0" anchor="ctr" bIns="63350" lIns="108350" spcFirstLastPara="1" rIns="108350" wrap="square" tIns="6335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501" name="Google Shape;501;p25"/>
          <p:cNvSpPr/>
          <p:nvPr/>
        </p:nvSpPr>
        <p:spPr>
          <a:xfrm>
            <a:off x="2363400" y="3300120"/>
            <a:ext cx="317052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Function signature</a:t>
            </a:r>
            <a:endParaRPr b="0" sz="2200" u="none" strike="noStrike">
              <a:solidFill>
                <a:srgbClr val="FFFFFF"/>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506" name="Shape 506"/>
        <p:cNvGrpSpPr/>
        <p:nvPr/>
      </p:nvGrpSpPr>
      <p:grpSpPr>
        <a:xfrm>
          <a:off x="0" y="0"/>
          <a:ext cx="0" cy="0"/>
          <a:chOff x="0" y="0"/>
          <a:chExt cx="0" cy="0"/>
        </a:xfrm>
      </p:grpSpPr>
      <p:sp>
        <p:nvSpPr>
          <p:cNvPr id="507" name="Google Shape;507;p26"/>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508" name="Google Shape;508;p26"/>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509" name="Google Shape;509;p26"/>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510" name="Google Shape;510;p26"/>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511" name="Google Shape;511;p26"/>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512" name="Google Shape;512;p26"/>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513" name="Google Shape;513;p26"/>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514" name="Google Shape;514;p26"/>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515" name="Google Shape;515;p26"/>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516" name="Google Shape;516;p26"/>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517" name="Google Shape;517;p26"/>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Type classes</a:t>
            </a:r>
            <a:endParaRPr b="0" sz="4000" u="none" strike="noStrike">
              <a:solidFill>
                <a:srgbClr val="FFFFFF"/>
              </a:solidFill>
              <a:latin typeface="Arial"/>
              <a:ea typeface="Arial"/>
              <a:cs typeface="Arial"/>
              <a:sym typeface="Arial"/>
            </a:endParaRPr>
          </a:p>
        </p:txBody>
      </p:sp>
      <p:sp>
        <p:nvSpPr>
          <p:cNvPr id="518" name="Google Shape;518;p26"/>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id="519" name="Google Shape;519;p26"/>
          <p:cNvPicPr preferRelativeResize="0"/>
          <p:nvPr/>
        </p:nvPicPr>
        <p:blipFill rotWithShape="1">
          <a:blip r:embed="rId6">
            <a:alphaModFix/>
          </a:blip>
          <a:srcRect b="27283" l="11702" r="13279" t="38425"/>
          <a:stretch/>
        </p:blipFill>
        <p:spPr>
          <a:xfrm>
            <a:off x="457200" y="2152800"/>
            <a:ext cx="6856560" cy="1598760"/>
          </a:xfrm>
          <a:prstGeom prst="rect">
            <a:avLst/>
          </a:prstGeom>
          <a:noFill/>
          <a:ln>
            <a:noFill/>
          </a:ln>
        </p:spPr>
      </p:pic>
      <p:sp>
        <p:nvSpPr>
          <p:cNvPr id="520" name="Google Shape;520;p26"/>
          <p:cNvSpPr/>
          <p:nvPr/>
        </p:nvSpPr>
        <p:spPr>
          <a:xfrm>
            <a:off x="4343400" y="1104120"/>
            <a:ext cx="280152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Type argument</a:t>
            </a:r>
            <a:endParaRPr b="0" sz="2200" u="none" strike="noStrike">
              <a:solidFill>
                <a:srgbClr val="FFFFFF"/>
              </a:solidFill>
              <a:latin typeface="Arial"/>
              <a:ea typeface="Arial"/>
              <a:cs typeface="Arial"/>
              <a:sym typeface="Arial"/>
            </a:endParaRPr>
          </a:p>
        </p:txBody>
      </p:sp>
      <p:cxnSp>
        <p:nvCxnSpPr>
          <p:cNvPr id="521" name="Google Shape;521;p26"/>
          <p:cNvCxnSpPr/>
          <p:nvPr/>
        </p:nvCxnSpPr>
        <p:spPr>
          <a:xfrm flipH="1">
            <a:off x="2057400" y="1371600"/>
            <a:ext cx="2286000" cy="781200"/>
          </a:xfrm>
          <a:prstGeom prst="straightConnector1">
            <a:avLst/>
          </a:prstGeom>
          <a:noFill/>
          <a:ln cap="flat" cmpd="sng" w="36700">
            <a:solidFill>
              <a:srgbClr val="FFFFFF"/>
            </a:solidFill>
            <a:prstDash val="solid"/>
            <a:round/>
            <a:headEnd len="sm" w="sm" type="none"/>
            <a:tailEnd len="med" w="med" type="triangle"/>
          </a:ln>
        </p:spPr>
      </p:cxnSp>
      <p:cxnSp>
        <p:nvCxnSpPr>
          <p:cNvPr id="522" name="Google Shape;522;p26"/>
          <p:cNvCxnSpPr/>
          <p:nvPr/>
        </p:nvCxnSpPr>
        <p:spPr>
          <a:xfrm flipH="1">
            <a:off x="4114800" y="1600200"/>
            <a:ext cx="685800" cy="914400"/>
          </a:xfrm>
          <a:prstGeom prst="straightConnector1">
            <a:avLst/>
          </a:prstGeom>
          <a:noFill/>
          <a:ln cap="flat" cmpd="sng" w="36700">
            <a:solidFill>
              <a:srgbClr val="FFFFFF"/>
            </a:solidFill>
            <a:prstDash val="solid"/>
            <a:round/>
            <a:headEnd len="sm" w="sm" type="none"/>
            <a:tailEnd len="med" w="med" type="triangle"/>
          </a:ln>
        </p:spPr>
      </p:cxnSp>
      <p:cxnSp>
        <p:nvCxnSpPr>
          <p:cNvPr id="523" name="Google Shape;523;p26"/>
          <p:cNvCxnSpPr/>
          <p:nvPr/>
        </p:nvCxnSpPr>
        <p:spPr>
          <a:xfrm>
            <a:off x="5486400" y="1600200"/>
            <a:ext cx="228600" cy="914400"/>
          </a:xfrm>
          <a:prstGeom prst="straightConnector1">
            <a:avLst/>
          </a:prstGeom>
          <a:noFill/>
          <a:ln cap="flat" cmpd="sng" w="36700">
            <a:solidFill>
              <a:srgbClr val="FFFFFF"/>
            </a:solidFill>
            <a:prstDash val="solid"/>
            <a:round/>
            <a:headEnd len="sm" w="sm" type="none"/>
            <a:tailEnd len="med" w="med" type="triangle"/>
          </a:ln>
        </p:spPr>
      </p:cxnSp>
      <p:cxnSp>
        <p:nvCxnSpPr>
          <p:cNvPr id="524" name="Google Shape;524;p26"/>
          <p:cNvCxnSpPr/>
          <p:nvPr/>
        </p:nvCxnSpPr>
        <p:spPr>
          <a:xfrm>
            <a:off x="6172200" y="1600200"/>
            <a:ext cx="685800" cy="914400"/>
          </a:xfrm>
          <a:prstGeom prst="straightConnector1">
            <a:avLst/>
          </a:prstGeom>
          <a:noFill/>
          <a:ln cap="flat" cmpd="sng" w="36700">
            <a:solidFill>
              <a:srgbClr val="FFFFFF"/>
            </a:solidFill>
            <a:prstDash val="solid"/>
            <a:round/>
            <a:headEnd len="sm" w="sm" type="none"/>
            <a:tailEnd len="med" w="med" type="triangle"/>
          </a:ln>
        </p:spPr>
      </p:cxnSp>
      <p:sp>
        <p:nvSpPr>
          <p:cNvPr id="525" name="Google Shape;525;p26"/>
          <p:cNvSpPr/>
          <p:nvPr/>
        </p:nvSpPr>
        <p:spPr>
          <a:xfrm>
            <a:off x="324000" y="3790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Instances provide an implementation for a specific type.</a:t>
            </a:r>
            <a:endParaRPr b="0" sz="1800" u="none" strike="noStrike">
              <a:solidFill>
                <a:srgbClr val="FFFFFF"/>
              </a:solidFill>
              <a:latin typeface="Arial"/>
              <a:ea typeface="Arial"/>
              <a:cs typeface="Arial"/>
              <a:sym typeface="Arial"/>
            </a:endParaRPr>
          </a:p>
          <a:p>
            <a:pPr indent="-216000" lvl="1" marL="432000" marR="0" rtl="0" algn="l">
              <a:lnSpc>
                <a:spcPct val="109444"/>
              </a:lnSpc>
              <a:spcBef>
                <a:spcPts val="0"/>
              </a:spcBef>
              <a:spcAft>
                <a:spcPts val="0"/>
              </a:spcAft>
              <a:buClr>
                <a:srgbClr val="FFFFFF"/>
              </a:buClr>
              <a:buSzPts val="810"/>
              <a:buFont typeface="Noto Sans Symbols"/>
              <a:buChar char="●"/>
            </a:pPr>
            <a:r>
              <a:rPr b="0" i="0" lang="en-US" sz="1800" u="none" cap="none" strike="noStrike">
                <a:solidFill>
                  <a:srgbClr val="F8F8FF"/>
                </a:solidFill>
                <a:latin typeface="Overpass"/>
                <a:ea typeface="Overpass"/>
                <a:cs typeface="Overpass"/>
                <a:sym typeface="Overpass"/>
              </a:rPr>
              <a:t>Function types should “replace” the class type argument for the corresponding concrete type.</a:t>
            </a:r>
            <a:endParaRPr b="0" i="0" sz="1800" u="none" cap="none" strike="noStrike">
              <a:solidFill>
                <a:srgbClr val="FFFFFF"/>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530" name="Shape 530"/>
        <p:cNvGrpSpPr/>
        <p:nvPr/>
      </p:nvGrpSpPr>
      <p:grpSpPr>
        <a:xfrm>
          <a:off x="0" y="0"/>
          <a:ext cx="0" cy="0"/>
          <a:chOff x="0" y="0"/>
          <a:chExt cx="0" cy="0"/>
        </a:xfrm>
      </p:grpSpPr>
      <p:sp>
        <p:nvSpPr>
          <p:cNvPr id="531" name="Google Shape;531;p27"/>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532" name="Google Shape;532;p27"/>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533" name="Google Shape;533;p27"/>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534" name="Google Shape;534;p27"/>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535" name="Google Shape;535;p27"/>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536" name="Google Shape;536;p27"/>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537" name="Google Shape;537;p27"/>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538" name="Google Shape;538;p27"/>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539" name="Google Shape;539;p27"/>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540" name="Google Shape;540;p27"/>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541" name="Google Shape;541;p27"/>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Type classes</a:t>
            </a:r>
            <a:endParaRPr b="0" sz="4000" u="none" strike="noStrike">
              <a:solidFill>
                <a:srgbClr val="FFFFFF"/>
              </a:solidFill>
              <a:latin typeface="Arial"/>
              <a:ea typeface="Arial"/>
              <a:cs typeface="Arial"/>
              <a:sym typeface="Arial"/>
            </a:endParaRPr>
          </a:p>
        </p:txBody>
      </p:sp>
      <p:sp>
        <p:nvSpPr>
          <p:cNvPr id="542" name="Google Shape;542;p27"/>
          <p:cNvSpPr/>
          <p:nvPr/>
        </p:nvSpPr>
        <p:spPr>
          <a:xfrm>
            <a:off x="324000" y="3502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Type class constraints allow us to restrict polymorphic types.</a:t>
            </a:r>
            <a:endParaRPr b="0" sz="1800" u="none" strike="noStrike">
              <a:solidFill>
                <a:srgbClr val="FFFFFF"/>
              </a:solidFill>
              <a:latin typeface="Arial"/>
              <a:ea typeface="Arial"/>
              <a:cs typeface="Arial"/>
              <a:sym typeface="Arial"/>
            </a:endParaRPr>
          </a:p>
          <a:p>
            <a:pPr indent="-216000" lvl="1" marL="432000" marR="0" rtl="0" algn="l">
              <a:lnSpc>
                <a:spcPct val="109444"/>
              </a:lnSpc>
              <a:spcBef>
                <a:spcPts val="0"/>
              </a:spcBef>
              <a:spcAft>
                <a:spcPts val="0"/>
              </a:spcAft>
              <a:buClr>
                <a:srgbClr val="FFFFFF"/>
              </a:buClr>
              <a:buSzPts val="810"/>
              <a:buFont typeface="Noto Sans Symbols"/>
              <a:buChar char="●"/>
            </a:pPr>
            <a:r>
              <a:rPr b="0" i="0" lang="en-US" sz="1800" u="none" cap="none" strike="noStrike">
                <a:solidFill>
                  <a:srgbClr val="F8F8FF"/>
                </a:solidFill>
                <a:latin typeface="Overpass"/>
                <a:ea typeface="Overpass"/>
                <a:cs typeface="Overpass"/>
                <a:sym typeface="Overpass"/>
              </a:rPr>
              <a:t>Function square can be called on all types which are instances of Mul.</a:t>
            </a:r>
            <a:endParaRPr b="0" i="0" sz="1800" u="none" cap="none" strike="noStrike">
              <a:solidFill>
                <a:srgbClr val="FFFFFF"/>
              </a:solidFill>
              <a:latin typeface="Arial"/>
              <a:ea typeface="Arial"/>
              <a:cs typeface="Arial"/>
              <a:sym typeface="Arial"/>
            </a:endParaRPr>
          </a:p>
        </p:txBody>
      </p:sp>
      <p:pic>
        <p:nvPicPr>
          <p:cNvPr id="543" name="Google Shape;543;p27"/>
          <p:cNvPicPr preferRelativeResize="0"/>
          <p:nvPr/>
        </p:nvPicPr>
        <p:blipFill rotWithShape="1">
          <a:blip r:embed="rId6">
            <a:alphaModFix/>
          </a:blip>
          <a:srcRect b="40956" l="11850" r="13147" t="33277"/>
          <a:stretch/>
        </p:blipFill>
        <p:spPr>
          <a:xfrm>
            <a:off x="423000" y="1816200"/>
            <a:ext cx="6856560" cy="1141560"/>
          </a:xfrm>
          <a:prstGeom prst="rect">
            <a:avLst/>
          </a:prstGeom>
          <a:noFill/>
          <a:ln>
            <a:noFill/>
          </a:ln>
        </p:spPr>
      </p:pic>
      <p:sp>
        <p:nvSpPr>
          <p:cNvPr id="544" name="Google Shape;544;p27"/>
          <p:cNvSpPr/>
          <p:nvPr/>
        </p:nvSpPr>
        <p:spPr>
          <a:xfrm>
            <a:off x="4343400" y="1104120"/>
            <a:ext cx="365652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Type class constraint</a:t>
            </a:r>
            <a:endParaRPr b="0" sz="2200" u="none" strike="noStrike">
              <a:solidFill>
                <a:srgbClr val="FFFFFF"/>
              </a:solidFill>
              <a:latin typeface="Arial"/>
              <a:ea typeface="Arial"/>
              <a:cs typeface="Arial"/>
              <a:sym typeface="Arial"/>
            </a:endParaRPr>
          </a:p>
        </p:txBody>
      </p:sp>
      <p:cxnSp>
        <p:nvCxnSpPr>
          <p:cNvPr id="545" name="Google Shape;545;p27"/>
          <p:cNvCxnSpPr/>
          <p:nvPr/>
        </p:nvCxnSpPr>
        <p:spPr>
          <a:xfrm flipH="1">
            <a:off x="2322000" y="1333080"/>
            <a:ext cx="2057400" cy="688320"/>
          </a:xfrm>
          <a:prstGeom prst="straightConnector1">
            <a:avLst/>
          </a:prstGeom>
          <a:noFill/>
          <a:ln cap="flat" cmpd="sng" w="36700">
            <a:solidFill>
              <a:srgbClr val="FFFFFF"/>
            </a:solidFill>
            <a:prstDash val="solid"/>
            <a:round/>
            <a:headEnd len="sm" w="sm" type="none"/>
            <a:tailEnd len="med" w="med" type="triangl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550" name="Shape 550"/>
        <p:cNvGrpSpPr/>
        <p:nvPr/>
      </p:nvGrpSpPr>
      <p:grpSpPr>
        <a:xfrm>
          <a:off x="0" y="0"/>
          <a:ext cx="0" cy="0"/>
          <a:chOff x="0" y="0"/>
          <a:chExt cx="0" cy="0"/>
        </a:xfrm>
      </p:grpSpPr>
      <p:cxnSp>
        <p:nvCxnSpPr>
          <p:cNvPr id="551" name="Google Shape;551;p28"/>
          <p:cNvCxnSpPr/>
          <p:nvPr/>
        </p:nvCxnSpPr>
        <p:spPr>
          <a:xfrm>
            <a:off x="4572000" y="0"/>
            <a:ext cx="360" cy="5143320"/>
          </a:xfrm>
          <a:prstGeom prst="straightConnector1">
            <a:avLst/>
          </a:prstGeom>
          <a:noFill/>
          <a:ln cap="flat" cmpd="sng" w="12700">
            <a:solidFill>
              <a:srgbClr val="2B247C">
                <a:alpha val="20000"/>
              </a:srgbClr>
            </a:solidFill>
            <a:prstDash val="solid"/>
            <a:round/>
            <a:headEnd len="sm" w="sm" type="none"/>
            <a:tailEnd len="sm" w="sm" type="none"/>
          </a:ln>
        </p:spPr>
      </p:cxnSp>
      <p:cxnSp>
        <p:nvCxnSpPr>
          <p:cNvPr id="552" name="Google Shape;552;p28"/>
          <p:cNvCxnSpPr/>
          <p:nvPr/>
        </p:nvCxnSpPr>
        <p:spPr>
          <a:xfrm>
            <a:off x="4572000" y="0"/>
            <a:ext cx="360" cy="5143320"/>
          </a:xfrm>
          <a:prstGeom prst="straightConnector1">
            <a:avLst/>
          </a:prstGeom>
          <a:noFill/>
          <a:ln cap="flat" cmpd="sng" w="12700">
            <a:solidFill>
              <a:srgbClr val="D2D2FF">
                <a:alpha val="20000"/>
              </a:srgbClr>
            </a:solidFill>
            <a:prstDash val="solid"/>
            <a:round/>
            <a:headEnd len="sm" w="sm" type="none"/>
            <a:tailEnd len="sm" w="sm" type="none"/>
          </a:ln>
        </p:spPr>
      </p:cxnSp>
      <p:sp>
        <p:nvSpPr>
          <p:cNvPr id="553" name="Google Shape;553;p28"/>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554" name="Google Shape;554;p28"/>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555" name="Google Shape;555;p28"/>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556" name="Google Shape;556;p28"/>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557" name="Google Shape;557;p28"/>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558" name="Google Shape;558;p28"/>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559" name="Google Shape;559;p28"/>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560" name="Google Shape;560;p28"/>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561" name="Google Shape;561;p28"/>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562" name="Google Shape;562;p28"/>
          <p:cNvSpPr/>
          <p:nvPr/>
        </p:nvSpPr>
        <p:spPr>
          <a:xfrm>
            <a:off x="476280" y="380880"/>
            <a:ext cx="388188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8F8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563" name="Google Shape;563;p28"/>
          <p:cNvSpPr/>
          <p:nvPr/>
        </p:nvSpPr>
        <p:spPr>
          <a:xfrm>
            <a:off x="-228600" y="1781280"/>
            <a:ext cx="4797720" cy="1576800"/>
          </a:xfrm>
          <a:prstGeom prst="rect">
            <a:avLst/>
          </a:prstGeom>
          <a:noFill/>
          <a:ln>
            <a:noFill/>
          </a:ln>
        </p:spPr>
        <p:txBody>
          <a:bodyPr anchorCtr="0" anchor="ctr" bIns="45000" lIns="90000" spcFirstLastPara="1" rIns="90000" wrap="square" tIns="45000">
            <a:noAutofit/>
          </a:bodyPr>
          <a:lstStyle/>
          <a:p>
            <a:pPr indent="0" lvl="0" marL="0" marR="0" rtl="0" algn="ctr">
              <a:lnSpc>
                <a:spcPct val="78025"/>
              </a:lnSpc>
              <a:spcBef>
                <a:spcPts val="0"/>
              </a:spcBef>
              <a:spcAft>
                <a:spcPts val="0"/>
              </a:spcAft>
              <a:buNone/>
            </a:pPr>
            <a:r>
              <a:rPr b="0" lang="en-US" sz="4000" u="none" strike="noStrike">
                <a:solidFill>
                  <a:srgbClr val="FFFFFF"/>
                </a:solidFill>
                <a:latin typeface="Overpass Mono"/>
                <a:ea typeface="Overpass Mono"/>
                <a:cs typeface="Overpass Mono"/>
                <a:sym typeface="Overpass Mono"/>
              </a:rPr>
              <a:t>High-order and</a:t>
            </a:r>
            <a:endParaRPr b="0" sz="4000" u="none" strike="noStrike">
              <a:solidFill>
                <a:srgbClr val="FFFFFF"/>
              </a:solidFill>
              <a:latin typeface="Arial"/>
              <a:ea typeface="Arial"/>
              <a:cs typeface="Arial"/>
              <a:sym typeface="Arial"/>
            </a:endParaRPr>
          </a:p>
          <a:p>
            <a:pPr indent="0" lvl="0" marL="0" marR="0" rtl="0" algn="ctr">
              <a:lnSpc>
                <a:spcPct val="78025"/>
              </a:lnSpc>
              <a:spcBef>
                <a:spcPts val="0"/>
              </a:spcBef>
              <a:spcAft>
                <a:spcPts val="0"/>
              </a:spcAft>
              <a:buNone/>
            </a:pPr>
            <a:r>
              <a:rPr b="0" lang="en-US" sz="4000" u="none" strike="noStrike">
                <a:solidFill>
                  <a:srgbClr val="FFFFFF"/>
                </a:solidFill>
                <a:latin typeface="Overpass Mono"/>
                <a:ea typeface="Overpass Mono"/>
                <a:cs typeface="Overpass Mono"/>
                <a:sym typeface="Overpass Mono"/>
              </a:rPr>
              <a:t>anonymous</a:t>
            </a:r>
            <a:endParaRPr b="0" sz="4000" u="none" strike="noStrike">
              <a:solidFill>
                <a:srgbClr val="FFFFFF"/>
              </a:solidFill>
              <a:latin typeface="Arial"/>
              <a:ea typeface="Arial"/>
              <a:cs typeface="Arial"/>
              <a:sym typeface="Arial"/>
            </a:endParaRPr>
          </a:p>
          <a:p>
            <a:pPr indent="0" lvl="0" marL="0" marR="0" rtl="0" algn="ctr">
              <a:lnSpc>
                <a:spcPct val="78025"/>
              </a:lnSpc>
              <a:spcBef>
                <a:spcPts val="0"/>
              </a:spcBef>
              <a:spcAft>
                <a:spcPts val="0"/>
              </a:spcAft>
              <a:buNone/>
            </a:pPr>
            <a:r>
              <a:rPr b="0" lang="en-US" sz="4000" u="none" strike="noStrike">
                <a:solidFill>
                  <a:srgbClr val="FFFFFF"/>
                </a:solidFill>
                <a:latin typeface="Overpass Mono"/>
                <a:ea typeface="Overpass Mono"/>
                <a:cs typeface="Overpass Mono"/>
                <a:sym typeface="Overpass Mono"/>
              </a:rPr>
              <a:t>functions</a:t>
            </a:r>
            <a:endParaRPr b="0" sz="4000" u="none" strike="noStrike">
              <a:solidFill>
                <a:srgbClr val="FFFFFF"/>
              </a:solidFill>
              <a:latin typeface="Arial"/>
              <a:ea typeface="Arial"/>
              <a:cs typeface="Arial"/>
              <a:sym typeface="Arial"/>
            </a:endParaRPr>
          </a:p>
        </p:txBody>
      </p:sp>
      <p:sp>
        <p:nvSpPr>
          <p:cNvPr id="564" name="Google Shape;564;p28"/>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343080" lvl="0" marL="343080" marR="0" rtl="0" algn="l">
              <a:lnSpc>
                <a:spcPct val="124683"/>
              </a:lnSpc>
              <a:spcBef>
                <a:spcPts val="0"/>
              </a:spcBef>
              <a:spcAft>
                <a:spcPts val="0"/>
              </a:spcAft>
              <a:buClr>
                <a:srgbClr val="F8F8FF"/>
              </a:buClr>
              <a:buSzPts val="1580"/>
              <a:buFont typeface="Calibri"/>
              <a:buAutoNum type="arabicPeriod"/>
            </a:pPr>
            <a:r>
              <a:rPr b="0" lang="en-US" sz="1580" u="none" strike="noStrike">
                <a:solidFill>
                  <a:srgbClr val="F8F8FF"/>
                </a:solidFill>
                <a:latin typeface="Overpass"/>
                <a:ea typeface="Overpass"/>
                <a:cs typeface="Overpass"/>
                <a:sym typeface="Overpass"/>
              </a:rPr>
              <a:t>Functions are first-class in Core Solidity.</a:t>
            </a:r>
            <a:endParaRPr b="0" sz="1580" u="none" strike="noStrike">
              <a:solidFill>
                <a:srgbClr val="FFFFFF"/>
              </a:solidFill>
              <a:latin typeface="Arial"/>
              <a:ea typeface="Arial"/>
              <a:cs typeface="Arial"/>
              <a:sym typeface="Arial"/>
            </a:endParaRPr>
          </a:p>
          <a:p>
            <a:pPr indent="0" lvl="0" marL="0" marR="0" rtl="0" algn="l">
              <a:lnSpc>
                <a:spcPct val="124683"/>
              </a:lnSpc>
              <a:spcBef>
                <a:spcPts val="0"/>
              </a:spcBef>
              <a:spcAft>
                <a:spcPts val="0"/>
              </a:spcAft>
              <a:buNone/>
            </a:pPr>
            <a:r>
              <a:t/>
            </a:r>
            <a:endParaRPr b="0" sz="1580" u="none" strike="noStrike">
              <a:solidFill>
                <a:srgbClr val="FFFFFF"/>
              </a:solidFill>
              <a:latin typeface="Arial"/>
              <a:ea typeface="Arial"/>
              <a:cs typeface="Arial"/>
              <a:sym typeface="Arial"/>
            </a:endParaRPr>
          </a:p>
          <a:p>
            <a:pPr indent="-343080" lvl="0" marL="343080" marR="0" rtl="0" algn="l">
              <a:lnSpc>
                <a:spcPct val="124683"/>
              </a:lnSpc>
              <a:spcBef>
                <a:spcPts val="0"/>
              </a:spcBef>
              <a:spcAft>
                <a:spcPts val="0"/>
              </a:spcAft>
              <a:buClr>
                <a:srgbClr val="F8F8FF"/>
              </a:buClr>
              <a:buSzPts val="1580"/>
              <a:buFont typeface="Calibri"/>
              <a:buAutoNum type="arabicPeriod"/>
            </a:pPr>
            <a:r>
              <a:rPr b="0" lang="en-US" sz="1580" u="none" strike="noStrike">
                <a:solidFill>
                  <a:srgbClr val="F8F8FF"/>
                </a:solidFill>
                <a:latin typeface="Overpass"/>
                <a:ea typeface="Overpass"/>
                <a:cs typeface="Overpass"/>
                <a:sym typeface="Overpass"/>
              </a:rPr>
              <a:t>This means that they can be used:</a:t>
            </a:r>
            <a:endParaRPr b="0" sz="1580" u="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Function parameters</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Return values</a:t>
            </a:r>
            <a:endParaRPr b="0" i="0" sz="1580" u="none" cap="none" strike="noStrike">
              <a:solidFill>
                <a:srgbClr val="FFFFFF"/>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569" name="Shape 569"/>
        <p:cNvGrpSpPr/>
        <p:nvPr/>
      </p:nvGrpSpPr>
      <p:grpSpPr>
        <a:xfrm>
          <a:off x="0" y="0"/>
          <a:ext cx="0" cy="0"/>
          <a:chOff x="0" y="0"/>
          <a:chExt cx="0" cy="0"/>
        </a:xfrm>
      </p:grpSpPr>
      <p:sp>
        <p:nvSpPr>
          <p:cNvPr id="570" name="Google Shape;570;p29"/>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571" name="Google Shape;571;p29"/>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572" name="Google Shape;572;p29"/>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573" name="Google Shape;573;p29"/>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574" name="Google Shape;574;p29"/>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575" name="Google Shape;575;p29"/>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576" name="Google Shape;576;p29"/>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577" name="Google Shape;577;p29"/>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578" name="Google Shape;578;p29"/>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579" name="Google Shape;579;p29"/>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580" name="Google Shape;580;p29"/>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Anonymous functions</a:t>
            </a:r>
            <a:endParaRPr b="0" sz="4000" u="none" strike="noStrike">
              <a:solidFill>
                <a:srgbClr val="FFFFFF"/>
              </a:solidFill>
              <a:latin typeface="Arial"/>
              <a:ea typeface="Arial"/>
              <a:cs typeface="Arial"/>
              <a:sym typeface="Arial"/>
            </a:endParaRPr>
          </a:p>
        </p:txBody>
      </p:sp>
      <p:sp>
        <p:nvSpPr>
          <p:cNvPr id="581" name="Google Shape;581;p29"/>
          <p:cNvSpPr/>
          <p:nvPr/>
        </p:nvSpPr>
        <p:spPr>
          <a:xfrm>
            <a:off x="288000" y="3826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Anonymous functions are defined using the </a:t>
            </a:r>
            <a:r>
              <a:rPr b="1" lang="en-US" sz="1800" u="none" strike="noStrike">
                <a:solidFill>
                  <a:srgbClr val="F8F8FF"/>
                </a:solidFill>
                <a:latin typeface="Overpass"/>
                <a:ea typeface="Overpass"/>
                <a:cs typeface="Overpass"/>
                <a:sym typeface="Overpass"/>
              </a:rPr>
              <a:t>lam</a:t>
            </a:r>
            <a:r>
              <a:rPr b="0" lang="en-US" sz="1800" u="none" strike="noStrike">
                <a:solidFill>
                  <a:srgbClr val="F8F8FF"/>
                </a:solidFill>
                <a:latin typeface="Overpass"/>
                <a:ea typeface="Overpass"/>
                <a:cs typeface="Overpass"/>
                <a:sym typeface="Overpass"/>
              </a:rPr>
              <a:t> keyword.</a:t>
            </a:r>
            <a:endParaRPr b="0" sz="1800" u="none" strike="noStrike">
              <a:solidFill>
                <a:srgbClr val="FFFFFF"/>
              </a:solidFill>
              <a:latin typeface="Arial"/>
              <a:ea typeface="Arial"/>
              <a:cs typeface="Arial"/>
              <a:sym typeface="Arial"/>
            </a:endParaRPr>
          </a:p>
          <a:p>
            <a:pPr indent="-216000" lvl="1" marL="432000" marR="0" rtl="0" algn="l">
              <a:lnSpc>
                <a:spcPct val="109444"/>
              </a:lnSpc>
              <a:spcBef>
                <a:spcPts val="0"/>
              </a:spcBef>
              <a:spcAft>
                <a:spcPts val="0"/>
              </a:spcAft>
              <a:buClr>
                <a:srgbClr val="FFFFFF"/>
              </a:buClr>
              <a:buSzPts val="810"/>
              <a:buFont typeface="Noto Sans Symbols"/>
              <a:buChar char="●"/>
            </a:pPr>
            <a:r>
              <a:rPr b="0" i="0" lang="en-US" sz="1800" u="none" cap="none" strike="noStrike">
                <a:solidFill>
                  <a:srgbClr val="F8F8FF"/>
                </a:solidFill>
                <a:latin typeface="Overpass"/>
                <a:ea typeface="Overpass"/>
                <a:cs typeface="Overpass"/>
                <a:sym typeface="Overpass"/>
              </a:rPr>
              <a:t>Can capture values of their definition scope.</a:t>
            </a:r>
            <a:endParaRPr b="0" i="0" sz="1800" u="none" cap="none" strike="noStrike">
              <a:solidFill>
                <a:srgbClr val="FFFFFF"/>
              </a:solidFill>
              <a:latin typeface="Arial"/>
              <a:ea typeface="Arial"/>
              <a:cs typeface="Arial"/>
              <a:sym typeface="Arial"/>
            </a:endParaRPr>
          </a:p>
          <a:p>
            <a:pPr indent="-216000" lvl="1" marL="432000" marR="0" rtl="0" algn="l">
              <a:lnSpc>
                <a:spcPct val="109444"/>
              </a:lnSpc>
              <a:spcBef>
                <a:spcPts val="0"/>
              </a:spcBef>
              <a:spcAft>
                <a:spcPts val="0"/>
              </a:spcAft>
              <a:buClr>
                <a:srgbClr val="FFFFFF"/>
              </a:buClr>
              <a:buSzPts val="810"/>
              <a:buFont typeface="Noto Sans Symbols"/>
              <a:buChar char="●"/>
            </a:pPr>
            <a:r>
              <a:rPr b="0" i="0" lang="en-US" sz="1800" u="none" cap="none" strike="noStrike">
                <a:solidFill>
                  <a:srgbClr val="F8F8FF"/>
                </a:solidFill>
                <a:latin typeface="Overpass"/>
                <a:ea typeface="Overpass"/>
                <a:cs typeface="Overpass"/>
                <a:sym typeface="Overpass"/>
              </a:rPr>
              <a:t>Example: count the number of times which an argument function is called.</a:t>
            </a:r>
            <a:endParaRPr b="0" i="0" sz="1800" u="none" cap="none" strike="noStrike">
              <a:solidFill>
                <a:srgbClr val="FFFFFF"/>
              </a:solidFill>
              <a:latin typeface="Arial"/>
              <a:ea typeface="Arial"/>
              <a:cs typeface="Arial"/>
              <a:sym typeface="Arial"/>
            </a:endParaRPr>
          </a:p>
        </p:txBody>
      </p:sp>
      <p:pic>
        <p:nvPicPr>
          <p:cNvPr id="582" name="Google Shape;582;p29"/>
          <p:cNvPicPr preferRelativeResize="0"/>
          <p:nvPr/>
        </p:nvPicPr>
        <p:blipFill rotWithShape="1">
          <a:blip r:embed="rId6">
            <a:alphaModFix/>
          </a:blip>
          <a:srcRect b="19860" l="7194" r="7805" t="28974"/>
          <a:stretch/>
        </p:blipFill>
        <p:spPr>
          <a:xfrm>
            <a:off x="217800" y="1600200"/>
            <a:ext cx="8744040" cy="205668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587" name="Shape 587"/>
        <p:cNvGrpSpPr/>
        <p:nvPr/>
      </p:nvGrpSpPr>
      <p:grpSpPr>
        <a:xfrm>
          <a:off x="0" y="0"/>
          <a:ext cx="0" cy="0"/>
          <a:chOff x="0" y="0"/>
          <a:chExt cx="0" cy="0"/>
        </a:xfrm>
      </p:grpSpPr>
      <p:sp>
        <p:nvSpPr>
          <p:cNvPr id="588" name="Google Shape;588;p30"/>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589" name="Google Shape;589;p30"/>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590" name="Google Shape;590;p30"/>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591" name="Google Shape;591;p30"/>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592" name="Google Shape;592;p30"/>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593" name="Google Shape;593;p30"/>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594" name="Google Shape;594;p30"/>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595" name="Google Shape;595;p30"/>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596" name="Google Shape;596;p30"/>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597" name="Google Shape;597;p30"/>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598" name="Google Shape;598;p30"/>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Anonymous functions</a:t>
            </a:r>
            <a:endParaRPr b="0" sz="4000" u="none" strike="noStrike">
              <a:solidFill>
                <a:srgbClr val="FFFFFF"/>
              </a:solidFill>
              <a:latin typeface="Arial"/>
              <a:ea typeface="Arial"/>
              <a:cs typeface="Arial"/>
              <a:sym typeface="Arial"/>
            </a:endParaRPr>
          </a:p>
        </p:txBody>
      </p:sp>
      <p:sp>
        <p:nvSpPr>
          <p:cNvPr id="599" name="Google Shape;599;p30"/>
          <p:cNvSpPr/>
          <p:nvPr/>
        </p:nvSpPr>
        <p:spPr>
          <a:xfrm>
            <a:off x="324000" y="3682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Anonymous functions are defined using the </a:t>
            </a:r>
            <a:r>
              <a:rPr b="1" lang="en-US" sz="1800" u="none" strike="noStrike">
                <a:solidFill>
                  <a:srgbClr val="F8F8FF"/>
                </a:solidFill>
                <a:latin typeface="Overpass"/>
                <a:ea typeface="Overpass"/>
                <a:cs typeface="Overpass"/>
                <a:sym typeface="Overpass"/>
              </a:rPr>
              <a:t>lam</a:t>
            </a:r>
            <a:r>
              <a:rPr b="0" lang="en-US" sz="1800" u="none" strike="noStrike">
                <a:solidFill>
                  <a:srgbClr val="F8F8FF"/>
                </a:solidFill>
                <a:latin typeface="Overpass"/>
                <a:ea typeface="Overpass"/>
                <a:cs typeface="Overpass"/>
                <a:sym typeface="Overpass"/>
              </a:rPr>
              <a:t> keyword.</a:t>
            </a:r>
            <a:endParaRPr b="0" sz="1800" u="none" strike="noStrike">
              <a:solidFill>
                <a:srgbClr val="FFFFFF"/>
              </a:solidFill>
              <a:latin typeface="Arial"/>
              <a:ea typeface="Arial"/>
              <a:cs typeface="Arial"/>
              <a:sym typeface="Arial"/>
            </a:endParaRPr>
          </a:p>
        </p:txBody>
      </p:sp>
      <p:pic>
        <p:nvPicPr>
          <p:cNvPr id="600" name="Google Shape;600;p30"/>
          <p:cNvPicPr preferRelativeResize="0"/>
          <p:nvPr/>
        </p:nvPicPr>
        <p:blipFill rotWithShape="1">
          <a:blip r:embed="rId6">
            <a:alphaModFix/>
          </a:blip>
          <a:srcRect b="19860" l="7194" r="7805" t="28974"/>
          <a:stretch/>
        </p:blipFill>
        <p:spPr>
          <a:xfrm>
            <a:off x="217800" y="1600200"/>
            <a:ext cx="8744040" cy="2056680"/>
          </a:xfrm>
          <a:prstGeom prst="rect">
            <a:avLst/>
          </a:prstGeom>
          <a:noFill/>
          <a:ln>
            <a:noFill/>
          </a:ln>
        </p:spPr>
      </p:pic>
      <p:sp>
        <p:nvSpPr>
          <p:cNvPr id="601" name="Google Shape;601;p30"/>
          <p:cNvSpPr/>
          <p:nvPr/>
        </p:nvSpPr>
        <p:spPr>
          <a:xfrm>
            <a:off x="5099400" y="2976120"/>
            <a:ext cx="3656520" cy="614880"/>
          </a:xfrm>
          <a:prstGeom prst="rect">
            <a:avLst/>
          </a:prstGeom>
          <a:noFill/>
          <a:ln>
            <a:noFill/>
          </a:ln>
        </p:spPr>
        <p:txBody>
          <a:bodyPr anchorCtr="0" anchor="ctr" bIns="45000" lIns="90000" spcFirstLastPara="1" rIns="90000" wrap="square" tIns="45000">
            <a:noAutofit/>
          </a:bodyPr>
          <a:lstStyle/>
          <a:p>
            <a:pPr indent="0" lvl="0" marL="0" marR="0" rtl="0" algn="ctr">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Anonymous function definition</a:t>
            </a:r>
            <a:endParaRPr b="0" sz="2200" u="none" strike="noStrike">
              <a:solidFill>
                <a:srgbClr val="FFFFFF"/>
              </a:solidFill>
              <a:latin typeface="Arial"/>
              <a:ea typeface="Arial"/>
              <a:cs typeface="Arial"/>
              <a:sym typeface="Arial"/>
            </a:endParaRPr>
          </a:p>
        </p:txBody>
      </p:sp>
      <p:cxnSp>
        <p:nvCxnSpPr>
          <p:cNvPr id="602" name="Google Shape;602;p30"/>
          <p:cNvCxnSpPr/>
          <p:nvPr/>
        </p:nvCxnSpPr>
        <p:spPr>
          <a:xfrm rot="10800000">
            <a:off x="2971800" y="2514600"/>
            <a:ext cx="2286000" cy="685800"/>
          </a:xfrm>
          <a:prstGeom prst="straightConnector1">
            <a:avLst/>
          </a:prstGeom>
          <a:noFill/>
          <a:ln cap="flat" cmpd="sng" w="36700">
            <a:solidFill>
              <a:srgbClr val="FFFFFF"/>
            </a:solidFill>
            <a:prstDash val="solid"/>
            <a:round/>
            <a:headEnd len="sm" w="sm" type="none"/>
            <a:tailEnd len="med" w="med" type="triangl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607" name="Shape 607"/>
        <p:cNvGrpSpPr/>
        <p:nvPr/>
      </p:nvGrpSpPr>
      <p:grpSpPr>
        <a:xfrm>
          <a:off x="0" y="0"/>
          <a:ext cx="0" cy="0"/>
          <a:chOff x="0" y="0"/>
          <a:chExt cx="0" cy="0"/>
        </a:xfrm>
      </p:grpSpPr>
      <p:sp>
        <p:nvSpPr>
          <p:cNvPr id="608" name="Google Shape;608;p31"/>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609" name="Google Shape;609;p31"/>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610" name="Google Shape;610;p31"/>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611" name="Google Shape;611;p31"/>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612" name="Google Shape;612;p31"/>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613" name="Google Shape;613;p31"/>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614" name="Google Shape;614;p31"/>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615" name="Google Shape;615;p31"/>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616" name="Google Shape;616;p31"/>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617" name="Google Shape;617;p31"/>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618" name="Google Shape;618;p31"/>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Anonymous functions</a:t>
            </a:r>
            <a:endParaRPr b="0" sz="4000" u="none" strike="noStrike">
              <a:solidFill>
                <a:srgbClr val="FFFFFF"/>
              </a:solidFill>
              <a:latin typeface="Arial"/>
              <a:ea typeface="Arial"/>
              <a:cs typeface="Arial"/>
              <a:sym typeface="Arial"/>
            </a:endParaRPr>
          </a:p>
        </p:txBody>
      </p:sp>
      <p:sp>
        <p:nvSpPr>
          <p:cNvPr id="619" name="Google Shape;619;p31"/>
          <p:cNvSpPr/>
          <p:nvPr/>
        </p:nvSpPr>
        <p:spPr>
          <a:xfrm>
            <a:off x="324000" y="3682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Anonymous functions are defined using the </a:t>
            </a:r>
            <a:r>
              <a:rPr b="1" lang="en-US" sz="1800" u="none" strike="noStrike">
                <a:solidFill>
                  <a:srgbClr val="F8F8FF"/>
                </a:solidFill>
                <a:latin typeface="Overpass"/>
                <a:ea typeface="Overpass"/>
                <a:cs typeface="Overpass"/>
                <a:sym typeface="Overpass"/>
              </a:rPr>
              <a:t>lam</a:t>
            </a:r>
            <a:r>
              <a:rPr b="0" lang="en-US" sz="1800" u="none" strike="noStrike">
                <a:solidFill>
                  <a:srgbClr val="F8F8FF"/>
                </a:solidFill>
                <a:latin typeface="Overpass"/>
                <a:ea typeface="Overpass"/>
                <a:cs typeface="Overpass"/>
                <a:sym typeface="Overpass"/>
              </a:rPr>
              <a:t> keyword.</a:t>
            </a:r>
            <a:endParaRPr b="0" sz="1800" u="none" strike="noStrike">
              <a:solidFill>
                <a:srgbClr val="FFFFFF"/>
              </a:solidFill>
              <a:latin typeface="Arial"/>
              <a:ea typeface="Arial"/>
              <a:cs typeface="Arial"/>
              <a:sym typeface="Arial"/>
            </a:endParaRPr>
          </a:p>
          <a:p>
            <a:pPr indent="-216000" lvl="1" marL="432000" marR="0" rtl="0" algn="l">
              <a:lnSpc>
                <a:spcPct val="109444"/>
              </a:lnSpc>
              <a:spcBef>
                <a:spcPts val="0"/>
              </a:spcBef>
              <a:spcAft>
                <a:spcPts val="0"/>
              </a:spcAft>
              <a:buClr>
                <a:srgbClr val="FFFFFF"/>
              </a:buClr>
              <a:buSzPts val="810"/>
              <a:buFont typeface="Noto Sans Symbols"/>
              <a:buChar char="●"/>
            </a:pPr>
            <a:r>
              <a:rPr b="0" i="0" lang="en-US" sz="1800" u="none" cap="none" strike="noStrike">
                <a:solidFill>
                  <a:srgbClr val="F8F8FF"/>
                </a:solidFill>
                <a:latin typeface="Overpass"/>
                <a:ea typeface="Overpass"/>
                <a:cs typeface="Overpass"/>
                <a:sym typeface="Overpass"/>
              </a:rPr>
              <a:t>Can capture values of their definition scope.</a:t>
            </a:r>
            <a:endParaRPr b="0" i="0" sz="1800" u="none" cap="none" strike="noStrike">
              <a:solidFill>
                <a:srgbClr val="FFFFFF"/>
              </a:solidFill>
              <a:latin typeface="Arial"/>
              <a:ea typeface="Arial"/>
              <a:cs typeface="Arial"/>
              <a:sym typeface="Arial"/>
            </a:endParaRPr>
          </a:p>
        </p:txBody>
      </p:sp>
      <p:pic>
        <p:nvPicPr>
          <p:cNvPr id="620" name="Google Shape;620;p31"/>
          <p:cNvPicPr preferRelativeResize="0"/>
          <p:nvPr/>
        </p:nvPicPr>
        <p:blipFill rotWithShape="1">
          <a:blip r:embed="rId6">
            <a:alphaModFix/>
          </a:blip>
          <a:srcRect b="19860" l="7194" r="7805" t="28974"/>
          <a:stretch/>
        </p:blipFill>
        <p:spPr>
          <a:xfrm>
            <a:off x="217800" y="1600200"/>
            <a:ext cx="8744040" cy="2056680"/>
          </a:xfrm>
          <a:prstGeom prst="rect">
            <a:avLst/>
          </a:prstGeom>
          <a:noFill/>
          <a:ln>
            <a:noFill/>
          </a:ln>
        </p:spPr>
      </p:pic>
      <p:sp>
        <p:nvSpPr>
          <p:cNvPr id="621" name="Google Shape;621;p31"/>
          <p:cNvSpPr/>
          <p:nvPr/>
        </p:nvSpPr>
        <p:spPr>
          <a:xfrm>
            <a:off x="5099400" y="2976120"/>
            <a:ext cx="3656520" cy="614880"/>
          </a:xfrm>
          <a:prstGeom prst="rect">
            <a:avLst/>
          </a:prstGeom>
          <a:noFill/>
          <a:ln>
            <a:noFill/>
          </a:ln>
        </p:spPr>
        <p:txBody>
          <a:bodyPr anchorCtr="0" anchor="ctr" bIns="45000" lIns="90000" spcFirstLastPara="1" rIns="90000" wrap="square" tIns="45000">
            <a:noAutofit/>
          </a:bodyPr>
          <a:lstStyle/>
          <a:p>
            <a:pPr indent="0" lvl="0" marL="0" marR="0" rtl="0" algn="ctr">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Captured value</a:t>
            </a:r>
            <a:endParaRPr b="0" sz="2200" u="none" strike="noStrike">
              <a:solidFill>
                <a:srgbClr val="FFFFFF"/>
              </a:solidFill>
              <a:latin typeface="Arial"/>
              <a:ea typeface="Arial"/>
              <a:cs typeface="Arial"/>
              <a:sym typeface="Arial"/>
            </a:endParaRPr>
          </a:p>
        </p:txBody>
      </p:sp>
      <p:cxnSp>
        <p:nvCxnSpPr>
          <p:cNvPr id="622" name="Google Shape;622;p31"/>
          <p:cNvCxnSpPr/>
          <p:nvPr/>
        </p:nvCxnSpPr>
        <p:spPr>
          <a:xfrm rot="10800000">
            <a:off x="2057400" y="2743200"/>
            <a:ext cx="3657600" cy="457200"/>
          </a:xfrm>
          <a:prstGeom prst="straightConnector1">
            <a:avLst/>
          </a:prstGeom>
          <a:noFill/>
          <a:ln cap="flat" cmpd="sng" w="36700">
            <a:solidFill>
              <a:srgbClr val="FFFFFF"/>
            </a:solidFill>
            <a:prstDash val="solid"/>
            <a:round/>
            <a:headEnd len="sm" w="sm"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627" name="Shape 627"/>
        <p:cNvGrpSpPr/>
        <p:nvPr/>
      </p:nvGrpSpPr>
      <p:grpSpPr>
        <a:xfrm>
          <a:off x="0" y="0"/>
          <a:ext cx="0" cy="0"/>
          <a:chOff x="0" y="0"/>
          <a:chExt cx="0" cy="0"/>
        </a:xfrm>
      </p:grpSpPr>
      <p:sp>
        <p:nvSpPr>
          <p:cNvPr id="628" name="Google Shape;628;p32"/>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629" name="Google Shape;629;p32"/>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630" name="Google Shape;630;p32"/>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631" name="Google Shape;631;p32"/>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632" name="Google Shape;632;p32"/>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633" name="Google Shape;633;p32"/>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634" name="Google Shape;634;p32"/>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635" name="Google Shape;635;p32"/>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636" name="Google Shape;636;p32"/>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637" name="Google Shape;637;p32"/>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638" name="Google Shape;638;p32"/>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High-order functions</a:t>
            </a:r>
            <a:endParaRPr b="0" sz="4000" u="none" strike="noStrike">
              <a:solidFill>
                <a:srgbClr val="FFFFFF"/>
              </a:solidFill>
              <a:latin typeface="Arial"/>
              <a:ea typeface="Arial"/>
              <a:cs typeface="Arial"/>
              <a:sym typeface="Arial"/>
            </a:endParaRPr>
          </a:p>
        </p:txBody>
      </p:sp>
      <p:sp>
        <p:nvSpPr>
          <p:cNvPr id="639" name="Google Shape;639;p32"/>
          <p:cNvSpPr/>
          <p:nvPr/>
        </p:nvSpPr>
        <p:spPr>
          <a:xfrm>
            <a:off x="324000" y="3862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Type (T) → U represents a function</a:t>
            </a:r>
            <a:endParaRPr b="0" sz="1800" u="none" strike="noStrike">
              <a:solidFill>
                <a:srgbClr val="FFFFFF"/>
              </a:solidFill>
              <a:latin typeface="Arial"/>
              <a:ea typeface="Arial"/>
              <a:cs typeface="Arial"/>
              <a:sym typeface="Arial"/>
            </a:endParaRPr>
          </a:p>
          <a:p>
            <a:pPr indent="-216000" lvl="1" marL="432000" marR="0" rtl="0" algn="l">
              <a:lnSpc>
                <a:spcPct val="109444"/>
              </a:lnSpc>
              <a:spcBef>
                <a:spcPts val="0"/>
              </a:spcBef>
              <a:spcAft>
                <a:spcPts val="0"/>
              </a:spcAft>
              <a:buClr>
                <a:srgbClr val="FFFFFF"/>
              </a:buClr>
              <a:buSzPts val="810"/>
              <a:buFont typeface="Noto Sans Symbols"/>
              <a:buChar char="●"/>
            </a:pPr>
            <a:r>
              <a:rPr b="0" i="0" lang="en-US" sz="1800" u="none" cap="none" strike="noStrike">
                <a:solidFill>
                  <a:srgbClr val="F8F8FF"/>
                </a:solidFill>
                <a:latin typeface="Overpass"/>
                <a:ea typeface="Overpass"/>
                <a:cs typeface="Overpass"/>
                <a:sym typeface="Overpass"/>
              </a:rPr>
              <a:t>That takes a value of type T as argument.</a:t>
            </a:r>
            <a:endParaRPr b="0" i="0" sz="1800" u="none" cap="none" strike="noStrike">
              <a:solidFill>
                <a:srgbClr val="FFFFFF"/>
              </a:solidFill>
              <a:latin typeface="Arial"/>
              <a:ea typeface="Arial"/>
              <a:cs typeface="Arial"/>
              <a:sym typeface="Arial"/>
            </a:endParaRPr>
          </a:p>
          <a:p>
            <a:pPr indent="-216000" lvl="1" marL="432000" marR="0" rtl="0" algn="l">
              <a:lnSpc>
                <a:spcPct val="109444"/>
              </a:lnSpc>
              <a:spcBef>
                <a:spcPts val="0"/>
              </a:spcBef>
              <a:spcAft>
                <a:spcPts val="0"/>
              </a:spcAft>
              <a:buClr>
                <a:srgbClr val="FFFFFF"/>
              </a:buClr>
              <a:buSzPts val="810"/>
              <a:buFont typeface="Noto Sans Symbols"/>
              <a:buChar char="●"/>
            </a:pPr>
            <a:r>
              <a:rPr b="0" i="0" lang="en-US" sz="1800" u="none" cap="none" strike="noStrike">
                <a:solidFill>
                  <a:srgbClr val="F8F8FF"/>
                </a:solidFill>
                <a:latin typeface="Overpass"/>
                <a:ea typeface="Overpass"/>
                <a:cs typeface="Overpass"/>
                <a:sym typeface="Overpass"/>
              </a:rPr>
              <a:t>Returns a value of type U.</a:t>
            </a:r>
            <a:endParaRPr b="0" i="0" sz="1800" u="none" cap="none" strike="noStrike">
              <a:solidFill>
                <a:srgbClr val="FFFFFF"/>
              </a:solidFill>
              <a:latin typeface="Arial"/>
              <a:ea typeface="Arial"/>
              <a:cs typeface="Arial"/>
              <a:sym typeface="Arial"/>
            </a:endParaRPr>
          </a:p>
        </p:txBody>
      </p:sp>
      <p:pic>
        <p:nvPicPr>
          <p:cNvPr id="640" name="Google Shape;640;p32"/>
          <p:cNvPicPr preferRelativeResize="0"/>
          <p:nvPr/>
        </p:nvPicPr>
        <p:blipFill rotWithShape="1">
          <a:blip r:embed="rId6">
            <a:alphaModFix/>
          </a:blip>
          <a:srcRect b="19860" l="7194" r="7805" t="28974"/>
          <a:stretch/>
        </p:blipFill>
        <p:spPr>
          <a:xfrm>
            <a:off x="217800" y="1600200"/>
            <a:ext cx="8744040" cy="2056680"/>
          </a:xfrm>
          <a:prstGeom prst="rect">
            <a:avLst/>
          </a:prstGeom>
          <a:noFill/>
          <a:ln>
            <a:noFill/>
          </a:ln>
        </p:spPr>
      </p:pic>
      <p:sp>
        <p:nvSpPr>
          <p:cNvPr id="641" name="Google Shape;641;p32"/>
          <p:cNvSpPr/>
          <p:nvPr/>
        </p:nvSpPr>
        <p:spPr>
          <a:xfrm>
            <a:off x="4055400" y="3084120"/>
            <a:ext cx="3656520" cy="614880"/>
          </a:xfrm>
          <a:prstGeom prst="rect">
            <a:avLst/>
          </a:prstGeom>
          <a:noFill/>
          <a:ln>
            <a:noFill/>
          </a:ln>
        </p:spPr>
        <p:txBody>
          <a:bodyPr anchorCtr="0" anchor="ctr" bIns="45000" lIns="90000" spcFirstLastPara="1" rIns="90000" wrap="square" tIns="45000">
            <a:noAutofit/>
          </a:bodyPr>
          <a:lstStyle/>
          <a:p>
            <a:pPr indent="0" lvl="0" marL="0" marR="0" rtl="0" algn="ctr">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Function type</a:t>
            </a:r>
            <a:endParaRPr b="0" sz="2200" u="none" strike="noStrike">
              <a:solidFill>
                <a:srgbClr val="FFFFFF"/>
              </a:solidFill>
              <a:latin typeface="Arial"/>
              <a:ea typeface="Arial"/>
              <a:cs typeface="Arial"/>
              <a:sym typeface="Arial"/>
            </a:endParaRPr>
          </a:p>
        </p:txBody>
      </p:sp>
      <p:cxnSp>
        <p:nvCxnSpPr>
          <p:cNvPr id="642" name="Google Shape;642;p32"/>
          <p:cNvCxnSpPr/>
          <p:nvPr/>
        </p:nvCxnSpPr>
        <p:spPr>
          <a:xfrm rot="10800000">
            <a:off x="5257800" y="2057400"/>
            <a:ext cx="457200" cy="1143000"/>
          </a:xfrm>
          <a:prstGeom prst="straightConnector1">
            <a:avLst/>
          </a:prstGeom>
          <a:noFill/>
          <a:ln cap="flat" cmpd="sng" w="36700">
            <a:solidFill>
              <a:srgbClr val="FFFFFF"/>
            </a:solidFill>
            <a:prstDash val="solid"/>
            <a:round/>
            <a:headEnd len="sm" w="sm" type="none"/>
            <a:tailEnd len="med" w="med" type="triangle"/>
          </a:ln>
        </p:spPr>
      </p:cxnSp>
      <p:cxnSp>
        <p:nvCxnSpPr>
          <p:cNvPr id="643" name="Google Shape;643;p32"/>
          <p:cNvCxnSpPr/>
          <p:nvPr/>
        </p:nvCxnSpPr>
        <p:spPr>
          <a:xfrm flipH="1" rot="10800000">
            <a:off x="6172200" y="2057400"/>
            <a:ext cx="1828800" cy="1143000"/>
          </a:xfrm>
          <a:prstGeom prst="straightConnector1">
            <a:avLst/>
          </a:prstGeom>
          <a:noFill/>
          <a:ln cap="flat" cmpd="sng" w="36700">
            <a:solidFill>
              <a:srgbClr val="FFFFFF"/>
            </a:solidFill>
            <a:prstDash val="solid"/>
            <a:round/>
            <a:headEnd len="sm" w="sm" type="none"/>
            <a:tailEnd len="med" w="med" type="triangl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648" name="Shape 648"/>
        <p:cNvGrpSpPr/>
        <p:nvPr/>
      </p:nvGrpSpPr>
      <p:grpSpPr>
        <a:xfrm>
          <a:off x="0" y="0"/>
          <a:ext cx="0" cy="0"/>
          <a:chOff x="0" y="0"/>
          <a:chExt cx="0" cy="0"/>
        </a:xfrm>
      </p:grpSpPr>
      <p:cxnSp>
        <p:nvCxnSpPr>
          <p:cNvPr id="649" name="Google Shape;649;p33"/>
          <p:cNvCxnSpPr/>
          <p:nvPr/>
        </p:nvCxnSpPr>
        <p:spPr>
          <a:xfrm>
            <a:off x="4572000" y="0"/>
            <a:ext cx="360" cy="5143320"/>
          </a:xfrm>
          <a:prstGeom prst="straightConnector1">
            <a:avLst/>
          </a:prstGeom>
          <a:noFill/>
          <a:ln cap="flat" cmpd="sng" w="12700">
            <a:solidFill>
              <a:srgbClr val="2B247C">
                <a:alpha val="20000"/>
              </a:srgbClr>
            </a:solidFill>
            <a:prstDash val="solid"/>
            <a:round/>
            <a:headEnd len="sm" w="sm" type="none"/>
            <a:tailEnd len="sm" w="sm" type="none"/>
          </a:ln>
        </p:spPr>
      </p:cxnSp>
      <p:cxnSp>
        <p:nvCxnSpPr>
          <p:cNvPr id="650" name="Google Shape;650;p33"/>
          <p:cNvCxnSpPr/>
          <p:nvPr/>
        </p:nvCxnSpPr>
        <p:spPr>
          <a:xfrm>
            <a:off x="4572000" y="0"/>
            <a:ext cx="360" cy="5143320"/>
          </a:xfrm>
          <a:prstGeom prst="straightConnector1">
            <a:avLst/>
          </a:prstGeom>
          <a:noFill/>
          <a:ln cap="flat" cmpd="sng" w="12700">
            <a:solidFill>
              <a:srgbClr val="D2D2FF">
                <a:alpha val="20000"/>
              </a:srgbClr>
            </a:solidFill>
            <a:prstDash val="solid"/>
            <a:round/>
            <a:headEnd len="sm" w="sm" type="none"/>
            <a:tailEnd len="sm" w="sm" type="none"/>
          </a:ln>
        </p:spPr>
      </p:cxnSp>
      <p:sp>
        <p:nvSpPr>
          <p:cNvPr id="651" name="Google Shape;651;p33"/>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652" name="Google Shape;652;p33"/>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653" name="Google Shape;653;p33"/>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654" name="Google Shape;654;p33"/>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655" name="Google Shape;655;p33"/>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656" name="Google Shape;656;p33"/>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657" name="Google Shape;657;p33"/>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658" name="Google Shape;658;p33"/>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659" name="Google Shape;659;p33"/>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660" name="Google Shape;660;p33"/>
          <p:cNvSpPr/>
          <p:nvPr/>
        </p:nvSpPr>
        <p:spPr>
          <a:xfrm>
            <a:off x="476280" y="380880"/>
            <a:ext cx="388188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8F8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661" name="Google Shape;661;p33"/>
          <p:cNvSpPr/>
          <p:nvPr/>
        </p:nvSpPr>
        <p:spPr>
          <a:xfrm>
            <a:off x="-228600" y="1781280"/>
            <a:ext cx="4797720" cy="1576800"/>
          </a:xfrm>
          <a:prstGeom prst="rect">
            <a:avLst/>
          </a:prstGeom>
          <a:noFill/>
          <a:ln>
            <a:noFill/>
          </a:ln>
        </p:spPr>
        <p:txBody>
          <a:bodyPr anchorCtr="0" anchor="ctr" bIns="45000" lIns="90000" spcFirstLastPara="1" rIns="90000" wrap="square" tIns="45000">
            <a:noAutofit/>
          </a:bodyPr>
          <a:lstStyle/>
          <a:p>
            <a:pPr indent="0" lvl="0" marL="0" marR="0" rtl="0" algn="ctr">
              <a:lnSpc>
                <a:spcPct val="78025"/>
              </a:lnSpc>
              <a:spcBef>
                <a:spcPts val="0"/>
              </a:spcBef>
              <a:spcAft>
                <a:spcPts val="0"/>
              </a:spcAft>
              <a:buNone/>
            </a:pPr>
            <a:r>
              <a:rPr b="0" lang="en-US" sz="4000" u="none" strike="noStrike">
                <a:solidFill>
                  <a:srgbClr val="FFFFFF"/>
                </a:solidFill>
                <a:latin typeface="Overpass Mono"/>
                <a:ea typeface="Overpass Mono"/>
                <a:cs typeface="Overpass Mono"/>
                <a:sym typeface="Overpass Mono"/>
              </a:rPr>
              <a:t>Type inference</a:t>
            </a:r>
            <a:endParaRPr b="0" sz="4000" u="none" strike="noStrike">
              <a:solidFill>
                <a:srgbClr val="FFFFFF"/>
              </a:solidFill>
              <a:latin typeface="Arial"/>
              <a:ea typeface="Arial"/>
              <a:cs typeface="Arial"/>
              <a:sym typeface="Arial"/>
            </a:endParaRPr>
          </a:p>
        </p:txBody>
      </p:sp>
      <p:sp>
        <p:nvSpPr>
          <p:cNvPr id="662" name="Google Shape;662;p33"/>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343080" lvl="0" marL="343080" marR="0" rtl="0" algn="l">
              <a:lnSpc>
                <a:spcPct val="124683"/>
              </a:lnSpc>
              <a:spcBef>
                <a:spcPts val="0"/>
              </a:spcBef>
              <a:spcAft>
                <a:spcPts val="0"/>
              </a:spcAft>
              <a:buClr>
                <a:srgbClr val="F8F8FF"/>
              </a:buClr>
              <a:buSzPts val="1580"/>
              <a:buFont typeface="Calibri"/>
              <a:buAutoNum type="arabicPeriod"/>
            </a:pPr>
            <a:r>
              <a:rPr b="0" lang="en-US" sz="1580" u="none" strike="noStrike">
                <a:solidFill>
                  <a:srgbClr val="F8F8FF"/>
                </a:solidFill>
                <a:latin typeface="Overpass"/>
                <a:ea typeface="Overpass"/>
                <a:cs typeface="Overpass"/>
                <a:sym typeface="Overpass"/>
              </a:rPr>
              <a:t>Core Solidity infers types in functions and local variables.</a:t>
            </a:r>
            <a:endParaRPr b="0" sz="1580" u="none" strike="noStrike">
              <a:solidFill>
                <a:srgbClr val="FFFFFF"/>
              </a:solidFill>
              <a:latin typeface="Arial"/>
              <a:ea typeface="Arial"/>
              <a:cs typeface="Arial"/>
              <a:sym typeface="Arial"/>
            </a:endParaRPr>
          </a:p>
          <a:p>
            <a:pPr indent="0" lvl="0" marL="0" marR="0" rtl="0" algn="l">
              <a:lnSpc>
                <a:spcPct val="124683"/>
              </a:lnSpc>
              <a:spcBef>
                <a:spcPts val="0"/>
              </a:spcBef>
              <a:spcAft>
                <a:spcPts val="0"/>
              </a:spcAft>
              <a:buNone/>
            </a:pPr>
            <a:r>
              <a:t/>
            </a:r>
            <a:endParaRPr b="0" sz="1580" u="none" strike="noStrike">
              <a:solidFill>
                <a:srgbClr val="FFFFFF"/>
              </a:solidFill>
              <a:latin typeface="Arial"/>
              <a:ea typeface="Arial"/>
              <a:cs typeface="Arial"/>
              <a:sym typeface="Arial"/>
            </a:endParaRPr>
          </a:p>
          <a:p>
            <a:pPr indent="-343080" lvl="0" marL="343080" marR="0" rtl="0" algn="l">
              <a:lnSpc>
                <a:spcPct val="124683"/>
              </a:lnSpc>
              <a:spcBef>
                <a:spcPts val="0"/>
              </a:spcBef>
              <a:spcAft>
                <a:spcPts val="0"/>
              </a:spcAft>
              <a:buClr>
                <a:srgbClr val="F8F8FF"/>
              </a:buClr>
              <a:buSzPts val="1580"/>
              <a:buFont typeface="Calibri"/>
              <a:buAutoNum type="arabicPeriod"/>
            </a:pPr>
            <a:r>
              <a:rPr b="0" lang="en-US" sz="1580" u="none" strike="noStrike">
                <a:solidFill>
                  <a:srgbClr val="F8F8FF"/>
                </a:solidFill>
                <a:latin typeface="Overpass"/>
                <a:ea typeface="Overpass"/>
                <a:cs typeface="Overpass"/>
                <a:sym typeface="Overpass"/>
              </a:rPr>
              <a:t>Annotations are required only to solve ambiguities.</a:t>
            </a:r>
            <a:endParaRPr b="0" sz="1580" u="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Occur in very rare situations.</a:t>
            </a:r>
            <a:endParaRPr b="0" i="0" sz="1580" u="none" cap="none" strike="noStrike">
              <a:solidFill>
                <a:srgbClr val="FFFFFF"/>
              </a:solidFill>
              <a:latin typeface="Arial"/>
              <a:ea typeface="Arial"/>
              <a:cs typeface="Arial"/>
              <a:sym typeface="Arial"/>
            </a:endParaRPr>
          </a:p>
          <a:p>
            <a:pPr indent="0" lvl="0" marL="0" marR="0" rtl="0" algn="l">
              <a:lnSpc>
                <a:spcPct val="124683"/>
              </a:lnSpc>
              <a:spcBef>
                <a:spcPts val="0"/>
              </a:spcBef>
              <a:spcAft>
                <a:spcPts val="0"/>
              </a:spcAft>
              <a:buNone/>
            </a:pPr>
            <a:r>
              <a:t/>
            </a:r>
            <a:endParaRPr b="0" sz="1580" u="none" strike="noStrike">
              <a:solidFill>
                <a:srgbClr val="FFFFFF"/>
              </a:solidFill>
              <a:latin typeface="Arial"/>
              <a:ea typeface="Arial"/>
              <a:cs typeface="Arial"/>
              <a:sym typeface="Arial"/>
            </a:endParaRPr>
          </a:p>
          <a:p>
            <a:pPr indent="-343080" lvl="0" marL="343080" marR="0" rtl="0" algn="l">
              <a:lnSpc>
                <a:spcPct val="124683"/>
              </a:lnSpc>
              <a:spcBef>
                <a:spcPts val="0"/>
              </a:spcBef>
              <a:spcAft>
                <a:spcPts val="0"/>
              </a:spcAft>
              <a:buClr>
                <a:srgbClr val="F8F8FF"/>
              </a:buClr>
              <a:buSzPts val="1580"/>
              <a:buFont typeface="Calibri"/>
              <a:buAutoNum type="arabicPeriod"/>
            </a:pPr>
            <a:r>
              <a:rPr b="0" lang="en-US" sz="1580" u="none" strike="noStrike">
                <a:solidFill>
                  <a:srgbClr val="F8F8FF"/>
                </a:solidFill>
                <a:latin typeface="Overpass"/>
                <a:ea typeface="Overpass"/>
                <a:cs typeface="Overpass"/>
                <a:sym typeface="Overpass"/>
              </a:rPr>
              <a:t>Can help readability by omitting unnecessary type annotations.</a:t>
            </a:r>
            <a:endParaRPr b="0" sz="1580" u="none" strike="noStrike">
              <a:solidFill>
                <a:srgbClr val="FFFFFF"/>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667" name="Shape 667"/>
        <p:cNvGrpSpPr/>
        <p:nvPr/>
      </p:nvGrpSpPr>
      <p:grpSpPr>
        <a:xfrm>
          <a:off x="0" y="0"/>
          <a:ext cx="0" cy="0"/>
          <a:chOff x="0" y="0"/>
          <a:chExt cx="0" cy="0"/>
        </a:xfrm>
      </p:grpSpPr>
      <p:sp>
        <p:nvSpPr>
          <p:cNvPr id="668" name="Google Shape;668;p34"/>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669" name="Google Shape;669;p34"/>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670" name="Google Shape;670;p34"/>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671" name="Google Shape;671;p34"/>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672" name="Google Shape;672;p34"/>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673" name="Google Shape;673;p34"/>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674" name="Google Shape;674;p34"/>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675" name="Google Shape;675;p34"/>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676" name="Google Shape;676;p34"/>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677" name="Google Shape;677;p34"/>
          <p:cNvSpPr/>
          <p:nvPr/>
        </p:nvSpPr>
        <p:spPr>
          <a:xfrm>
            <a:off x="440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678" name="Google Shape;678;p34"/>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Type inference</a:t>
            </a:r>
            <a:endParaRPr b="0" sz="4000" u="none" strike="noStrike">
              <a:solidFill>
                <a:srgbClr val="FFFFFF"/>
              </a:solidFill>
              <a:latin typeface="Arial"/>
              <a:ea typeface="Arial"/>
              <a:cs typeface="Arial"/>
              <a:sym typeface="Arial"/>
            </a:endParaRPr>
          </a:p>
        </p:txBody>
      </p:sp>
      <p:sp>
        <p:nvSpPr>
          <p:cNvPr id="679" name="Google Shape;679;p34"/>
          <p:cNvSpPr/>
          <p:nvPr/>
        </p:nvSpPr>
        <p:spPr>
          <a:xfrm>
            <a:off x="324000" y="3502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Consider this simple Classic Solidity definition.</a:t>
            </a:r>
            <a:endParaRPr b="0" sz="1800" u="none" strike="noStrike">
              <a:solidFill>
                <a:srgbClr val="FFFFFF"/>
              </a:solidFill>
              <a:latin typeface="Arial"/>
              <a:ea typeface="Arial"/>
              <a:cs typeface="Arial"/>
              <a:sym typeface="Arial"/>
            </a:endParaRPr>
          </a:p>
        </p:txBody>
      </p:sp>
      <p:sp>
        <p:nvSpPr>
          <p:cNvPr id="680" name="Google Shape;680;p34"/>
          <p:cNvSpPr/>
          <p:nvPr/>
        </p:nvSpPr>
        <p:spPr>
          <a:xfrm>
            <a:off x="5099400" y="2976120"/>
            <a:ext cx="3656520" cy="614880"/>
          </a:xfrm>
          <a:prstGeom prst="rect">
            <a:avLst/>
          </a:prstGeom>
          <a:noFill/>
          <a:ln>
            <a:noFill/>
          </a:ln>
        </p:spPr>
        <p:txBody>
          <a:bodyPr anchorCtr="0" anchor="ctr" bIns="45000" lIns="90000" spcFirstLastPara="1" rIns="90000" wrap="square" tIns="45000">
            <a:noAutofit/>
          </a:bodyPr>
          <a:lstStyle/>
          <a:p>
            <a:pPr indent="0" lvl="0" marL="0" marR="0" rtl="0" algn="ctr">
              <a:lnSpc>
                <a:spcPct val="109444"/>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id="681" name="Google Shape;681;p34"/>
          <p:cNvPicPr preferRelativeResize="0"/>
          <p:nvPr/>
        </p:nvPicPr>
        <p:blipFill rotWithShape="1">
          <a:blip r:embed="rId6">
            <a:alphaModFix/>
          </a:blip>
          <a:srcRect b="41694" l="16198" r="15225" t="47534"/>
          <a:stretch/>
        </p:blipFill>
        <p:spPr>
          <a:xfrm>
            <a:off x="412200" y="1998000"/>
            <a:ext cx="5485320" cy="45612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686" name="Shape 686"/>
        <p:cNvGrpSpPr/>
        <p:nvPr/>
      </p:nvGrpSpPr>
      <p:grpSpPr>
        <a:xfrm>
          <a:off x="0" y="0"/>
          <a:ext cx="0" cy="0"/>
          <a:chOff x="0" y="0"/>
          <a:chExt cx="0" cy="0"/>
        </a:xfrm>
      </p:grpSpPr>
      <p:sp>
        <p:nvSpPr>
          <p:cNvPr id="687" name="Google Shape;687;p35"/>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688" name="Google Shape;688;p35"/>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689" name="Google Shape;689;p35"/>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690" name="Google Shape;690;p35"/>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691" name="Google Shape;691;p35"/>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692" name="Google Shape;692;p35"/>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693" name="Google Shape;693;p35"/>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694" name="Google Shape;694;p35"/>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695" name="Google Shape;695;p35"/>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696" name="Google Shape;696;p35"/>
          <p:cNvSpPr/>
          <p:nvPr/>
        </p:nvSpPr>
        <p:spPr>
          <a:xfrm>
            <a:off x="368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697" name="Google Shape;697;p35"/>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Type inference</a:t>
            </a:r>
            <a:endParaRPr b="0" sz="4000" u="none" strike="noStrike">
              <a:solidFill>
                <a:srgbClr val="FFFFFF"/>
              </a:solidFill>
              <a:latin typeface="Arial"/>
              <a:ea typeface="Arial"/>
              <a:cs typeface="Arial"/>
              <a:sym typeface="Arial"/>
            </a:endParaRPr>
          </a:p>
        </p:txBody>
      </p:sp>
      <p:sp>
        <p:nvSpPr>
          <p:cNvPr id="698" name="Google Shape;698;p35"/>
          <p:cNvSpPr/>
          <p:nvPr/>
        </p:nvSpPr>
        <p:spPr>
          <a:xfrm>
            <a:off x="324000" y="3250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It is rejected with the following error message:</a:t>
            </a:r>
            <a:endParaRPr b="0" sz="1800" u="none" strike="noStrike">
              <a:solidFill>
                <a:srgbClr val="FFFFFF"/>
              </a:solidFill>
              <a:latin typeface="Arial"/>
              <a:ea typeface="Arial"/>
              <a:cs typeface="Arial"/>
              <a:sym typeface="Arial"/>
            </a:endParaRPr>
          </a:p>
          <a:p>
            <a:pPr indent="0" lvl="0" marL="0" marR="0" rtl="0" algn="l">
              <a:lnSpc>
                <a:spcPct val="109444"/>
              </a:lnSpc>
              <a:spcBef>
                <a:spcPts val="0"/>
              </a:spcBef>
              <a:spcAft>
                <a:spcPts val="0"/>
              </a:spcAft>
              <a:buNone/>
            </a:pPr>
            <a:r>
              <a:t/>
            </a:r>
            <a:endParaRPr b="0" sz="1800" u="none" strike="noStrike">
              <a:solidFill>
                <a:srgbClr val="FFFFFF"/>
              </a:solidFill>
              <a:latin typeface="Arial"/>
              <a:ea typeface="Arial"/>
              <a:cs typeface="Arial"/>
              <a:sym typeface="Arial"/>
            </a:endParaRPr>
          </a:p>
          <a:p>
            <a:pPr indent="0" lvl="0" marL="0" marR="0" rtl="0" algn="l">
              <a:lnSpc>
                <a:spcPct val="109444"/>
              </a:lnSpc>
              <a:spcBef>
                <a:spcPts val="0"/>
              </a:spcBef>
              <a:spcAft>
                <a:spcPts val="0"/>
              </a:spcAft>
              <a:buNone/>
            </a:pPr>
            <a:r>
              <a:rPr b="0" lang="en-US" sz="1800" u="none" strike="noStrike">
                <a:solidFill>
                  <a:srgbClr val="F8F8FF"/>
                </a:solidFill>
                <a:latin typeface="Overpass"/>
                <a:ea typeface="Overpass"/>
                <a:cs typeface="Overpass"/>
                <a:sym typeface="Overpass"/>
              </a:rPr>
              <a:t>Error: Type uint8[3] is not implicitly convertible to type uint256[3].</a:t>
            </a:r>
            <a:endParaRPr b="0" sz="1800" u="none" strike="noStrike">
              <a:solidFill>
                <a:srgbClr val="FFFFFF"/>
              </a:solidFill>
              <a:latin typeface="Arial"/>
              <a:ea typeface="Arial"/>
              <a:cs typeface="Arial"/>
              <a:sym typeface="Arial"/>
            </a:endParaRPr>
          </a:p>
          <a:p>
            <a:pPr indent="0" lvl="0" marL="0" marR="0" rtl="0" algn="l">
              <a:lnSpc>
                <a:spcPct val="109444"/>
              </a:lnSpc>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699" name="Google Shape;699;p35"/>
          <p:cNvSpPr/>
          <p:nvPr/>
        </p:nvSpPr>
        <p:spPr>
          <a:xfrm>
            <a:off x="5099400" y="2976120"/>
            <a:ext cx="365652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id="700" name="Google Shape;700;p35"/>
          <p:cNvPicPr preferRelativeResize="0"/>
          <p:nvPr/>
        </p:nvPicPr>
        <p:blipFill rotWithShape="1">
          <a:blip r:embed="rId6">
            <a:alphaModFix/>
          </a:blip>
          <a:srcRect b="41694" l="16198" r="15225" t="47534"/>
          <a:stretch/>
        </p:blipFill>
        <p:spPr>
          <a:xfrm>
            <a:off x="412200" y="1998000"/>
            <a:ext cx="5485320" cy="45612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705" name="Shape 705"/>
        <p:cNvGrpSpPr/>
        <p:nvPr/>
      </p:nvGrpSpPr>
      <p:grpSpPr>
        <a:xfrm>
          <a:off x="0" y="0"/>
          <a:ext cx="0" cy="0"/>
          <a:chOff x="0" y="0"/>
          <a:chExt cx="0" cy="0"/>
        </a:xfrm>
      </p:grpSpPr>
      <p:sp>
        <p:nvSpPr>
          <p:cNvPr id="706" name="Google Shape;706;p36"/>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707" name="Google Shape;707;p36"/>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708" name="Google Shape;708;p36"/>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709" name="Google Shape;709;p36"/>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710" name="Google Shape;710;p36"/>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711" name="Google Shape;711;p36"/>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712" name="Google Shape;712;p36"/>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713" name="Google Shape;713;p36"/>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714" name="Google Shape;714;p36"/>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715" name="Google Shape;715;p36"/>
          <p:cNvSpPr/>
          <p:nvPr/>
        </p:nvSpPr>
        <p:spPr>
          <a:xfrm>
            <a:off x="368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716" name="Google Shape;716;p36"/>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Type inference</a:t>
            </a:r>
            <a:endParaRPr b="0" sz="4000" u="none" strike="noStrike">
              <a:solidFill>
                <a:srgbClr val="FFFFFF"/>
              </a:solidFill>
              <a:latin typeface="Arial"/>
              <a:ea typeface="Arial"/>
              <a:cs typeface="Arial"/>
              <a:sym typeface="Arial"/>
            </a:endParaRPr>
          </a:p>
        </p:txBody>
      </p:sp>
      <p:sp>
        <p:nvSpPr>
          <p:cNvPr id="717" name="Google Shape;717;p36"/>
          <p:cNvSpPr/>
          <p:nvPr/>
        </p:nvSpPr>
        <p:spPr>
          <a:xfrm>
            <a:off x="36000" y="3250800"/>
            <a:ext cx="904824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Classic Solidity has a limited support for  </a:t>
            </a:r>
            <a:r>
              <a:rPr lang="en-US" sz="1800">
                <a:solidFill>
                  <a:srgbClr val="F8F8FF"/>
                </a:solidFill>
                <a:latin typeface="Overpass"/>
                <a:ea typeface="Overpass"/>
                <a:cs typeface="Overpass"/>
                <a:sym typeface="Overpass"/>
              </a:rPr>
              <a:t>inferring</a:t>
            </a:r>
            <a:r>
              <a:rPr b="0" lang="en-US" sz="1800" u="none" strike="noStrike">
                <a:solidFill>
                  <a:srgbClr val="F8F8FF"/>
                </a:solidFill>
                <a:latin typeface="Overpass"/>
                <a:ea typeface="Overpass"/>
                <a:cs typeface="Overpass"/>
                <a:sym typeface="Overpass"/>
              </a:rPr>
              <a:t> the type of array literals. </a:t>
            </a:r>
            <a:endParaRPr b="0" sz="1800" u="none" strike="noStrike">
              <a:solidFill>
                <a:srgbClr val="FFFFFF"/>
              </a:solidFill>
              <a:latin typeface="Arial"/>
              <a:ea typeface="Arial"/>
              <a:cs typeface="Arial"/>
              <a:sym typeface="Arial"/>
            </a:endParaRPr>
          </a:p>
          <a:p>
            <a:pPr indent="-216000" lvl="1" marL="432000" marR="0" rtl="0" algn="l">
              <a:lnSpc>
                <a:spcPct val="109444"/>
              </a:lnSpc>
              <a:spcBef>
                <a:spcPts val="0"/>
              </a:spcBef>
              <a:spcAft>
                <a:spcPts val="0"/>
              </a:spcAft>
              <a:buClr>
                <a:srgbClr val="FFFFFF"/>
              </a:buClr>
              <a:buSzPts val="810"/>
              <a:buFont typeface="Noto Sans Symbols"/>
              <a:buChar char="●"/>
            </a:pPr>
            <a:r>
              <a:rPr b="0" i="0" lang="en-US" sz="1800" u="none" cap="none" strike="noStrike">
                <a:solidFill>
                  <a:srgbClr val="F8F8FF"/>
                </a:solidFill>
                <a:latin typeface="Overpass"/>
                <a:ea typeface="Overpass"/>
                <a:cs typeface="Overpass"/>
                <a:sym typeface="Overpass"/>
              </a:rPr>
              <a:t>Elements have the type of the first expression such that all other elements can be casted to it.</a:t>
            </a:r>
            <a:endParaRPr b="0" i="0" sz="1800" u="none" cap="none" strike="noStrike">
              <a:solidFill>
                <a:srgbClr val="FFFFFF"/>
              </a:solidFill>
              <a:latin typeface="Arial"/>
              <a:ea typeface="Arial"/>
              <a:cs typeface="Arial"/>
              <a:sym typeface="Arial"/>
            </a:endParaRPr>
          </a:p>
          <a:p>
            <a:pPr indent="-216000" lvl="0" marL="216000" marR="0" rtl="0" algn="l">
              <a:lnSpc>
                <a:spcPct val="109444"/>
              </a:lnSpc>
              <a:spcBef>
                <a:spcPts val="0"/>
              </a:spcBef>
              <a:spcAft>
                <a:spcPts val="0"/>
              </a:spcAft>
              <a:buClr>
                <a:srgbClr val="FFFFFF"/>
              </a:buClr>
              <a:buSzPts val="810"/>
              <a:buFont typeface="Noto Sans Symbols"/>
              <a:buChar char="●"/>
            </a:pPr>
            <a:r>
              <a:rPr lang="en-US" sz="1800">
                <a:solidFill>
                  <a:srgbClr val="F8F8FF"/>
                </a:solidFill>
                <a:latin typeface="Overpass"/>
                <a:ea typeface="Overpass"/>
                <a:cs typeface="Overpass"/>
                <a:sym typeface="Overpass"/>
              </a:rPr>
              <a:t>Inferred</a:t>
            </a:r>
            <a:r>
              <a:rPr b="0" lang="en-US" sz="1800" u="none" strike="noStrike">
                <a:solidFill>
                  <a:srgbClr val="F8F8FF"/>
                </a:solidFill>
                <a:latin typeface="Overpass"/>
                <a:ea typeface="Overpass"/>
                <a:cs typeface="Overpass"/>
                <a:sym typeface="Overpass"/>
              </a:rPr>
              <a:t> type for the first element: uint8</a:t>
            </a:r>
            <a:endParaRPr b="0" sz="1800" u="none" strike="noStrike">
              <a:solidFill>
                <a:srgbClr val="FFFFFF"/>
              </a:solidFill>
              <a:latin typeface="Arial"/>
              <a:ea typeface="Arial"/>
              <a:cs typeface="Arial"/>
              <a:sym typeface="Arial"/>
            </a:endParaRPr>
          </a:p>
        </p:txBody>
      </p:sp>
      <p:sp>
        <p:nvSpPr>
          <p:cNvPr id="718" name="Google Shape;718;p36"/>
          <p:cNvSpPr/>
          <p:nvPr/>
        </p:nvSpPr>
        <p:spPr>
          <a:xfrm>
            <a:off x="5099400" y="2976120"/>
            <a:ext cx="365652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id="719" name="Google Shape;719;p36"/>
          <p:cNvPicPr preferRelativeResize="0"/>
          <p:nvPr/>
        </p:nvPicPr>
        <p:blipFill rotWithShape="1">
          <a:blip r:embed="rId6">
            <a:alphaModFix/>
          </a:blip>
          <a:srcRect b="41694" l="16198" r="15225" t="47534"/>
          <a:stretch/>
        </p:blipFill>
        <p:spPr>
          <a:xfrm>
            <a:off x="412200" y="1998000"/>
            <a:ext cx="5485320" cy="45612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724" name="Shape 724"/>
        <p:cNvGrpSpPr/>
        <p:nvPr/>
      </p:nvGrpSpPr>
      <p:grpSpPr>
        <a:xfrm>
          <a:off x="0" y="0"/>
          <a:ext cx="0" cy="0"/>
          <a:chOff x="0" y="0"/>
          <a:chExt cx="0" cy="0"/>
        </a:xfrm>
      </p:grpSpPr>
      <p:sp>
        <p:nvSpPr>
          <p:cNvPr id="725" name="Google Shape;725;p37"/>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726" name="Google Shape;726;p37"/>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727" name="Google Shape;727;p37"/>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728" name="Google Shape;728;p37"/>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729" name="Google Shape;729;p37"/>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730" name="Google Shape;730;p37"/>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731" name="Google Shape;731;p37"/>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732" name="Google Shape;732;p37"/>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733" name="Google Shape;733;p37"/>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734" name="Google Shape;734;p37"/>
          <p:cNvSpPr/>
          <p:nvPr/>
        </p:nvSpPr>
        <p:spPr>
          <a:xfrm>
            <a:off x="368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735" name="Google Shape;735;p37"/>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Type inference</a:t>
            </a:r>
            <a:endParaRPr b="0" sz="4000" u="none" strike="noStrike">
              <a:solidFill>
                <a:srgbClr val="FFFFFF"/>
              </a:solidFill>
              <a:latin typeface="Arial"/>
              <a:ea typeface="Arial"/>
              <a:cs typeface="Arial"/>
              <a:sym typeface="Arial"/>
            </a:endParaRPr>
          </a:p>
        </p:txBody>
      </p:sp>
      <p:sp>
        <p:nvSpPr>
          <p:cNvPr id="736" name="Google Shape;736;p37"/>
          <p:cNvSpPr/>
          <p:nvPr/>
        </p:nvSpPr>
        <p:spPr>
          <a:xfrm>
            <a:off x="324000" y="3250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Solution: use a type coercion on the first array element.</a:t>
            </a:r>
            <a:endParaRPr b="0" sz="1800" u="none" strike="noStrike">
              <a:solidFill>
                <a:srgbClr val="FFFFFF"/>
              </a:solidFill>
              <a:latin typeface="Arial"/>
              <a:ea typeface="Arial"/>
              <a:cs typeface="Arial"/>
              <a:sym typeface="Arial"/>
            </a:endParaRPr>
          </a:p>
        </p:txBody>
      </p:sp>
      <p:sp>
        <p:nvSpPr>
          <p:cNvPr id="737" name="Google Shape;737;p37"/>
          <p:cNvSpPr/>
          <p:nvPr/>
        </p:nvSpPr>
        <p:spPr>
          <a:xfrm>
            <a:off x="5099400" y="2976120"/>
            <a:ext cx="365652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id="738" name="Google Shape;738;p37"/>
          <p:cNvPicPr preferRelativeResize="0"/>
          <p:nvPr/>
        </p:nvPicPr>
        <p:blipFill rotWithShape="1">
          <a:blip r:embed="rId6">
            <a:alphaModFix/>
          </a:blip>
          <a:srcRect b="32952" l="12195" r="15297" t="42095"/>
          <a:stretch/>
        </p:blipFill>
        <p:spPr>
          <a:xfrm>
            <a:off x="243000" y="1710000"/>
            <a:ext cx="6628680" cy="96408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743" name="Shape 743"/>
        <p:cNvGrpSpPr/>
        <p:nvPr/>
      </p:nvGrpSpPr>
      <p:grpSpPr>
        <a:xfrm>
          <a:off x="0" y="0"/>
          <a:ext cx="0" cy="0"/>
          <a:chOff x="0" y="0"/>
          <a:chExt cx="0" cy="0"/>
        </a:xfrm>
      </p:grpSpPr>
      <p:sp>
        <p:nvSpPr>
          <p:cNvPr id="744" name="Google Shape;744;p38"/>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745" name="Google Shape;745;p38"/>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746" name="Google Shape;746;p38"/>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747" name="Google Shape;747;p38"/>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748" name="Google Shape;748;p38"/>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749" name="Google Shape;749;p38"/>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750" name="Google Shape;750;p38"/>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751" name="Google Shape;751;p38"/>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752" name="Google Shape;752;p38"/>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753" name="Google Shape;753;p38"/>
          <p:cNvSpPr/>
          <p:nvPr/>
        </p:nvSpPr>
        <p:spPr>
          <a:xfrm>
            <a:off x="368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Core Solidity New Features</a:t>
            </a:r>
            <a:endParaRPr b="0" sz="1050" u="none" strike="noStrike">
              <a:solidFill>
                <a:srgbClr val="FFFFFF"/>
              </a:solidFill>
              <a:latin typeface="Arial"/>
              <a:ea typeface="Arial"/>
              <a:cs typeface="Arial"/>
              <a:sym typeface="Arial"/>
            </a:endParaRPr>
          </a:p>
        </p:txBody>
      </p:sp>
      <p:sp>
        <p:nvSpPr>
          <p:cNvPr id="754" name="Google Shape;754;p38"/>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Type inference</a:t>
            </a:r>
            <a:endParaRPr b="0" sz="4000" u="none" strike="noStrike">
              <a:solidFill>
                <a:srgbClr val="FFFFFF"/>
              </a:solidFill>
              <a:latin typeface="Arial"/>
              <a:ea typeface="Arial"/>
              <a:cs typeface="Arial"/>
              <a:sym typeface="Arial"/>
            </a:endParaRPr>
          </a:p>
        </p:txBody>
      </p:sp>
      <p:sp>
        <p:nvSpPr>
          <p:cNvPr id="755" name="Google Shape;755;p38"/>
          <p:cNvSpPr/>
          <p:nvPr/>
        </p:nvSpPr>
        <p:spPr>
          <a:xfrm>
            <a:off x="324000" y="3250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In Core Solidity, this definition is accepted</a:t>
            </a:r>
            <a:endParaRPr b="0" sz="1800" u="none" strike="noStrike">
              <a:solidFill>
                <a:srgbClr val="FFFFFF"/>
              </a:solidFill>
              <a:latin typeface="Arial"/>
              <a:ea typeface="Arial"/>
              <a:cs typeface="Arial"/>
              <a:sym typeface="Arial"/>
            </a:endParaRPr>
          </a:p>
          <a:p>
            <a:pPr indent="-216000" lvl="1" marL="432000" marR="0" rtl="0" algn="l">
              <a:lnSpc>
                <a:spcPct val="109444"/>
              </a:lnSpc>
              <a:spcBef>
                <a:spcPts val="0"/>
              </a:spcBef>
              <a:spcAft>
                <a:spcPts val="0"/>
              </a:spcAft>
              <a:buClr>
                <a:srgbClr val="FFFFFF"/>
              </a:buClr>
              <a:buSzPts val="810"/>
              <a:buFont typeface="Noto Sans Symbols"/>
              <a:buChar char="●"/>
            </a:pPr>
            <a:r>
              <a:rPr b="0" i="0" lang="en-US" sz="1800" u="none" cap="none" strike="noStrike">
                <a:solidFill>
                  <a:srgbClr val="F8F8FF"/>
                </a:solidFill>
                <a:latin typeface="Overpass"/>
                <a:ea typeface="Overpass"/>
                <a:cs typeface="Overpass"/>
                <a:sym typeface="Overpass"/>
              </a:rPr>
              <a:t>Thanks to type inference, which uses a more general strategy  which eliminates the need of the type coercion.</a:t>
            </a:r>
            <a:endParaRPr b="0" i="0" sz="1800" u="none" cap="none" strike="noStrike">
              <a:solidFill>
                <a:srgbClr val="FFFFFF"/>
              </a:solidFill>
              <a:latin typeface="Arial"/>
              <a:ea typeface="Arial"/>
              <a:cs typeface="Arial"/>
              <a:sym typeface="Arial"/>
            </a:endParaRPr>
          </a:p>
          <a:p>
            <a:pPr indent="0" lvl="0" marL="0" marR="0" rtl="0" algn="l">
              <a:lnSpc>
                <a:spcPct val="109444"/>
              </a:lnSpc>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756" name="Google Shape;756;p38"/>
          <p:cNvSpPr/>
          <p:nvPr/>
        </p:nvSpPr>
        <p:spPr>
          <a:xfrm>
            <a:off x="5099400" y="2976120"/>
            <a:ext cx="365652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id="757" name="Google Shape;757;p38"/>
          <p:cNvPicPr preferRelativeResize="0"/>
          <p:nvPr/>
        </p:nvPicPr>
        <p:blipFill rotWithShape="1">
          <a:blip r:embed="rId6">
            <a:alphaModFix/>
          </a:blip>
          <a:srcRect b="41694" l="16198" r="15225" t="47534"/>
          <a:stretch/>
        </p:blipFill>
        <p:spPr>
          <a:xfrm>
            <a:off x="412200" y="1998000"/>
            <a:ext cx="5485320" cy="45612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762" name="Shape 762"/>
        <p:cNvGrpSpPr/>
        <p:nvPr/>
      </p:nvGrpSpPr>
      <p:grpSpPr>
        <a:xfrm>
          <a:off x="0" y="0"/>
          <a:ext cx="0" cy="0"/>
          <a:chOff x="0" y="0"/>
          <a:chExt cx="0" cy="0"/>
        </a:xfrm>
      </p:grpSpPr>
      <p:cxnSp>
        <p:nvCxnSpPr>
          <p:cNvPr id="763" name="Google Shape;763;p39"/>
          <p:cNvCxnSpPr/>
          <p:nvPr/>
        </p:nvCxnSpPr>
        <p:spPr>
          <a:xfrm>
            <a:off x="4572000" y="0"/>
            <a:ext cx="360" cy="5143320"/>
          </a:xfrm>
          <a:prstGeom prst="straightConnector1">
            <a:avLst/>
          </a:prstGeom>
          <a:noFill/>
          <a:ln cap="flat" cmpd="sng" w="12700">
            <a:solidFill>
              <a:srgbClr val="2B247C">
                <a:alpha val="20000"/>
              </a:srgbClr>
            </a:solidFill>
            <a:prstDash val="solid"/>
            <a:round/>
            <a:headEnd len="sm" w="sm" type="none"/>
            <a:tailEnd len="sm" w="sm" type="none"/>
          </a:ln>
        </p:spPr>
      </p:cxnSp>
      <p:cxnSp>
        <p:nvCxnSpPr>
          <p:cNvPr id="764" name="Google Shape;764;p39"/>
          <p:cNvCxnSpPr/>
          <p:nvPr/>
        </p:nvCxnSpPr>
        <p:spPr>
          <a:xfrm>
            <a:off x="4572000" y="0"/>
            <a:ext cx="360" cy="5143320"/>
          </a:xfrm>
          <a:prstGeom prst="straightConnector1">
            <a:avLst/>
          </a:prstGeom>
          <a:noFill/>
          <a:ln cap="flat" cmpd="sng" w="12700">
            <a:solidFill>
              <a:srgbClr val="D2D2FF">
                <a:alpha val="20000"/>
              </a:srgbClr>
            </a:solidFill>
            <a:prstDash val="solid"/>
            <a:round/>
            <a:headEnd len="sm" w="sm" type="none"/>
            <a:tailEnd len="sm" w="sm" type="none"/>
          </a:ln>
        </p:spPr>
      </p:cxnSp>
      <p:sp>
        <p:nvSpPr>
          <p:cNvPr id="765" name="Google Shape;765;p39"/>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766" name="Google Shape;766;p39"/>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767" name="Google Shape;767;p39"/>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768" name="Google Shape;768;p39"/>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769" name="Google Shape;769;p39"/>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770" name="Google Shape;770;p39"/>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771" name="Google Shape;771;p39"/>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772" name="Google Shape;772;p39"/>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773" name="Google Shape;773;p39"/>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774" name="Google Shape;774;p39"/>
          <p:cNvSpPr/>
          <p:nvPr/>
        </p:nvSpPr>
        <p:spPr>
          <a:xfrm>
            <a:off x="476280" y="380880"/>
            <a:ext cx="388188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8F8FF"/>
                </a:solidFill>
                <a:latin typeface="Overpass"/>
                <a:ea typeface="Overpass"/>
                <a:cs typeface="Overpass"/>
                <a:sym typeface="Overpass"/>
              </a:rPr>
              <a:t>Extended Example</a:t>
            </a:r>
            <a:endParaRPr b="0" sz="1050" u="none" strike="noStrike">
              <a:solidFill>
                <a:srgbClr val="FFFFFF"/>
              </a:solidFill>
              <a:latin typeface="Arial"/>
              <a:ea typeface="Arial"/>
              <a:cs typeface="Arial"/>
              <a:sym typeface="Arial"/>
            </a:endParaRPr>
          </a:p>
        </p:txBody>
      </p:sp>
      <p:sp>
        <p:nvSpPr>
          <p:cNvPr id="775" name="Google Shape;775;p39"/>
          <p:cNvSpPr/>
          <p:nvPr/>
        </p:nvSpPr>
        <p:spPr>
          <a:xfrm>
            <a:off x="-228600" y="1781280"/>
            <a:ext cx="4797720" cy="1576800"/>
          </a:xfrm>
          <a:prstGeom prst="rect">
            <a:avLst/>
          </a:prstGeom>
          <a:noFill/>
          <a:ln>
            <a:noFill/>
          </a:ln>
        </p:spPr>
        <p:txBody>
          <a:bodyPr anchorCtr="0" anchor="ctr" bIns="45000" lIns="90000" spcFirstLastPara="1" rIns="90000" wrap="square" tIns="45000">
            <a:noAutofit/>
          </a:bodyPr>
          <a:lstStyle/>
          <a:p>
            <a:pPr indent="0" lvl="0" marL="0" marR="0" rtl="0" algn="ctr">
              <a:lnSpc>
                <a:spcPct val="78025"/>
              </a:lnSpc>
              <a:spcBef>
                <a:spcPts val="0"/>
              </a:spcBef>
              <a:spcAft>
                <a:spcPts val="0"/>
              </a:spcAft>
              <a:buNone/>
            </a:pPr>
            <a:r>
              <a:rPr b="0" lang="en-US" sz="4000" u="none" strike="noStrike">
                <a:solidFill>
                  <a:srgbClr val="FFFFFF"/>
                </a:solidFill>
                <a:latin typeface="Overpass Mono"/>
                <a:ea typeface="Overpass Mono"/>
                <a:cs typeface="Overpass Mono"/>
                <a:sym typeface="Overpass Mono"/>
              </a:rPr>
              <a:t>Extended example</a:t>
            </a:r>
            <a:endParaRPr b="0" sz="4000" u="none" strike="noStrike">
              <a:solidFill>
                <a:srgbClr val="FFFFFF"/>
              </a:solidFill>
              <a:latin typeface="Arial"/>
              <a:ea typeface="Arial"/>
              <a:cs typeface="Arial"/>
              <a:sym typeface="Arial"/>
            </a:endParaRPr>
          </a:p>
        </p:txBody>
      </p:sp>
      <p:sp>
        <p:nvSpPr>
          <p:cNvPr id="776" name="Google Shape;776;p39"/>
          <p:cNvSpPr/>
          <p:nvPr/>
        </p:nvSpPr>
        <p:spPr>
          <a:xfrm>
            <a:off x="4680000" y="1781280"/>
            <a:ext cx="4501080" cy="1576800"/>
          </a:xfrm>
          <a:prstGeom prst="rect">
            <a:avLst/>
          </a:prstGeom>
          <a:noFill/>
          <a:ln>
            <a:noFill/>
          </a:ln>
        </p:spPr>
        <p:txBody>
          <a:bodyPr anchorCtr="0" anchor="ctr" bIns="45000" lIns="90000" spcFirstLastPara="1" rIns="90000" wrap="square" tIns="45000">
            <a:noAutofit/>
          </a:bodyPr>
          <a:lstStyle/>
          <a:p>
            <a:pPr indent="-343080" lvl="0" marL="343080" marR="0" rtl="0" algn="l">
              <a:lnSpc>
                <a:spcPct val="124683"/>
              </a:lnSpc>
              <a:spcBef>
                <a:spcPts val="0"/>
              </a:spcBef>
              <a:spcAft>
                <a:spcPts val="0"/>
              </a:spcAft>
              <a:buClr>
                <a:srgbClr val="F8F8FF"/>
              </a:buClr>
              <a:buSzPts val="1580"/>
              <a:buFont typeface="Calibri"/>
              <a:buAutoNum type="arabicPeriod"/>
            </a:pPr>
            <a:r>
              <a:rPr b="0" lang="en-US" sz="1580" u="none" strike="noStrike">
                <a:solidFill>
                  <a:srgbClr val="F8F8FF"/>
                </a:solidFill>
                <a:latin typeface="Overpass"/>
                <a:ea typeface="Overpass"/>
                <a:cs typeface="Overpass"/>
                <a:sym typeface="Overpass"/>
              </a:rPr>
              <a:t>Core Solidity introduces several new features.</a:t>
            </a:r>
            <a:endParaRPr b="0" sz="1580" u="none" strike="noStrike">
              <a:solidFill>
                <a:srgbClr val="FFFFFF"/>
              </a:solidFill>
              <a:latin typeface="Arial"/>
              <a:ea typeface="Arial"/>
              <a:cs typeface="Arial"/>
              <a:sym typeface="Arial"/>
            </a:endParaRPr>
          </a:p>
          <a:p>
            <a:pPr indent="0" lvl="0" marL="0" marR="0" rtl="0" algn="l">
              <a:lnSpc>
                <a:spcPct val="124683"/>
              </a:lnSpc>
              <a:spcBef>
                <a:spcPts val="0"/>
              </a:spcBef>
              <a:spcAft>
                <a:spcPts val="0"/>
              </a:spcAft>
              <a:buNone/>
            </a:pPr>
            <a:r>
              <a:t/>
            </a:r>
            <a:endParaRPr b="0" sz="1580" u="none" strike="noStrike">
              <a:solidFill>
                <a:srgbClr val="FFFFFF"/>
              </a:solidFill>
              <a:latin typeface="Arial"/>
              <a:ea typeface="Arial"/>
              <a:cs typeface="Arial"/>
              <a:sym typeface="Arial"/>
            </a:endParaRPr>
          </a:p>
          <a:p>
            <a:pPr indent="-343080" lvl="0" marL="343080" marR="0" rtl="0" algn="l">
              <a:lnSpc>
                <a:spcPct val="124683"/>
              </a:lnSpc>
              <a:spcBef>
                <a:spcPts val="0"/>
              </a:spcBef>
              <a:spcAft>
                <a:spcPts val="0"/>
              </a:spcAft>
              <a:buClr>
                <a:srgbClr val="F8F8FF"/>
              </a:buClr>
              <a:buSzPts val="1580"/>
              <a:buFont typeface="Calibri"/>
              <a:buAutoNum type="arabicPeriod"/>
            </a:pPr>
            <a:r>
              <a:rPr b="0" lang="en-US" sz="1580" u="none" strike="noStrike">
                <a:solidFill>
                  <a:srgbClr val="F8F8FF"/>
                </a:solidFill>
                <a:latin typeface="Overpass"/>
                <a:ea typeface="Overpass"/>
                <a:cs typeface="Overpass"/>
                <a:sym typeface="Overpass"/>
              </a:rPr>
              <a:t>How those features help?</a:t>
            </a:r>
            <a:endParaRPr b="0" sz="1580" u="none" strike="noStrike">
              <a:solidFill>
                <a:srgbClr val="FFFFFF"/>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781" name="Shape 781"/>
        <p:cNvGrpSpPr/>
        <p:nvPr/>
      </p:nvGrpSpPr>
      <p:grpSpPr>
        <a:xfrm>
          <a:off x="0" y="0"/>
          <a:ext cx="0" cy="0"/>
          <a:chOff x="0" y="0"/>
          <a:chExt cx="0" cy="0"/>
        </a:xfrm>
      </p:grpSpPr>
      <p:sp>
        <p:nvSpPr>
          <p:cNvPr id="782" name="Google Shape;782;p40"/>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783" name="Google Shape;783;p40"/>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784" name="Google Shape;784;p40"/>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785" name="Google Shape;785;p40"/>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786" name="Google Shape;786;p40"/>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787" name="Google Shape;787;p40"/>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788" name="Google Shape;788;p40"/>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789" name="Google Shape;789;p40"/>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790" name="Google Shape;790;p40"/>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791" name="Google Shape;791;p40"/>
          <p:cNvSpPr/>
          <p:nvPr/>
        </p:nvSpPr>
        <p:spPr>
          <a:xfrm>
            <a:off x="368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Extended Example</a:t>
            </a:r>
            <a:endParaRPr b="0" sz="1050" u="none" strike="noStrike">
              <a:solidFill>
                <a:srgbClr val="FFFFFF"/>
              </a:solidFill>
              <a:latin typeface="Arial"/>
              <a:ea typeface="Arial"/>
              <a:cs typeface="Arial"/>
              <a:sym typeface="Arial"/>
            </a:endParaRPr>
          </a:p>
        </p:txBody>
      </p:sp>
      <p:sp>
        <p:nvSpPr>
          <p:cNvPr id="792" name="Google Shape;792;p40"/>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Console.log</a:t>
            </a:r>
            <a:endParaRPr b="0" sz="4000" u="none" strike="noStrike">
              <a:solidFill>
                <a:srgbClr val="FFFFFF"/>
              </a:solidFill>
              <a:latin typeface="Arial"/>
              <a:ea typeface="Arial"/>
              <a:cs typeface="Arial"/>
              <a:sym typeface="Arial"/>
            </a:endParaRPr>
          </a:p>
        </p:txBody>
      </p:sp>
      <p:sp>
        <p:nvSpPr>
          <p:cNvPr id="793" name="Google Shape;793;p40"/>
          <p:cNvSpPr/>
          <p:nvPr/>
        </p:nvSpPr>
        <p:spPr>
          <a:xfrm>
            <a:off x="324000" y="3970800"/>
            <a:ext cx="836100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Library forge-std implementation has a combinatorial explosion of overloaded functions.</a:t>
            </a:r>
            <a:endParaRPr b="0" sz="1800" u="none" strike="noStrike">
              <a:solidFill>
                <a:srgbClr val="FFFFFF"/>
              </a:solidFill>
              <a:latin typeface="Arial"/>
              <a:ea typeface="Arial"/>
              <a:cs typeface="Arial"/>
              <a:sym typeface="Arial"/>
            </a:endParaRPr>
          </a:p>
          <a:p>
            <a:pPr indent="-216000" lvl="1" marL="432000" marR="0" rtl="0" algn="l">
              <a:lnSpc>
                <a:spcPct val="109444"/>
              </a:lnSpc>
              <a:spcBef>
                <a:spcPts val="0"/>
              </a:spcBef>
              <a:spcAft>
                <a:spcPts val="0"/>
              </a:spcAft>
              <a:buClr>
                <a:srgbClr val="FFFFFF"/>
              </a:buClr>
              <a:buSzPts val="810"/>
              <a:buFont typeface="Noto Sans Symbols"/>
              <a:buChar char="●"/>
            </a:pPr>
            <a:r>
              <a:rPr b="0" i="0" lang="en-US" sz="1800" u="none" cap="none" strike="noStrike">
                <a:solidFill>
                  <a:srgbClr val="F8F8FF"/>
                </a:solidFill>
                <a:latin typeface="Overpass"/>
                <a:ea typeface="Overpass"/>
                <a:cs typeface="Overpass"/>
                <a:sym typeface="Overpass"/>
              </a:rPr>
              <a:t>More than 30 different functions, one for each argument type.</a:t>
            </a:r>
            <a:endParaRPr b="0" i="0" sz="1800" u="none" cap="none" strike="noStrike">
              <a:solidFill>
                <a:srgbClr val="FFFFFF"/>
              </a:solidFill>
              <a:latin typeface="Arial"/>
              <a:ea typeface="Arial"/>
              <a:cs typeface="Arial"/>
              <a:sym typeface="Arial"/>
            </a:endParaRPr>
          </a:p>
        </p:txBody>
      </p:sp>
      <p:sp>
        <p:nvSpPr>
          <p:cNvPr id="794" name="Google Shape;794;p40"/>
          <p:cNvSpPr/>
          <p:nvPr/>
        </p:nvSpPr>
        <p:spPr>
          <a:xfrm>
            <a:off x="5099400" y="2976120"/>
            <a:ext cx="3656520" cy="614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id="795" name="Google Shape;795;p40"/>
          <p:cNvPicPr preferRelativeResize="0"/>
          <p:nvPr/>
        </p:nvPicPr>
        <p:blipFill rotWithShape="1">
          <a:blip r:embed="rId6">
            <a:alphaModFix/>
          </a:blip>
          <a:srcRect b="35645" l="8818" r="11178" t="26100"/>
          <a:stretch/>
        </p:blipFill>
        <p:spPr>
          <a:xfrm>
            <a:off x="315000" y="1530000"/>
            <a:ext cx="7314480" cy="195768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800" name="Shape 800"/>
        <p:cNvGrpSpPr/>
        <p:nvPr/>
      </p:nvGrpSpPr>
      <p:grpSpPr>
        <a:xfrm>
          <a:off x="0" y="0"/>
          <a:ext cx="0" cy="0"/>
          <a:chOff x="0" y="0"/>
          <a:chExt cx="0" cy="0"/>
        </a:xfrm>
      </p:grpSpPr>
      <p:sp>
        <p:nvSpPr>
          <p:cNvPr id="801" name="Google Shape;801;p41"/>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802" name="Google Shape;802;p41"/>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803" name="Google Shape;803;p41"/>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804" name="Google Shape;804;p41"/>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805" name="Google Shape;805;p41"/>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806" name="Google Shape;806;p41"/>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807" name="Google Shape;807;p41"/>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808" name="Google Shape;808;p41"/>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809" name="Google Shape;809;p41"/>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810" name="Google Shape;810;p41"/>
          <p:cNvSpPr/>
          <p:nvPr/>
        </p:nvSpPr>
        <p:spPr>
          <a:xfrm>
            <a:off x="368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Extended Example</a:t>
            </a:r>
            <a:endParaRPr b="0" sz="1050" u="none" strike="noStrike">
              <a:solidFill>
                <a:srgbClr val="FFFFFF"/>
              </a:solidFill>
              <a:latin typeface="Arial"/>
              <a:ea typeface="Arial"/>
              <a:cs typeface="Arial"/>
              <a:sym typeface="Arial"/>
            </a:endParaRPr>
          </a:p>
        </p:txBody>
      </p:sp>
      <p:sp>
        <p:nvSpPr>
          <p:cNvPr id="811" name="Google Shape;811;p41"/>
          <p:cNvSpPr/>
          <p:nvPr/>
        </p:nvSpPr>
        <p:spPr>
          <a:xfrm>
            <a:off x="350640" y="581760"/>
            <a:ext cx="665856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4000" u="none" strike="noStrike">
                <a:solidFill>
                  <a:srgbClr val="D2D2FF"/>
                </a:solidFill>
                <a:latin typeface="Overpass Mono"/>
                <a:ea typeface="Overpass Mono"/>
                <a:cs typeface="Overpass Mono"/>
                <a:sym typeface="Overpass Mono"/>
              </a:rPr>
              <a:t>Console.log</a:t>
            </a:r>
            <a:endParaRPr b="0" sz="4000" u="none" strike="noStrike">
              <a:solidFill>
                <a:srgbClr val="FFFFFF"/>
              </a:solidFill>
              <a:latin typeface="Arial"/>
              <a:ea typeface="Arial"/>
              <a:cs typeface="Arial"/>
              <a:sym typeface="Arial"/>
            </a:endParaRPr>
          </a:p>
        </p:txBody>
      </p:sp>
      <p:sp>
        <p:nvSpPr>
          <p:cNvPr id="812" name="Google Shape;812;p41"/>
          <p:cNvSpPr/>
          <p:nvPr/>
        </p:nvSpPr>
        <p:spPr>
          <a:xfrm>
            <a:off x="324000" y="4186800"/>
            <a:ext cx="881964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Log functions just redirect to _sendLogPayloadImplementation.</a:t>
            </a:r>
            <a:endParaRPr b="0" sz="1800" u="none" strike="noStrike">
              <a:solidFill>
                <a:srgbClr val="FFFFFF"/>
              </a:solidFill>
              <a:latin typeface="Arial"/>
              <a:ea typeface="Arial"/>
              <a:cs typeface="Arial"/>
              <a:sym typeface="Arial"/>
            </a:endParaRPr>
          </a:p>
        </p:txBody>
      </p:sp>
      <p:pic>
        <p:nvPicPr>
          <p:cNvPr id="813" name="Google Shape;813;p41"/>
          <p:cNvPicPr preferRelativeResize="0"/>
          <p:nvPr/>
        </p:nvPicPr>
        <p:blipFill rotWithShape="1">
          <a:blip r:embed="rId6">
            <a:alphaModFix/>
          </a:blip>
          <a:srcRect b="15414" l="8818" r="8680" t="23826"/>
          <a:stretch/>
        </p:blipFill>
        <p:spPr>
          <a:xfrm>
            <a:off x="423000" y="1252800"/>
            <a:ext cx="7543080" cy="300492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818" name="Shape 818"/>
        <p:cNvGrpSpPr/>
        <p:nvPr/>
      </p:nvGrpSpPr>
      <p:grpSpPr>
        <a:xfrm>
          <a:off x="0" y="0"/>
          <a:ext cx="0" cy="0"/>
          <a:chOff x="0" y="0"/>
          <a:chExt cx="0" cy="0"/>
        </a:xfrm>
      </p:grpSpPr>
      <p:sp>
        <p:nvSpPr>
          <p:cNvPr id="819" name="Google Shape;819;p42"/>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820" name="Google Shape;820;p42"/>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821" name="Google Shape;821;p42"/>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822" name="Google Shape;822;p42"/>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823" name="Google Shape;823;p42"/>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824" name="Google Shape;824;p42"/>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825" name="Google Shape;825;p42"/>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826" name="Google Shape;826;p42"/>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827" name="Google Shape;827;p42"/>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828" name="Google Shape;828;p42"/>
          <p:cNvSpPr/>
          <p:nvPr/>
        </p:nvSpPr>
        <p:spPr>
          <a:xfrm>
            <a:off x="368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Extended Example</a:t>
            </a:r>
            <a:endParaRPr b="0" sz="1050" u="none" strike="noStrike">
              <a:solidFill>
                <a:srgbClr val="FFFFFF"/>
              </a:solidFill>
              <a:latin typeface="Arial"/>
              <a:ea typeface="Arial"/>
              <a:cs typeface="Arial"/>
              <a:sym typeface="Arial"/>
            </a:endParaRPr>
          </a:p>
        </p:txBody>
      </p:sp>
      <p:sp>
        <p:nvSpPr>
          <p:cNvPr id="829" name="Google Shape;829;p42"/>
          <p:cNvSpPr/>
          <p:nvPr/>
        </p:nvSpPr>
        <p:spPr>
          <a:xfrm>
            <a:off x="350650" y="581750"/>
            <a:ext cx="8919300" cy="78630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3900" u="none" strike="noStrike">
                <a:solidFill>
                  <a:srgbClr val="D2D2FF"/>
                </a:solidFill>
                <a:latin typeface="Overpass Mono"/>
                <a:ea typeface="Overpass Mono"/>
                <a:cs typeface="Overpass Mono"/>
                <a:sym typeface="Overpass Mono"/>
              </a:rPr>
              <a:t>Console.log – Core Solidity</a:t>
            </a:r>
            <a:endParaRPr b="0" sz="3900" u="none" strike="noStrike">
              <a:solidFill>
                <a:srgbClr val="FFFFFF"/>
              </a:solidFill>
              <a:latin typeface="Arial"/>
              <a:ea typeface="Arial"/>
              <a:cs typeface="Arial"/>
              <a:sym typeface="Arial"/>
            </a:endParaRPr>
          </a:p>
        </p:txBody>
      </p:sp>
      <p:pic>
        <p:nvPicPr>
          <p:cNvPr id="830" name="Google Shape;830;p42"/>
          <p:cNvPicPr preferRelativeResize="0"/>
          <p:nvPr/>
        </p:nvPicPr>
        <p:blipFill rotWithShape="1">
          <a:blip r:embed="rId6">
            <a:alphaModFix/>
          </a:blip>
          <a:srcRect b="12944" l="9571" r="9430" t="20381"/>
          <a:stretch/>
        </p:blipFill>
        <p:spPr>
          <a:xfrm>
            <a:off x="398160" y="1394280"/>
            <a:ext cx="7085880" cy="3428280"/>
          </a:xfrm>
          <a:prstGeom prst="rect">
            <a:avLst/>
          </a:prstGeom>
          <a:noFill/>
          <a:ln>
            <a:noFill/>
          </a:ln>
        </p:spPr>
      </p:pic>
      <p:sp>
        <p:nvSpPr>
          <p:cNvPr id="831" name="Google Shape;831;p42"/>
          <p:cNvSpPr/>
          <p:nvPr/>
        </p:nvSpPr>
        <p:spPr>
          <a:xfrm>
            <a:off x="288000" y="4402800"/>
            <a:ext cx="881964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Generics and type classes eliminate all repetitive definitions!</a:t>
            </a:r>
            <a:endParaRPr b="0" sz="1800" u="none" strike="noStrike">
              <a:solidFill>
                <a:srgbClr val="FFFFFF"/>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836" name="Shape 836"/>
        <p:cNvGrpSpPr/>
        <p:nvPr/>
      </p:nvGrpSpPr>
      <p:grpSpPr>
        <a:xfrm>
          <a:off x="0" y="0"/>
          <a:ext cx="0" cy="0"/>
          <a:chOff x="0" y="0"/>
          <a:chExt cx="0" cy="0"/>
        </a:xfrm>
      </p:grpSpPr>
      <p:sp>
        <p:nvSpPr>
          <p:cNvPr id="837" name="Google Shape;837;p43"/>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838" name="Google Shape;838;p43"/>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839" name="Google Shape;839;p43"/>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840" name="Google Shape;840;p43"/>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841" name="Google Shape;841;p43"/>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842" name="Google Shape;842;p43"/>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843" name="Google Shape;843;p43"/>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844" name="Google Shape;844;p43"/>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845" name="Google Shape;845;p43"/>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846" name="Google Shape;846;p43"/>
          <p:cNvSpPr/>
          <p:nvPr/>
        </p:nvSpPr>
        <p:spPr>
          <a:xfrm>
            <a:off x="368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Extended Example</a:t>
            </a:r>
            <a:endParaRPr b="0" sz="1050" u="none" strike="noStrike">
              <a:solidFill>
                <a:srgbClr val="FFFFFF"/>
              </a:solidFill>
              <a:latin typeface="Arial"/>
              <a:ea typeface="Arial"/>
              <a:cs typeface="Arial"/>
              <a:sym typeface="Arial"/>
            </a:endParaRPr>
          </a:p>
        </p:txBody>
      </p:sp>
      <p:sp>
        <p:nvSpPr>
          <p:cNvPr id="847" name="Google Shape;847;p43"/>
          <p:cNvSpPr/>
          <p:nvPr/>
        </p:nvSpPr>
        <p:spPr>
          <a:xfrm>
            <a:off x="350653" y="465513"/>
            <a:ext cx="8427000" cy="78630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3900" u="none" strike="noStrike">
                <a:solidFill>
                  <a:srgbClr val="D2D2FF"/>
                </a:solidFill>
                <a:latin typeface="Overpass Mono"/>
                <a:ea typeface="Overpass Mono"/>
                <a:cs typeface="Overpass Mono"/>
                <a:sym typeface="Overpass Mono"/>
              </a:rPr>
              <a:t>Console.log – Core Solidity</a:t>
            </a:r>
            <a:endParaRPr b="0" sz="3900" u="none" strike="noStrike">
              <a:solidFill>
                <a:srgbClr val="FFFFFF"/>
              </a:solidFill>
              <a:latin typeface="Arial"/>
              <a:ea typeface="Arial"/>
              <a:cs typeface="Arial"/>
              <a:sym typeface="Arial"/>
            </a:endParaRPr>
          </a:p>
        </p:txBody>
      </p:sp>
      <p:pic>
        <p:nvPicPr>
          <p:cNvPr id="848" name="Google Shape;848;p43"/>
          <p:cNvPicPr preferRelativeResize="0"/>
          <p:nvPr/>
        </p:nvPicPr>
        <p:blipFill rotWithShape="1">
          <a:blip r:embed="rId6">
            <a:alphaModFix/>
          </a:blip>
          <a:srcRect b="12944" l="9571" r="9430" t="20381"/>
          <a:stretch/>
        </p:blipFill>
        <p:spPr>
          <a:xfrm>
            <a:off x="398160" y="1394280"/>
            <a:ext cx="7085880" cy="3428280"/>
          </a:xfrm>
          <a:prstGeom prst="rect">
            <a:avLst/>
          </a:prstGeom>
          <a:noFill/>
          <a:ln>
            <a:noFill/>
          </a:ln>
        </p:spPr>
      </p:pic>
      <p:sp>
        <p:nvSpPr>
          <p:cNvPr id="849" name="Google Shape;849;p43"/>
          <p:cNvSpPr/>
          <p:nvPr/>
        </p:nvSpPr>
        <p:spPr>
          <a:xfrm>
            <a:off x="288000" y="4402800"/>
            <a:ext cx="881964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Generics and type classes eliminate all repetitive definitions!</a:t>
            </a:r>
            <a:endParaRPr b="0" sz="1800" u="none" strike="noStrike">
              <a:solidFill>
                <a:srgbClr val="FFFFFF"/>
              </a:solidFill>
              <a:latin typeface="Arial"/>
              <a:ea typeface="Arial"/>
              <a:cs typeface="Arial"/>
              <a:sym typeface="Arial"/>
            </a:endParaRPr>
          </a:p>
        </p:txBody>
      </p:sp>
      <p:sp>
        <p:nvSpPr>
          <p:cNvPr id="850" name="Google Shape;850;p43"/>
          <p:cNvSpPr/>
          <p:nvPr/>
        </p:nvSpPr>
        <p:spPr>
          <a:xfrm>
            <a:off x="4847400" y="2796120"/>
            <a:ext cx="3656520" cy="614880"/>
          </a:xfrm>
          <a:prstGeom prst="rect">
            <a:avLst/>
          </a:prstGeom>
          <a:noFill/>
          <a:ln>
            <a:noFill/>
          </a:ln>
        </p:spPr>
        <p:txBody>
          <a:bodyPr anchorCtr="0" anchor="ctr" bIns="45000" lIns="90000" spcFirstLastPara="1" rIns="90000" wrap="square" tIns="45000">
            <a:noAutofit/>
          </a:bodyPr>
          <a:lstStyle/>
          <a:p>
            <a:pPr indent="0" lvl="0" marL="0" marR="0" rtl="0" algn="ctr">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ABI encode argument</a:t>
            </a:r>
            <a:endParaRPr b="0" sz="2200" u="none" strike="noStrike">
              <a:solidFill>
                <a:srgbClr val="FFFFFF"/>
              </a:solidFill>
              <a:latin typeface="Arial"/>
              <a:ea typeface="Arial"/>
              <a:cs typeface="Arial"/>
              <a:sym typeface="Arial"/>
            </a:endParaRPr>
          </a:p>
        </p:txBody>
      </p:sp>
      <p:cxnSp>
        <p:nvCxnSpPr>
          <p:cNvPr id="851" name="Google Shape;851;p43"/>
          <p:cNvCxnSpPr/>
          <p:nvPr/>
        </p:nvCxnSpPr>
        <p:spPr>
          <a:xfrm rot="10800000">
            <a:off x="3621600" y="2188800"/>
            <a:ext cx="1371600" cy="685800"/>
          </a:xfrm>
          <a:prstGeom prst="straightConnector1">
            <a:avLst/>
          </a:prstGeom>
          <a:noFill/>
          <a:ln cap="flat" cmpd="sng" w="36700">
            <a:solidFill>
              <a:srgbClr val="FFFFFF"/>
            </a:solidFill>
            <a:prstDash val="solid"/>
            <a:round/>
            <a:headEnd len="sm" w="sm" type="none"/>
            <a:tailEnd len="med" w="med" type="triangle"/>
          </a:ln>
        </p:spPr>
      </p:cxnSp>
      <p:sp>
        <p:nvSpPr>
          <p:cNvPr id="852" name="Google Shape;852;p43"/>
          <p:cNvSpPr/>
          <p:nvPr/>
        </p:nvSpPr>
        <p:spPr>
          <a:xfrm>
            <a:off x="4847400" y="1104120"/>
            <a:ext cx="3656520" cy="614880"/>
          </a:xfrm>
          <a:prstGeom prst="rect">
            <a:avLst/>
          </a:prstGeom>
          <a:noFill/>
          <a:ln>
            <a:noFill/>
          </a:ln>
        </p:spPr>
        <p:txBody>
          <a:bodyPr anchorCtr="0" anchor="ctr" bIns="45000" lIns="90000" spcFirstLastPara="1" rIns="90000" wrap="square" tIns="45000">
            <a:noAutofit/>
          </a:bodyPr>
          <a:lstStyle/>
          <a:p>
            <a:pPr indent="0" lvl="0" marL="0" marR="0" rtl="0" algn="ctr">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ABI encode constraint</a:t>
            </a:r>
            <a:endParaRPr b="0" sz="2200" u="none" strike="noStrike">
              <a:solidFill>
                <a:srgbClr val="FFFFFF"/>
              </a:solidFill>
              <a:latin typeface="Arial"/>
              <a:ea typeface="Arial"/>
              <a:cs typeface="Arial"/>
              <a:sym typeface="Arial"/>
            </a:endParaRPr>
          </a:p>
        </p:txBody>
      </p:sp>
      <p:cxnSp>
        <p:nvCxnSpPr>
          <p:cNvPr id="853" name="Google Shape;853;p43"/>
          <p:cNvCxnSpPr/>
          <p:nvPr/>
        </p:nvCxnSpPr>
        <p:spPr>
          <a:xfrm flipH="1">
            <a:off x="2514600" y="1296360"/>
            <a:ext cx="2514600" cy="231840"/>
          </a:xfrm>
          <a:prstGeom prst="straightConnector1">
            <a:avLst/>
          </a:prstGeom>
          <a:noFill/>
          <a:ln cap="flat" cmpd="sng" w="36700">
            <a:solidFill>
              <a:srgbClr val="FFFFFF"/>
            </a:solidFill>
            <a:prstDash val="solid"/>
            <a:round/>
            <a:headEnd len="sm" w="sm" type="none"/>
            <a:tailEnd len="med" w="med" type="triangl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858" name="Shape 858"/>
        <p:cNvGrpSpPr/>
        <p:nvPr/>
      </p:nvGrpSpPr>
      <p:grpSpPr>
        <a:xfrm>
          <a:off x="0" y="0"/>
          <a:ext cx="0" cy="0"/>
          <a:chOff x="0" y="0"/>
          <a:chExt cx="0" cy="0"/>
        </a:xfrm>
      </p:grpSpPr>
      <p:sp>
        <p:nvSpPr>
          <p:cNvPr id="859" name="Google Shape;859;p44"/>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860" name="Google Shape;860;p44"/>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861" name="Google Shape;861;p44"/>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862" name="Google Shape;862;p44"/>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863" name="Google Shape;863;p44"/>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864" name="Google Shape;864;p44"/>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865" name="Google Shape;865;p44"/>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866" name="Google Shape;866;p44"/>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867" name="Google Shape;867;p44"/>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868" name="Google Shape;868;p44"/>
          <p:cNvSpPr/>
          <p:nvPr/>
        </p:nvSpPr>
        <p:spPr>
          <a:xfrm>
            <a:off x="368280" y="272880"/>
            <a:ext cx="226440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Extended Example</a:t>
            </a:r>
            <a:endParaRPr b="0" sz="1050" u="none" strike="noStrike">
              <a:solidFill>
                <a:srgbClr val="FFFFFF"/>
              </a:solidFill>
              <a:latin typeface="Arial"/>
              <a:ea typeface="Arial"/>
              <a:cs typeface="Arial"/>
              <a:sym typeface="Arial"/>
            </a:endParaRPr>
          </a:p>
        </p:txBody>
      </p:sp>
      <p:sp>
        <p:nvSpPr>
          <p:cNvPr id="869" name="Google Shape;869;p44"/>
          <p:cNvSpPr/>
          <p:nvPr/>
        </p:nvSpPr>
        <p:spPr>
          <a:xfrm>
            <a:off x="368275" y="521650"/>
            <a:ext cx="8463600" cy="78630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3900" u="none" strike="noStrike">
                <a:solidFill>
                  <a:srgbClr val="D2D2FF"/>
                </a:solidFill>
                <a:latin typeface="Overpass Mono"/>
                <a:ea typeface="Overpass Mono"/>
                <a:cs typeface="Overpass Mono"/>
                <a:sym typeface="Overpass Mono"/>
              </a:rPr>
              <a:t>Console.log – Core Solidity</a:t>
            </a:r>
            <a:endParaRPr b="0" sz="3900" u="none" strike="noStrike">
              <a:solidFill>
                <a:srgbClr val="FFFFFF"/>
              </a:solidFill>
              <a:latin typeface="Arial"/>
              <a:ea typeface="Arial"/>
              <a:cs typeface="Arial"/>
              <a:sym typeface="Arial"/>
            </a:endParaRPr>
          </a:p>
        </p:txBody>
      </p:sp>
      <p:pic>
        <p:nvPicPr>
          <p:cNvPr id="870" name="Google Shape;870;p44"/>
          <p:cNvPicPr preferRelativeResize="0"/>
          <p:nvPr/>
        </p:nvPicPr>
        <p:blipFill rotWithShape="1">
          <a:blip r:embed="rId6">
            <a:alphaModFix/>
          </a:blip>
          <a:srcRect b="12944" l="9571" r="9430" t="20381"/>
          <a:stretch/>
        </p:blipFill>
        <p:spPr>
          <a:xfrm>
            <a:off x="398160" y="1394280"/>
            <a:ext cx="7085880" cy="3428280"/>
          </a:xfrm>
          <a:prstGeom prst="rect">
            <a:avLst/>
          </a:prstGeom>
          <a:noFill/>
          <a:ln>
            <a:noFill/>
          </a:ln>
        </p:spPr>
      </p:pic>
      <p:sp>
        <p:nvSpPr>
          <p:cNvPr id="871" name="Google Shape;871;p44"/>
          <p:cNvSpPr/>
          <p:nvPr/>
        </p:nvSpPr>
        <p:spPr>
          <a:xfrm>
            <a:off x="288000" y="4402800"/>
            <a:ext cx="881964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Generics and type classes eliminate all repetitive definitions!</a:t>
            </a:r>
            <a:endParaRPr b="0" sz="1800" u="none" strike="noStrike">
              <a:solidFill>
                <a:srgbClr val="FFFFFF"/>
              </a:solidFill>
              <a:latin typeface="Arial"/>
              <a:ea typeface="Arial"/>
              <a:cs typeface="Arial"/>
              <a:sym typeface="Arial"/>
            </a:endParaRPr>
          </a:p>
        </p:txBody>
      </p:sp>
      <p:sp>
        <p:nvSpPr>
          <p:cNvPr id="872" name="Google Shape;872;p44"/>
          <p:cNvSpPr/>
          <p:nvPr/>
        </p:nvSpPr>
        <p:spPr>
          <a:xfrm>
            <a:off x="4847400" y="3084120"/>
            <a:ext cx="3656520" cy="614880"/>
          </a:xfrm>
          <a:prstGeom prst="rect">
            <a:avLst/>
          </a:prstGeom>
          <a:noFill/>
          <a:ln>
            <a:noFill/>
          </a:ln>
        </p:spPr>
        <p:txBody>
          <a:bodyPr anchorCtr="0" anchor="ctr" bIns="45000" lIns="90000" spcFirstLastPara="1" rIns="90000" wrap="square" tIns="45000">
            <a:noAutofit/>
          </a:bodyPr>
          <a:lstStyle/>
          <a:p>
            <a:pPr indent="0" lvl="0" marL="0" marR="0" rtl="0" algn="ctr">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Convert to assembly</a:t>
            </a:r>
            <a:endParaRPr b="0" sz="2200" u="none" strike="noStrike">
              <a:solidFill>
                <a:srgbClr val="FFFFFF"/>
              </a:solidFill>
              <a:latin typeface="Arial"/>
              <a:ea typeface="Arial"/>
              <a:cs typeface="Arial"/>
              <a:sym typeface="Arial"/>
            </a:endParaRPr>
          </a:p>
          <a:p>
            <a:pPr indent="0" lvl="0" marL="0" marR="0" rtl="0" algn="ctr">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level representation. </a:t>
            </a:r>
            <a:endParaRPr b="0" sz="2200" u="none" strike="noStrike">
              <a:solidFill>
                <a:srgbClr val="FFFFFF"/>
              </a:solidFill>
              <a:latin typeface="Arial"/>
              <a:ea typeface="Arial"/>
              <a:cs typeface="Arial"/>
              <a:sym typeface="Arial"/>
            </a:endParaRPr>
          </a:p>
        </p:txBody>
      </p:sp>
      <p:cxnSp>
        <p:nvCxnSpPr>
          <p:cNvPr id="873" name="Google Shape;873;p44"/>
          <p:cNvCxnSpPr/>
          <p:nvPr/>
        </p:nvCxnSpPr>
        <p:spPr>
          <a:xfrm rot="10800000">
            <a:off x="3704400" y="2622600"/>
            <a:ext cx="1371600" cy="685800"/>
          </a:xfrm>
          <a:prstGeom prst="straightConnector1">
            <a:avLst/>
          </a:prstGeom>
          <a:noFill/>
          <a:ln cap="flat" cmpd="sng" w="36700">
            <a:solidFill>
              <a:srgbClr val="FFFFFF"/>
            </a:solidFill>
            <a:prstDash val="solid"/>
            <a:round/>
            <a:headEnd len="sm" w="sm" type="none"/>
            <a:tailEnd len="med" w="med" type="triangle"/>
          </a:ln>
        </p:spPr>
      </p:cxn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878" name="Shape 878"/>
        <p:cNvGrpSpPr/>
        <p:nvPr/>
      </p:nvGrpSpPr>
      <p:grpSpPr>
        <a:xfrm>
          <a:off x="0" y="0"/>
          <a:ext cx="0" cy="0"/>
          <a:chOff x="0" y="0"/>
          <a:chExt cx="0" cy="0"/>
        </a:xfrm>
      </p:grpSpPr>
      <p:cxnSp>
        <p:nvCxnSpPr>
          <p:cNvPr id="879" name="Google Shape;879;p45"/>
          <p:cNvCxnSpPr/>
          <p:nvPr/>
        </p:nvCxnSpPr>
        <p:spPr>
          <a:xfrm>
            <a:off x="4572000" y="0"/>
            <a:ext cx="360" cy="5143320"/>
          </a:xfrm>
          <a:prstGeom prst="straightConnector1">
            <a:avLst/>
          </a:prstGeom>
          <a:noFill/>
          <a:ln cap="flat" cmpd="sng" w="12700">
            <a:solidFill>
              <a:srgbClr val="2B247C">
                <a:alpha val="20000"/>
              </a:srgbClr>
            </a:solidFill>
            <a:prstDash val="solid"/>
            <a:round/>
            <a:headEnd len="sm" w="sm" type="none"/>
            <a:tailEnd len="sm" w="sm" type="none"/>
          </a:ln>
        </p:spPr>
      </p:cxnSp>
      <p:cxnSp>
        <p:nvCxnSpPr>
          <p:cNvPr id="880" name="Google Shape;880;p45"/>
          <p:cNvCxnSpPr/>
          <p:nvPr/>
        </p:nvCxnSpPr>
        <p:spPr>
          <a:xfrm>
            <a:off x="4572000" y="0"/>
            <a:ext cx="360" cy="5143320"/>
          </a:xfrm>
          <a:prstGeom prst="straightConnector1">
            <a:avLst/>
          </a:prstGeom>
          <a:noFill/>
          <a:ln cap="flat" cmpd="sng" w="12700">
            <a:solidFill>
              <a:srgbClr val="D2D2FF">
                <a:alpha val="20000"/>
              </a:srgbClr>
            </a:solidFill>
            <a:prstDash val="solid"/>
            <a:round/>
            <a:headEnd len="sm" w="sm" type="none"/>
            <a:tailEnd len="sm" w="sm" type="none"/>
          </a:ln>
        </p:spPr>
      </p:cxnSp>
      <p:sp>
        <p:nvSpPr>
          <p:cNvPr id="881" name="Google Shape;881;p45"/>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882" name="Google Shape;882;p45"/>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883" name="Google Shape;883;p45"/>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884" name="Google Shape;884;p45"/>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885" name="Google Shape;885;p45"/>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886" name="Google Shape;886;p45"/>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887" name="Google Shape;887;p45"/>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888" name="Google Shape;888;p45"/>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889" name="Google Shape;889;p45"/>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890" name="Google Shape;890;p45"/>
          <p:cNvSpPr/>
          <p:nvPr/>
        </p:nvSpPr>
        <p:spPr>
          <a:xfrm>
            <a:off x="476280" y="380880"/>
            <a:ext cx="388188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8F8FF"/>
                </a:solidFill>
                <a:latin typeface="Overpass"/>
                <a:ea typeface="Overpass"/>
                <a:cs typeface="Overpass"/>
                <a:sym typeface="Overpass"/>
              </a:rPr>
              <a:t>SAIL, desugaring and standard library</a:t>
            </a:r>
            <a:endParaRPr b="0" sz="1050" u="none" strike="noStrike">
              <a:solidFill>
                <a:srgbClr val="FFFFFF"/>
              </a:solidFill>
              <a:latin typeface="Arial"/>
              <a:ea typeface="Arial"/>
              <a:cs typeface="Arial"/>
              <a:sym typeface="Arial"/>
            </a:endParaRPr>
          </a:p>
        </p:txBody>
      </p:sp>
      <p:sp>
        <p:nvSpPr>
          <p:cNvPr id="891" name="Google Shape;891;p45"/>
          <p:cNvSpPr/>
          <p:nvPr/>
        </p:nvSpPr>
        <p:spPr>
          <a:xfrm>
            <a:off x="-474625" y="1925275"/>
            <a:ext cx="5043900" cy="1576800"/>
          </a:xfrm>
          <a:prstGeom prst="rect">
            <a:avLst/>
          </a:prstGeom>
          <a:noFill/>
          <a:ln>
            <a:noFill/>
          </a:ln>
        </p:spPr>
        <p:txBody>
          <a:bodyPr anchorCtr="0" anchor="ctr" bIns="45000" lIns="90000" spcFirstLastPara="1" rIns="90000" wrap="square" tIns="45000">
            <a:noAutofit/>
          </a:bodyPr>
          <a:lstStyle/>
          <a:p>
            <a:pPr indent="0" lvl="0" marL="0" marR="0" rtl="0" algn="ctr">
              <a:lnSpc>
                <a:spcPct val="78025"/>
              </a:lnSpc>
              <a:spcBef>
                <a:spcPts val="0"/>
              </a:spcBef>
              <a:spcAft>
                <a:spcPts val="0"/>
              </a:spcAft>
              <a:buNone/>
            </a:pPr>
            <a:r>
              <a:rPr b="0" lang="en-US" sz="3300" u="none" strike="noStrike">
                <a:solidFill>
                  <a:srgbClr val="FFFFFF"/>
                </a:solidFill>
                <a:latin typeface="Overpass Mono"/>
                <a:ea typeface="Overpass Mono"/>
                <a:cs typeface="Overpass Mono"/>
                <a:sym typeface="Overpass Mono"/>
              </a:rPr>
              <a:t>SAIL</a:t>
            </a:r>
            <a:r>
              <a:rPr b="0" lang="en-US" sz="3300" u="none" strike="noStrike">
                <a:solidFill>
                  <a:srgbClr val="FFFFFF"/>
                </a:solidFill>
                <a:latin typeface="Overpass Mono"/>
                <a:ea typeface="Overpass Mono"/>
                <a:cs typeface="Overpass Mono"/>
                <a:sym typeface="Overpass Mono"/>
              </a:rPr>
              <a:t>,</a:t>
            </a:r>
            <a:r>
              <a:rPr b="0" lang="en-US" sz="3300" u="none" strike="noStrike">
                <a:solidFill>
                  <a:srgbClr val="FFFFFF"/>
                </a:solidFill>
                <a:latin typeface="Overpass Mono"/>
                <a:ea typeface="Overpass Mono"/>
                <a:cs typeface="Overpass Mono"/>
                <a:sym typeface="Overpass Mono"/>
              </a:rPr>
              <a:t>desugaring</a:t>
            </a:r>
            <a:endParaRPr b="0" sz="3300" u="none" strike="noStrike">
              <a:solidFill>
                <a:srgbClr val="FFFFFF"/>
              </a:solidFill>
              <a:latin typeface="Arial"/>
              <a:ea typeface="Arial"/>
              <a:cs typeface="Arial"/>
              <a:sym typeface="Arial"/>
            </a:endParaRPr>
          </a:p>
          <a:p>
            <a:pPr indent="0" lvl="0" marL="0" marR="0" rtl="0" algn="ctr">
              <a:lnSpc>
                <a:spcPct val="78025"/>
              </a:lnSpc>
              <a:spcBef>
                <a:spcPts val="0"/>
              </a:spcBef>
              <a:spcAft>
                <a:spcPts val="0"/>
              </a:spcAft>
              <a:buNone/>
            </a:pPr>
            <a:r>
              <a:rPr b="0" lang="en-US" sz="3300" u="none" strike="noStrike">
                <a:solidFill>
                  <a:srgbClr val="FFFFFF"/>
                </a:solidFill>
                <a:latin typeface="Overpass Mono"/>
                <a:ea typeface="Overpass Mono"/>
                <a:cs typeface="Overpass Mono"/>
                <a:sym typeface="Overpass Mono"/>
              </a:rPr>
              <a:t>and</a:t>
            </a:r>
            <a:r>
              <a:rPr lang="en-US" sz="3300">
                <a:solidFill>
                  <a:srgbClr val="FFFFFF"/>
                </a:solidFill>
                <a:latin typeface="Overpass Mono"/>
                <a:ea typeface="Overpass Mono"/>
                <a:cs typeface="Overpass Mono"/>
                <a:sym typeface="Overpass Mono"/>
              </a:rPr>
              <a:t> </a:t>
            </a:r>
            <a:r>
              <a:rPr b="0" lang="en-US" sz="3300" u="none" strike="noStrike">
                <a:solidFill>
                  <a:srgbClr val="FFFFFF"/>
                </a:solidFill>
                <a:latin typeface="Overpass Mono"/>
                <a:ea typeface="Overpass Mono"/>
                <a:cs typeface="Overpass Mono"/>
                <a:sym typeface="Overpass Mono"/>
              </a:rPr>
              <a:t>standard </a:t>
            </a:r>
            <a:endParaRPr b="0" sz="3300" u="none" strike="noStrike">
              <a:solidFill>
                <a:srgbClr val="FFFFFF"/>
              </a:solidFill>
              <a:latin typeface="Arial"/>
              <a:ea typeface="Arial"/>
              <a:cs typeface="Arial"/>
              <a:sym typeface="Arial"/>
            </a:endParaRPr>
          </a:p>
          <a:p>
            <a:pPr indent="0" lvl="0" marL="0" marR="0" rtl="0" algn="ctr">
              <a:lnSpc>
                <a:spcPct val="78025"/>
              </a:lnSpc>
              <a:spcBef>
                <a:spcPts val="0"/>
              </a:spcBef>
              <a:spcAft>
                <a:spcPts val="0"/>
              </a:spcAft>
              <a:buNone/>
            </a:pPr>
            <a:r>
              <a:rPr b="0" lang="en-US" sz="3300" u="none" strike="noStrike">
                <a:solidFill>
                  <a:srgbClr val="FFFFFF"/>
                </a:solidFill>
                <a:latin typeface="Overpass Mono"/>
                <a:ea typeface="Overpass Mono"/>
                <a:cs typeface="Overpass Mono"/>
                <a:sym typeface="Overpass Mono"/>
              </a:rPr>
              <a:t>library </a:t>
            </a:r>
            <a:endParaRPr b="0" sz="3300" u="none" strike="noStrike">
              <a:solidFill>
                <a:srgbClr val="FFFFFF"/>
              </a:solidFill>
              <a:latin typeface="Arial"/>
              <a:ea typeface="Arial"/>
              <a:cs typeface="Arial"/>
              <a:sym typeface="Arial"/>
            </a:endParaRPr>
          </a:p>
        </p:txBody>
      </p:sp>
      <p:sp>
        <p:nvSpPr>
          <p:cNvPr id="892" name="Google Shape;892;p45"/>
          <p:cNvSpPr/>
          <p:nvPr/>
        </p:nvSpPr>
        <p:spPr>
          <a:xfrm>
            <a:off x="4680000" y="2213280"/>
            <a:ext cx="4501080" cy="157680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24683"/>
              </a:lnSpc>
              <a:spcBef>
                <a:spcPts val="0"/>
              </a:spcBef>
              <a:spcAft>
                <a:spcPts val="0"/>
              </a:spcAft>
              <a:buClr>
                <a:srgbClr val="FFFFFF"/>
              </a:buClr>
              <a:buSzPts val="711"/>
              <a:buFont typeface="Noto Sans Symbols"/>
              <a:buChar char="●"/>
            </a:pPr>
            <a:r>
              <a:rPr b="0" lang="en-US" sz="1580" u="none" strike="noStrike">
                <a:solidFill>
                  <a:srgbClr val="F8F8FF"/>
                </a:solidFill>
                <a:latin typeface="Overpass"/>
                <a:ea typeface="Overpass"/>
                <a:cs typeface="Overpass"/>
                <a:sym typeface="Overpass"/>
              </a:rPr>
              <a:t>SAIL is a new mid-level IR for Core.</a:t>
            </a:r>
            <a:endParaRPr b="0" sz="1580" u="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Solidity Algebraic Intermediate Language.</a:t>
            </a:r>
            <a:endParaRPr b="0" i="0" sz="1580" u="none" cap="none" strike="noStrike">
              <a:solidFill>
                <a:srgbClr val="FFFFFF"/>
              </a:solidFill>
              <a:latin typeface="Arial"/>
              <a:ea typeface="Arial"/>
              <a:cs typeface="Arial"/>
              <a:sym typeface="Arial"/>
            </a:endParaRPr>
          </a:p>
          <a:p>
            <a:pPr indent="0" lvl="0" marL="0" marR="0" rtl="0" algn="l">
              <a:lnSpc>
                <a:spcPct val="124683"/>
              </a:lnSpc>
              <a:spcBef>
                <a:spcPts val="0"/>
              </a:spcBef>
              <a:spcAft>
                <a:spcPts val="0"/>
              </a:spcAft>
              <a:buNone/>
            </a:pPr>
            <a:r>
              <a:t/>
            </a:r>
            <a:endParaRPr b="0" sz="1580" u="none" strike="noStrike">
              <a:solidFill>
                <a:srgbClr val="FFFFFF"/>
              </a:solidFill>
              <a:latin typeface="Arial"/>
              <a:ea typeface="Arial"/>
              <a:cs typeface="Arial"/>
              <a:sym typeface="Arial"/>
            </a:endParaRPr>
          </a:p>
          <a:p>
            <a:pPr indent="-216000" lvl="0" marL="216000" marR="0" rtl="0" algn="l">
              <a:lnSpc>
                <a:spcPct val="124683"/>
              </a:lnSpc>
              <a:spcBef>
                <a:spcPts val="0"/>
              </a:spcBef>
              <a:spcAft>
                <a:spcPts val="0"/>
              </a:spcAft>
              <a:buClr>
                <a:srgbClr val="FFFFFF"/>
              </a:buClr>
              <a:buSzPts val="711"/>
              <a:buFont typeface="Noto Sans Symbols"/>
              <a:buChar char="●"/>
            </a:pPr>
            <a:r>
              <a:rPr b="0" lang="en-US" sz="1580" u="none" strike="noStrike">
                <a:solidFill>
                  <a:srgbClr val="F8F8FF"/>
                </a:solidFill>
                <a:latin typeface="Overpass"/>
                <a:ea typeface="Overpass"/>
                <a:cs typeface="Overpass"/>
                <a:sym typeface="Overpass"/>
              </a:rPr>
              <a:t>Features</a:t>
            </a:r>
            <a:endParaRPr b="0" sz="1580" u="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Functions and contracts</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Algebraic types and pattern matching</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Assembly blocks</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Type classes and generics</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Variable introduction and assignment.</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Short-circuiting if-then-else expression.</a:t>
            </a:r>
            <a:endParaRPr b="0" i="0" sz="1580" u="none" cap="none" strike="noStrike">
              <a:solidFill>
                <a:srgbClr val="FFFFFF"/>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897" name="Shape 897"/>
        <p:cNvGrpSpPr/>
        <p:nvPr/>
      </p:nvGrpSpPr>
      <p:grpSpPr>
        <a:xfrm>
          <a:off x="0" y="0"/>
          <a:ext cx="0" cy="0"/>
          <a:chOff x="0" y="0"/>
          <a:chExt cx="0" cy="0"/>
        </a:xfrm>
      </p:grpSpPr>
      <p:cxnSp>
        <p:nvCxnSpPr>
          <p:cNvPr id="898" name="Google Shape;898;p46"/>
          <p:cNvCxnSpPr/>
          <p:nvPr/>
        </p:nvCxnSpPr>
        <p:spPr>
          <a:xfrm>
            <a:off x="4572000" y="0"/>
            <a:ext cx="360" cy="5143320"/>
          </a:xfrm>
          <a:prstGeom prst="straightConnector1">
            <a:avLst/>
          </a:prstGeom>
          <a:noFill/>
          <a:ln cap="flat" cmpd="sng" w="12700">
            <a:solidFill>
              <a:srgbClr val="2B247C">
                <a:alpha val="20000"/>
              </a:srgbClr>
            </a:solidFill>
            <a:prstDash val="solid"/>
            <a:round/>
            <a:headEnd len="sm" w="sm" type="none"/>
            <a:tailEnd len="sm" w="sm" type="none"/>
          </a:ln>
        </p:spPr>
      </p:cxnSp>
      <p:cxnSp>
        <p:nvCxnSpPr>
          <p:cNvPr id="899" name="Google Shape;899;p46"/>
          <p:cNvCxnSpPr/>
          <p:nvPr/>
        </p:nvCxnSpPr>
        <p:spPr>
          <a:xfrm>
            <a:off x="4572000" y="0"/>
            <a:ext cx="360" cy="5143320"/>
          </a:xfrm>
          <a:prstGeom prst="straightConnector1">
            <a:avLst/>
          </a:prstGeom>
          <a:noFill/>
          <a:ln cap="flat" cmpd="sng" w="12700">
            <a:solidFill>
              <a:srgbClr val="D2D2FF">
                <a:alpha val="20000"/>
              </a:srgbClr>
            </a:solidFill>
            <a:prstDash val="solid"/>
            <a:round/>
            <a:headEnd len="sm" w="sm" type="none"/>
            <a:tailEnd len="sm" w="sm" type="none"/>
          </a:ln>
        </p:spPr>
      </p:cxnSp>
      <p:sp>
        <p:nvSpPr>
          <p:cNvPr id="900" name="Google Shape;900;p46"/>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901" name="Google Shape;901;p46"/>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902" name="Google Shape;902;p46"/>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903" name="Google Shape;903;p46"/>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904" name="Google Shape;904;p46"/>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905" name="Google Shape;905;p46"/>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906" name="Google Shape;906;p46"/>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907" name="Google Shape;907;p46"/>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908" name="Google Shape;908;p46"/>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909" name="Google Shape;909;p46"/>
          <p:cNvSpPr/>
          <p:nvPr/>
        </p:nvSpPr>
        <p:spPr>
          <a:xfrm>
            <a:off x="476280" y="380880"/>
            <a:ext cx="388188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8F8FF"/>
                </a:solidFill>
                <a:latin typeface="Overpass"/>
                <a:ea typeface="Overpass"/>
                <a:cs typeface="Overpass"/>
                <a:sym typeface="Overpass"/>
              </a:rPr>
              <a:t>SAIL, desugaring and standard library</a:t>
            </a:r>
            <a:endParaRPr b="0" sz="1050" u="none" strike="noStrike">
              <a:solidFill>
                <a:srgbClr val="FFFFFF"/>
              </a:solidFill>
              <a:latin typeface="Arial"/>
              <a:ea typeface="Arial"/>
              <a:cs typeface="Arial"/>
              <a:sym typeface="Arial"/>
            </a:endParaRPr>
          </a:p>
        </p:txBody>
      </p:sp>
      <p:sp>
        <p:nvSpPr>
          <p:cNvPr id="910" name="Google Shape;910;p46"/>
          <p:cNvSpPr/>
          <p:nvPr/>
        </p:nvSpPr>
        <p:spPr>
          <a:xfrm>
            <a:off x="-228600" y="1925280"/>
            <a:ext cx="4797720" cy="1576800"/>
          </a:xfrm>
          <a:prstGeom prst="rect">
            <a:avLst/>
          </a:prstGeom>
          <a:noFill/>
          <a:ln>
            <a:noFill/>
          </a:ln>
        </p:spPr>
        <p:txBody>
          <a:bodyPr anchorCtr="0" anchor="ctr" bIns="45000" lIns="90000" spcFirstLastPara="1" rIns="90000" wrap="square" tIns="45000">
            <a:noAutofit/>
          </a:bodyPr>
          <a:lstStyle/>
          <a:p>
            <a:pPr indent="0" lvl="0" marL="0" marR="0" rtl="0" algn="ctr">
              <a:lnSpc>
                <a:spcPct val="78025"/>
              </a:lnSpc>
              <a:spcBef>
                <a:spcPts val="0"/>
              </a:spcBef>
              <a:spcAft>
                <a:spcPts val="0"/>
              </a:spcAft>
              <a:buNone/>
            </a:pPr>
            <a:r>
              <a:rPr b="0" lang="en-US" sz="3300" u="none" strike="noStrike">
                <a:solidFill>
                  <a:srgbClr val="FFFFFF"/>
                </a:solidFill>
                <a:latin typeface="Overpass Mono"/>
                <a:ea typeface="Overpass Mono"/>
                <a:cs typeface="Overpass Mono"/>
                <a:sym typeface="Overpass Mono"/>
              </a:rPr>
              <a:t>SAIL, desugaring</a:t>
            </a:r>
            <a:endParaRPr b="0" sz="3300" u="none" strike="noStrike">
              <a:solidFill>
                <a:srgbClr val="FFFFFF"/>
              </a:solidFill>
              <a:latin typeface="Arial"/>
              <a:ea typeface="Arial"/>
              <a:cs typeface="Arial"/>
              <a:sym typeface="Arial"/>
            </a:endParaRPr>
          </a:p>
          <a:p>
            <a:pPr indent="0" lvl="0" marL="0" marR="0" rtl="0" algn="ctr">
              <a:lnSpc>
                <a:spcPct val="78025"/>
              </a:lnSpc>
              <a:spcBef>
                <a:spcPts val="0"/>
              </a:spcBef>
              <a:spcAft>
                <a:spcPts val="0"/>
              </a:spcAft>
              <a:buNone/>
            </a:pPr>
            <a:r>
              <a:rPr b="0" lang="en-US" sz="3300" u="none" strike="noStrike">
                <a:solidFill>
                  <a:srgbClr val="FFFFFF"/>
                </a:solidFill>
                <a:latin typeface="Overpass Mono"/>
                <a:ea typeface="Overpass Mono"/>
                <a:cs typeface="Overpass Mono"/>
                <a:sym typeface="Overpass Mono"/>
              </a:rPr>
              <a:t>and standard </a:t>
            </a:r>
            <a:endParaRPr b="0" sz="3300" u="none" strike="noStrike">
              <a:solidFill>
                <a:srgbClr val="FFFFFF"/>
              </a:solidFill>
              <a:latin typeface="Arial"/>
              <a:ea typeface="Arial"/>
              <a:cs typeface="Arial"/>
              <a:sym typeface="Arial"/>
            </a:endParaRPr>
          </a:p>
          <a:p>
            <a:pPr indent="0" lvl="0" marL="0" marR="0" rtl="0" algn="ctr">
              <a:lnSpc>
                <a:spcPct val="78025"/>
              </a:lnSpc>
              <a:spcBef>
                <a:spcPts val="0"/>
              </a:spcBef>
              <a:spcAft>
                <a:spcPts val="0"/>
              </a:spcAft>
              <a:buNone/>
            </a:pPr>
            <a:r>
              <a:rPr b="0" lang="en-US" sz="3300" u="none" strike="noStrike">
                <a:solidFill>
                  <a:srgbClr val="FFFFFF"/>
                </a:solidFill>
                <a:latin typeface="Overpass Mono"/>
                <a:ea typeface="Overpass Mono"/>
                <a:cs typeface="Overpass Mono"/>
                <a:sym typeface="Overpass Mono"/>
              </a:rPr>
              <a:t>library </a:t>
            </a:r>
            <a:endParaRPr b="0" sz="3300" u="none" strike="noStrike">
              <a:solidFill>
                <a:srgbClr val="FFFFFF"/>
              </a:solidFill>
              <a:latin typeface="Arial"/>
              <a:ea typeface="Arial"/>
              <a:cs typeface="Arial"/>
              <a:sym typeface="Arial"/>
            </a:endParaRPr>
          </a:p>
        </p:txBody>
      </p:sp>
      <p:sp>
        <p:nvSpPr>
          <p:cNvPr id="911" name="Google Shape;911;p46"/>
          <p:cNvSpPr/>
          <p:nvPr/>
        </p:nvSpPr>
        <p:spPr>
          <a:xfrm>
            <a:off x="4680000" y="2213280"/>
            <a:ext cx="4501080" cy="157680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24683"/>
              </a:lnSpc>
              <a:spcBef>
                <a:spcPts val="0"/>
              </a:spcBef>
              <a:spcAft>
                <a:spcPts val="0"/>
              </a:spcAft>
              <a:buClr>
                <a:srgbClr val="FFFFFF"/>
              </a:buClr>
              <a:buSzPts val="711"/>
              <a:buFont typeface="Noto Sans Symbols"/>
              <a:buChar char="●"/>
            </a:pPr>
            <a:r>
              <a:rPr b="0" lang="en-US" sz="1580" u="none" strike="noStrike">
                <a:solidFill>
                  <a:srgbClr val="F8F8FF"/>
                </a:solidFill>
                <a:latin typeface="Overpass"/>
                <a:ea typeface="Overpass"/>
                <a:cs typeface="Overpass"/>
                <a:sym typeface="Overpass"/>
              </a:rPr>
              <a:t>Core Solidity high-level constructs will be implemented by a combination of desugaring steps and std-lib definitions.</a:t>
            </a:r>
            <a:endParaRPr b="0" sz="1580" u="none" strike="noStrike">
              <a:solidFill>
                <a:srgbClr val="FFFFFF"/>
              </a:solidFill>
              <a:latin typeface="Arial"/>
              <a:ea typeface="Arial"/>
              <a:cs typeface="Arial"/>
              <a:sym typeface="Arial"/>
            </a:endParaRPr>
          </a:p>
          <a:p>
            <a:pPr indent="0" lvl="0" marL="0" marR="0" rtl="0" algn="l">
              <a:lnSpc>
                <a:spcPct val="124683"/>
              </a:lnSpc>
              <a:spcBef>
                <a:spcPts val="0"/>
              </a:spcBef>
              <a:spcAft>
                <a:spcPts val="0"/>
              </a:spcAft>
              <a:buNone/>
            </a:pPr>
            <a:r>
              <a:t/>
            </a:r>
            <a:endParaRPr b="0" sz="1580" u="none" strike="noStrike">
              <a:solidFill>
                <a:srgbClr val="FFFFFF"/>
              </a:solidFill>
              <a:latin typeface="Arial"/>
              <a:ea typeface="Arial"/>
              <a:cs typeface="Arial"/>
              <a:sym typeface="Arial"/>
            </a:endParaRPr>
          </a:p>
          <a:p>
            <a:pPr indent="-216000" lvl="0" marL="216000" marR="0" rtl="0" algn="l">
              <a:lnSpc>
                <a:spcPct val="124683"/>
              </a:lnSpc>
              <a:spcBef>
                <a:spcPts val="0"/>
              </a:spcBef>
              <a:spcAft>
                <a:spcPts val="0"/>
              </a:spcAft>
              <a:buClr>
                <a:srgbClr val="FFFFFF"/>
              </a:buClr>
              <a:buSzPts val="711"/>
              <a:buFont typeface="Noto Sans Symbols"/>
              <a:buChar char="●"/>
            </a:pPr>
            <a:r>
              <a:rPr b="0" lang="en-US" sz="1580" u="none" strike="noStrike">
                <a:solidFill>
                  <a:srgbClr val="F8F8FF"/>
                </a:solidFill>
                <a:latin typeface="Overpass"/>
                <a:ea typeface="Overpass"/>
                <a:cs typeface="Overpass"/>
                <a:sym typeface="Overpass"/>
              </a:rPr>
              <a:t>Similar approach used in proof assistants like Lean.</a:t>
            </a:r>
            <a:endParaRPr b="0" sz="1580" u="none" strike="noStrike">
              <a:solidFill>
                <a:srgbClr val="FFFFFF"/>
              </a:solidFill>
              <a:latin typeface="Arial"/>
              <a:ea typeface="Arial"/>
              <a:cs typeface="Arial"/>
              <a:sym typeface="Arial"/>
            </a:endParaRPr>
          </a:p>
          <a:p>
            <a:pPr indent="0" lvl="0" marL="0" marR="0" rtl="0" algn="l">
              <a:lnSpc>
                <a:spcPct val="124683"/>
              </a:lnSpc>
              <a:spcBef>
                <a:spcPts val="0"/>
              </a:spcBef>
              <a:spcAft>
                <a:spcPts val="0"/>
              </a:spcAft>
              <a:buNone/>
            </a:pPr>
            <a:r>
              <a:t/>
            </a:r>
            <a:endParaRPr b="0" sz="1580" u="none" strike="noStrike">
              <a:solidFill>
                <a:srgbClr val="FFFFFF"/>
              </a:solidFill>
              <a:latin typeface="Arial"/>
              <a:ea typeface="Arial"/>
              <a:cs typeface="Arial"/>
              <a:sym typeface="Arial"/>
            </a:endParaRPr>
          </a:p>
          <a:p>
            <a:pPr indent="-216000" lvl="0" marL="216000" marR="0" rtl="0" algn="l">
              <a:lnSpc>
                <a:spcPct val="124683"/>
              </a:lnSpc>
              <a:spcBef>
                <a:spcPts val="0"/>
              </a:spcBef>
              <a:spcAft>
                <a:spcPts val="0"/>
              </a:spcAft>
              <a:buClr>
                <a:srgbClr val="FFFFFF"/>
              </a:buClr>
              <a:buSzPts val="711"/>
              <a:buFont typeface="Noto Sans Symbols"/>
              <a:buChar char="●"/>
            </a:pPr>
            <a:r>
              <a:rPr b="0" lang="en-US" sz="1580" u="none" strike="noStrike">
                <a:solidFill>
                  <a:srgbClr val="F8F8FF"/>
                </a:solidFill>
                <a:latin typeface="Overpass"/>
                <a:ea typeface="Overpass"/>
                <a:cs typeface="Overpass"/>
                <a:sym typeface="Overpass"/>
              </a:rPr>
              <a:t>Objective: RFC style for language and std-lib changes</a:t>
            </a:r>
            <a:endParaRPr b="0" sz="1580" u="none" strike="noStrike">
              <a:solidFill>
                <a:srgbClr val="FFFFFF"/>
              </a:solidFill>
              <a:latin typeface="Arial"/>
              <a:ea typeface="Arial"/>
              <a:cs typeface="Arial"/>
              <a:sym typeface="Arial"/>
            </a:endParaRPr>
          </a:p>
          <a:p>
            <a:pPr indent="0" lvl="0" marL="0" marR="0" rtl="0" algn="l">
              <a:lnSpc>
                <a:spcPct val="124683"/>
              </a:lnSpc>
              <a:spcBef>
                <a:spcPts val="0"/>
              </a:spcBef>
              <a:spcAft>
                <a:spcPts val="0"/>
              </a:spcAft>
              <a:buNone/>
            </a:pPr>
            <a:r>
              <a:t/>
            </a:r>
            <a:endParaRPr b="0" sz="1580" u="none" strike="noStrike">
              <a:solidFill>
                <a:srgbClr val="FFFFFF"/>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916" name="Shape 916"/>
        <p:cNvGrpSpPr/>
        <p:nvPr/>
      </p:nvGrpSpPr>
      <p:grpSpPr>
        <a:xfrm>
          <a:off x="0" y="0"/>
          <a:ext cx="0" cy="0"/>
          <a:chOff x="0" y="0"/>
          <a:chExt cx="0" cy="0"/>
        </a:xfrm>
      </p:grpSpPr>
      <p:cxnSp>
        <p:nvCxnSpPr>
          <p:cNvPr id="917" name="Google Shape;917;p47"/>
          <p:cNvCxnSpPr/>
          <p:nvPr/>
        </p:nvCxnSpPr>
        <p:spPr>
          <a:xfrm>
            <a:off x="4572000" y="0"/>
            <a:ext cx="360" cy="5143320"/>
          </a:xfrm>
          <a:prstGeom prst="straightConnector1">
            <a:avLst/>
          </a:prstGeom>
          <a:noFill/>
          <a:ln cap="flat" cmpd="sng" w="12700">
            <a:solidFill>
              <a:srgbClr val="2B247C">
                <a:alpha val="20000"/>
              </a:srgbClr>
            </a:solidFill>
            <a:prstDash val="solid"/>
            <a:round/>
            <a:headEnd len="sm" w="sm" type="none"/>
            <a:tailEnd len="sm" w="sm" type="none"/>
          </a:ln>
        </p:spPr>
      </p:cxnSp>
      <p:cxnSp>
        <p:nvCxnSpPr>
          <p:cNvPr id="918" name="Google Shape;918;p47"/>
          <p:cNvCxnSpPr/>
          <p:nvPr/>
        </p:nvCxnSpPr>
        <p:spPr>
          <a:xfrm>
            <a:off x="4572000" y="0"/>
            <a:ext cx="360" cy="5143320"/>
          </a:xfrm>
          <a:prstGeom prst="straightConnector1">
            <a:avLst/>
          </a:prstGeom>
          <a:noFill/>
          <a:ln cap="flat" cmpd="sng" w="12700">
            <a:solidFill>
              <a:srgbClr val="D2D2FF">
                <a:alpha val="20000"/>
              </a:srgbClr>
            </a:solidFill>
            <a:prstDash val="solid"/>
            <a:round/>
            <a:headEnd len="sm" w="sm" type="none"/>
            <a:tailEnd len="sm" w="sm" type="none"/>
          </a:ln>
        </p:spPr>
      </p:cxnSp>
      <p:sp>
        <p:nvSpPr>
          <p:cNvPr id="919" name="Google Shape;919;p47"/>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920" name="Google Shape;920;p47"/>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921" name="Google Shape;921;p47"/>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922" name="Google Shape;922;p47"/>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923" name="Google Shape;923;p47"/>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924" name="Google Shape;924;p47"/>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925" name="Google Shape;925;p47"/>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926" name="Google Shape;926;p47"/>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927" name="Google Shape;927;p47"/>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928" name="Google Shape;928;p47"/>
          <p:cNvSpPr/>
          <p:nvPr/>
        </p:nvSpPr>
        <p:spPr>
          <a:xfrm>
            <a:off x="296280" y="380880"/>
            <a:ext cx="388188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8F8FF"/>
                </a:solidFill>
                <a:latin typeface="Overpass"/>
                <a:ea typeface="Overpass"/>
                <a:cs typeface="Overpass"/>
                <a:sym typeface="Overpass"/>
              </a:rPr>
              <a:t>Compatibility and interoperability</a:t>
            </a:r>
            <a:endParaRPr b="0" sz="1050" u="none" strike="noStrike">
              <a:solidFill>
                <a:srgbClr val="FFFFFF"/>
              </a:solidFill>
              <a:latin typeface="Arial"/>
              <a:ea typeface="Arial"/>
              <a:cs typeface="Arial"/>
              <a:sym typeface="Arial"/>
            </a:endParaRPr>
          </a:p>
        </p:txBody>
      </p:sp>
      <p:sp>
        <p:nvSpPr>
          <p:cNvPr id="929" name="Google Shape;929;p47"/>
          <p:cNvSpPr/>
          <p:nvPr/>
        </p:nvSpPr>
        <p:spPr>
          <a:xfrm>
            <a:off x="-120600" y="1925280"/>
            <a:ext cx="4797720" cy="1576800"/>
          </a:xfrm>
          <a:prstGeom prst="rect">
            <a:avLst/>
          </a:prstGeom>
          <a:noFill/>
          <a:ln>
            <a:noFill/>
          </a:ln>
        </p:spPr>
        <p:txBody>
          <a:bodyPr anchorCtr="0" anchor="ctr" bIns="45000" lIns="90000" spcFirstLastPara="1" rIns="90000" wrap="square" tIns="45000">
            <a:noAutofit/>
          </a:bodyPr>
          <a:lstStyle/>
          <a:p>
            <a:pPr indent="0" lvl="0" marL="0" marR="0" rtl="0" algn="ctr">
              <a:lnSpc>
                <a:spcPct val="78025"/>
              </a:lnSpc>
              <a:spcBef>
                <a:spcPts val="0"/>
              </a:spcBef>
              <a:spcAft>
                <a:spcPts val="0"/>
              </a:spcAft>
              <a:buNone/>
            </a:pPr>
            <a:r>
              <a:rPr b="0" lang="en-US" sz="3500" u="none" strike="noStrike">
                <a:solidFill>
                  <a:srgbClr val="FFFFFF"/>
                </a:solidFill>
                <a:latin typeface="Overpass Mono"/>
                <a:ea typeface="Overpass Mono"/>
                <a:cs typeface="Overpass Mono"/>
                <a:sym typeface="Overpass Mono"/>
              </a:rPr>
              <a:t>Compatibility and</a:t>
            </a:r>
            <a:endParaRPr b="0" sz="3500" u="none" strike="noStrike">
              <a:solidFill>
                <a:srgbClr val="FFFFFF"/>
              </a:solidFill>
              <a:latin typeface="Arial"/>
              <a:ea typeface="Arial"/>
              <a:cs typeface="Arial"/>
              <a:sym typeface="Arial"/>
            </a:endParaRPr>
          </a:p>
          <a:p>
            <a:pPr indent="0" lvl="0" marL="0" marR="0" rtl="0" algn="ctr">
              <a:lnSpc>
                <a:spcPct val="78025"/>
              </a:lnSpc>
              <a:spcBef>
                <a:spcPts val="0"/>
              </a:spcBef>
              <a:spcAft>
                <a:spcPts val="0"/>
              </a:spcAft>
              <a:buNone/>
            </a:pPr>
            <a:r>
              <a:rPr b="0" lang="en-US" sz="3500" u="none" strike="noStrike">
                <a:solidFill>
                  <a:srgbClr val="FFFFFF"/>
                </a:solidFill>
                <a:latin typeface="Overpass Mono"/>
                <a:ea typeface="Overpass Mono"/>
                <a:cs typeface="Overpass Mono"/>
                <a:sym typeface="Overpass Mono"/>
              </a:rPr>
              <a:t>interoperability</a:t>
            </a:r>
            <a:endParaRPr b="0" sz="3500" u="none" strike="noStrike">
              <a:solidFill>
                <a:srgbClr val="FFFFFF"/>
              </a:solidFill>
              <a:latin typeface="Arial"/>
              <a:ea typeface="Arial"/>
              <a:cs typeface="Arial"/>
              <a:sym typeface="Arial"/>
            </a:endParaRPr>
          </a:p>
        </p:txBody>
      </p:sp>
      <p:sp>
        <p:nvSpPr>
          <p:cNvPr id="930" name="Google Shape;930;p47"/>
          <p:cNvSpPr/>
          <p:nvPr/>
        </p:nvSpPr>
        <p:spPr>
          <a:xfrm>
            <a:off x="4680000" y="2213280"/>
            <a:ext cx="4501080" cy="157680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24683"/>
              </a:lnSpc>
              <a:spcBef>
                <a:spcPts val="0"/>
              </a:spcBef>
              <a:spcAft>
                <a:spcPts val="0"/>
              </a:spcAft>
              <a:buClr>
                <a:srgbClr val="FFFFFF"/>
              </a:buClr>
              <a:buSzPts val="711"/>
              <a:buFont typeface="Noto Sans Symbols"/>
              <a:buChar char="●"/>
            </a:pPr>
            <a:r>
              <a:rPr b="0" lang="en-US" sz="1580" u="none" strike="noStrike">
                <a:solidFill>
                  <a:srgbClr val="F8F8FF"/>
                </a:solidFill>
                <a:latin typeface="Overpass"/>
                <a:ea typeface="Overpass"/>
                <a:cs typeface="Overpass"/>
                <a:sym typeface="Overpass"/>
              </a:rPr>
              <a:t>Introducing major reviews to a language is challenging.</a:t>
            </a:r>
            <a:endParaRPr b="0" sz="1580" u="none" strike="noStrike">
              <a:solidFill>
                <a:srgbClr val="FFFFFF"/>
              </a:solidFill>
              <a:latin typeface="Arial"/>
              <a:ea typeface="Arial"/>
              <a:cs typeface="Arial"/>
              <a:sym typeface="Arial"/>
            </a:endParaRPr>
          </a:p>
          <a:p>
            <a:pPr indent="0" lvl="0" marL="0" marR="0" rtl="0" algn="l">
              <a:lnSpc>
                <a:spcPct val="124683"/>
              </a:lnSpc>
              <a:spcBef>
                <a:spcPts val="0"/>
              </a:spcBef>
              <a:spcAft>
                <a:spcPts val="0"/>
              </a:spcAft>
              <a:buNone/>
            </a:pPr>
            <a:r>
              <a:t/>
            </a:r>
            <a:endParaRPr b="0" sz="1580" u="none" strike="noStrike">
              <a:solidFill>
                <a:srgbClr val="FFFFFF"/>
              </a:solidFill>
              <a:latin typeface="Arial"/>
              <a:ea typeface="Arial"/>
              <a:cs typeface="Arial"/>
              <a:sym typeface="Arial"/>
            </a:endParaRPr>
          </a:p>
          <a:p>
            <a:pPr indent="-216000" lvl="0" marL="216000" marR="0" rtl="0" algn="l">
              <a:lnSpc>
                <a:spcPct val="124683"/>
              </a:lnSpc>
              <a:spcBef>
                <a:spcPts val="0"/>
              </a:spcBef>
              <a:spcAft>
                <a:spcPts val="0"/>
              </a:spcAft>
              <a:buClr>
                <a:srgbClr val="FFFFFF"/>
              </a:buClr>
              <a:buSzPts val="711"/>
              <a:buFont typeface="Noto Sans Symbols"/>
              <a:buChar char="●"/>
            </a:pPr>
            <a:r>
              <a:rPr b="0" lang="en-US" sz="1580" u="none" strike="noStrike">
                <a:solidFill>
                  <a:srgbClr val="F8F8FF"/>
                </a:solidFill>
                <a:latin typeface="Overpass"/>
                <a:ea typeface="Overpass"/>
                <a:cs typeface="Overpass"/>
                <a:sym typeface="Overpass"/>
              </a:rPr>
              <a:t>We plan a smooth transition to avoid language split.</a:t>
            </a:r>
            <a:endParaRPr b="0" sz="1580" u="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ABI compatibility will be </a:t>
            </a:r>
            <a:r>
              <a:rPr lang="en-US" sz="1580">
                <a:solidFill>
                  <a:srgbClr val="F8F8FF"/>
                </a:solidFill>
                <a:latin typeface="Overpass"/>
                <a:ea typeface="Overpass"/>
                <a:cs typeface="Overpass"/>
                <a:sym typeface="Overpass"/>
              </a:rPr>
              <a:t>maintained</a:t>
            </a:r>
            <a:r>
              <a:rPr b="0" i="0" lang="en-US" sz="1580" u="none" cap="none" strike="noStrike">
                <a:solidFill>
                  <a:srgbClr val="F8F8FF"/>
                </a:solidFill>
                <a:latin typeface="Overpass"/>
                <a:ea typeface="Overpass"/>
                <a:cs typeface="Overpass"/>
                <a:sym typeface="Overpass"/>
              </a:rPr>
              <a:t>.</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We’ll try to minimize syntax changes.</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Investigate tooling for automated migration.</a:t>
            </a:r>
            <a:endParaRPr b="0" i="0" sz="1580" u="none" cap="none" strike="noStrike">
              <a:solidFill>
                <a:srgbClr val="FFFFFF"/>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935" name="Shape 935"/>
        <p:cNvGrpSpPr/>
        <p:nvPr/>
      </p:nvGrpSpPr>
      <p:grpSpPr>
        <a:xfrm>
          <a:off x="0" y="0"/>
          <a:ext cx="0" cy="0"/>
          <a:chOff x="0" y="0"/>
          <a:chExt cx="0" cy="0"/>
        </a:xfrm>
      </p:grpSpPr>
      <p:sp>
        <p:nvSpPr>
          <p:cNvPr id="936" name="Google Shape;936;p48"/>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937" name="Google Shape;937;p48"/>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938" name="Google Shape;938;p48"/>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939" name="Google Shape;939;p48"/>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940" name="Google Shape;940;p48"/>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941" name="Google Shape;941;p48"/>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942" name="Google Shape;942;p48"/>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943" name="Google Shape;943;p48"/>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944" name="Google Shape;944;p48"/>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945" name="Google Shape;945;p48"/>
          <p:cNvSpPr/>
          <p:nvPr/>
        </p:nvSpPr>
        <p:spPr>
          <a:xfrm>
            <a:off x="368280" y="272880"/>
            <a:ext cx="260316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Compatibility and interoperability </a:t>
            </a:r>
            <a:endParaRPr b="0" sz="1050" u="none" strike="noStrike">
              <a:solidFill>
                <a:srgbClr val="FFFFFF"/>
              </a:solidFill>
              <a:latin typeface="Arial"/>
              <a:ea typeface="Arial"/>
              <a:cs typeface="Arial"/>
              <a:sym typeface="Arial"/>
            </a:endParaRPr>
          </a:p>
        </p:txBody>
      </p:sp>
      <p:sp>
        <p:nvSpPr>
          <p:cNvPr id="946" name="Google Shape;946;p48"/>
          <p:cNvSpPr/>
          <p:nvPr/>
        </p:nvSpPr>
        <p:spPr>
          <a:xfrm>
            <a:off x="350640" y="581760"/>
            <a:ext cx="856440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3100" u="none" strike="noStrike">
                <a:solidFill>
                  <a:srgbClr val="D2D2FF"/>
                </a:solidFill>
                <a:latin typeface="Overpass Mono"/>
                <a:ea typeface="Overpass Mono"/>
                <a:cs typeface="Overpass Mono"/>
                <a:sym typeface="Overpass Mono"/>
              </a:rPr>
              <a:t>Simple Contract – Classic Solidity</a:t>
            </a:r>
            <a:endParaRPr b="0" sz="3100" u="none" strike="noStrike">
              <a:solidFill>
                <a:srgbClr val="FFFFFF"/>
              </a:solidFill>
              <a:latin typeface="Arial"/>
              <a:ea typeface="Arial"/>
              <a:cs typeface="Arial"/>
              <a:sym typeface="Arial"/>
            </a:endParaRPr>
          </a:p>
        </p:txBody>
      </p:sp>
      <p:sp>
        <p:nvSpPr>
          <p:cNvPr id="947" name="Google Shape;947;p48"/>
          <p:cNvSpPr/>
          <p:nvPr/>
        </p:nvSpPr>
        <p:spPr>
          <a:xfrm>
            <a:off x="288000" y="4402800"/>
            <a:ext cx="8819640" cy="863280"/>
          </a:xfrm>
          <a:prstGeom prst="rect">
            <a:avLst/>
          </a:prstGeom>
          <a:noFill/>
          <a:ln>
            <a:noFill/>
          </a:ln>
        </p:spPr>
        <p:txBody>
          <a:bodyPr anchorCtr="0" anchor="ctr" bIns="45000" lIns="90000" spcFirstLastPara="1" rIns="90000" wrap="square" tIns="45000">
            <a:noAutofit/>
          </a:bodyPr>
          <a:lstStyle/>
          <a:p>
            <a:pPr indent="0" lvl="0" marL="0" marR="0" rtl="0" algn="l">
              <a:lnSpc>
                <a:spcPct val="109444"/>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id="948" name="Google Shape;948;p48"/>
          <p:cNvPicPr preferRelativeResize="0"/>
          <p:nvPr/>
        </p:nvPicPr>
        <p:blipFill rotWithShape="1">
          <a:blip r:embed="rId6">
            <a:alphaModFix/>
          </a:blip>
          <a:srcRect b="15766" l="11252" r="12099" t="22002"/>
          <a:stretch/>
        </p:blipFill>
        <p:spPr>
          <a:xfrm>
            <a:off x="401400" y="1251000"/>
            <a:ext cx="5028480" cy="319968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953" name="Shape 953"/>
        <p:cNvGrpSpPr/>
        <p:nvPr/>
      </p:nvGrpSpPr>
      <p:grpSpPr>
        <a:xfrm>
          <a:off x="0" y="0"/>
          <a:ext cx="0" cy="0"/>
          <a:chOff x="0" y="0"/>
          <a:chExt cx="0" cy="0"/>
        </a:xfrm>
      </p:grpSpPr>
      <p:sp>
        <p:nvSpPr>
          <p:cNvPr id="954" name="Google Shape;954;p49"/>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955" name="Google Shape;955;p49"/>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956" name="Google Shape;956;p49"/>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957" name="Google Shape;957;p49"/>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958" name="Google Shape;958;p49"/>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959" name="Google Shape;959;p49"/>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960" name="Google Shape;960;p49"/>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961" name="Google Shape;961;p49"/>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962" name="Google Shape;962;p49"/>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963" name="Google Shape;963;p49"/>
          <p:cNvSpPr/>
          <p:nvPr/>
        </p:nvSpPr>
        <p:spPr>
          <a:xfrm>
            <a:off x="368280" y="272880"/>
            <a:ext cx="260316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FFFFF"/>
                </a:solidFill>
                <a:latin typeface="Overpass"/>
                <a:ea typeface="Overpass"/>
                <a:cs typeface="Overpass"/>
                <a:sym typeface="Overpass"/>
              </a:rPr>
              <a:t>Compatibility and interoperability </a:t>
            </a:r>
            <a:endParaRPr b="0" sz="1050" u="none" strike="noStrike">
              <a:solidFill>
                <a:srgbClr val="FFFFFF"/>
              </a:solidFill>
              <a:latin typeface="Arial"/>
              <a:ea typeface="Arial"/>
              <a:cs typeface="Arial"/>
              <a:sym typeface="Arial"/>
            </a:endParaRPr>
          </a:p>
        </p:txBody>
      </p:sp>
      <p:sp>
        <p:nvSpPr>
          <p:cNvPr id="964" name="Google Shape;964;p49"/>
          <p:cNvSpPr/>
          <p:nvPr/>
        </p:nvSpPr>
        <p:spPr>
          <a:xfrm>
            <a:off x="350640" y="581760"/>
            <a:ext cx="7878600" cy="786240"/>
          </a:xfrm>
          <a:prstGeom prst="rect">
            <a:avLst/>
          </a:prstGeom>
          <a:noFill/>
          <a:ln>
            <a:noFill/>
          </a:ln>
        </p:spPr>
        <p:txBody>
          <a:bodyPr anchorCtr="0" anchor="ctr" bIns="45000" lIns="90000" spcFirstLastPara="1" rIns="90000" wrap="square" tIns="45000">
            <a:noAutofit/>
          </a:bodyPr>
          <a:lstStyle/>
          <a:p>
            <a:pPr indent="0" lvl="0" marL="0" marR="0" rtl="0" algn="l">
              <a:lnSpc>
                <a:spcPct val="78025"/>
              </a:lnSpc>
              <a:spcBef>
                <a:spcPts val="0"/>
              </a:spcBef>
              <a:spcAft>
                <a:spcPts val="0"/>
              </a:spcAft>
              <a:buNone/>
            </a:pPr>
            <a:r>
              <a:rPr b="0" lang="en-US" sz="3100" u="none" strike="noStrike">
                <a:solidFill>
                  <a:srgbClr val="D2D2FF"/>
                </a:solidFill>
                <a:latin typeface="Overpass Mono"/>
                <a:ea typeface="Overpass Mono"/>
                <a:cs typeface="Overpass Mono"/>
                <a:sym typeface="Overpass Mono"/>
              </a:rPr>
              <a:t>Simple Contract – Core Solidity</a:t>
            </a:r>
            <a:endParaRPr b="0" sz="3100" u="none" strike="noStrike">
              <a:solidFill>
                <a:srgbClr val="FFFFFF"/>
              </a:solidFill>
              <a:latin typeface="Arial"/>
              <a:ea typeface="Arial"/>
              <a:cs typeface="Arial"/>
              <a:sym typeface="Arial"/>
            </a:endParaRPr>
          </a:p>
        </p:txBody>
      </p:sp>
      <p:sp>
        <p:nvSpPr>
          <p:cNvPr id="965" name="Google Shape;965;p49"/>
          <p:cNvSpPr/>
          <p:nvPr/>
        </p:nvSpPr>
        <p:spPr>
          <a:xfrm>
            <a:off x="288000" y="4114800"/>
            <a:ext cx="8819640" cy="86328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09444"/>
              </a:lnSpc>
              <a:spcBef>
                <a:spcPts val="0"/>
              </a:spcBef>
              <a:spcAft>
                <a:spcPts val="0"/>
              </a:spcAft>
              <a:buClr>
                <a:srgbClr val="FFFFFF"/>
              </a:buClr>
              <a:buSzPts val="810"/>
              <a:buFont typeface="Noto Sans Symbols"/>
              <a:buChar char="●"/>
            </a:pPr>
            <a:r>
              <a:rPr b="0" lang="en-US" sz="1800" u="none" strike="noStrike">
                <a:solidFill>
                  <a:srgbClr val="F8F8FF"/>
                </a:solidFill>
                <a:latin typeface="Overpass"/>
                <a:ea typeface="Overpass"/>
                <a:cs typeface="Overpass"/>
                <a:sym typeface="Overpass"/>
              </a:rPr>
              <a:t>Minimal changes: postfix types, import of standard library.</a:t>
            </a:r>
            <a:endParaRPr b="0" sz="1800" u="none" strike="noStrike">
              <a:solidFill>
                <a:srgbClr val="FFFFFF"/>
              </a:solidFill>
              <a:latin typeface="Arial"/>
              <a:ea typeface="Arial"/>
              <a:cs typeface="Arial"/>
              <a:sym typeface="Arial"/>
            </a:endParaRPr>
          </a:p>
        </p:txBody>
      </p:sp>
      <p:pic>
        <p:nvPicPr>
          <p:cNvPr id="966" name="Google Shape;966;p49"/>
          <p:cNvPicPr preferRelativeResize="0"/>
          <p:nvPr/>
        </p:nvPicPr>
        <p:blipFill rotWithShape="1">
          <a:blip r:embed="rId6">
            <a:alphaModFix/>
          </a:blip>
          <a:srcRect b="15769" l="14102" r="15061" t="26443"/>
          <a:stretch/>
        </p:blipFill>
        <p:spPr>
          <a:xfrm>
            <a:off x="354600" y="1371600"/>
            <a:ext cx="4114080" cy="297072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971" name="Shape 971"/>
        <p:cNvGrpSpPr/>
        <p:nvPr/>
      </p:nvGrpSpPr>
      <p:grpSpPr>
        <a:xfrm>
          <a:off x="0" y="0"/>
          <a:ext cx="0" cy="0"/>
          <a:chOff x="0" y="0"/>
          <a:chExt cx="0" cy="0"/>
        </a:xfrm>
      </p:grpSpPr>
      <p:cxnSp>
        <p:nvCxnSpPr>
          <p:cNvPr id="972" name="Google Shape;972;p50"/>
          <p:cNvCxnSpPr/>
          <p:nvPr/>
        </p:nvCxnSpPr>
        <p:spPr>
          <a:xfrm>
            <a:off x="4572000" y="0"/>
            <a:ext cx="360" cy="5143320"/>
          </a:xfrm>
          <a:prstGeom prst="straightConnector1">
            <a:avLst/>
          </a:prstGeom>
          <a:noFill/>
          <a:ln cap="flat" cmpd="sng" w="12700">
            <a:solidFill>
              <a:srgbClr val="2B247C">
                <a:alpha val="20000"/>
              </a:srgbClr>
            </a:solidFill>
            <a:prstDash val="solid"/>
            <a:round/>
            <a:headEnd len="sm" w="sm" type="none"/>
            <a:tailEnd len="sm" w="sm" type="none"/>
          </a:ln>
        </p:spPr>
      </p:cxnSp>
      <p:cxnSp>
        <p:nvCxnSpPr>
          <p:cNvPr id="973" name="Google Shape;973;p50"/>
          <p:cNvCxnSpPr/>
          <p:nvPr/>
        </p:nvCxnSpPr>
        <p:spPr>
          <a:xfrm>
            <a:off x="4572000" y="0"/>
            <a:ext cx="360" cy="5143320"/>
          </a:xfrm>
          <a:prstGeom prst="straightConnector1">
            <a:avLst/>
          </a:prstGeom>
          <a:noFill/>
          <a:ln cap="flat" cmpd="sng" w="12700">
            <a:solidFill>
              <a:srgbClr val="D2D2FF">
                <a:alpha val="20000"/>
              </a:srgbClr>
            </a:solidFill>
            <a:prstDash val="solid"/>
            <a:round/>
            <a:headEnd len="sm" w="sm" type="none"/>
            <a:tailEnd len="sm" w="sm" type="none"/>
          </a:ln>
        </p:spPr>
      </p:cxnSp>
      <p:sp>
        <p:nvSpPr>
          <p:cNvPr id="974" name="Google Shape;974;p50"/>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975" name="Google Shape;975;p50"/>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976" name="Google Shape;976;p50"/>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977" name="Google Shape;977;p50"/>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978" name="Google Shape;978;p50"/>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979" name="Google Shape;979;p50"/>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980" name="Google Shape;980;p50"/>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981" name="Google Shape;981;p50"/>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982" name="Google Shape;982;p50"/>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983" name="Google Shape;983;p50"/>
          <p:cNvSpPr/>
          <p:nvPr/>
        </p:nvSpPr>
        <p:spPr>
          <a:xfrm>
            <a:off x="80280" y="380880"/>
            <a:ext cx="388188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8F8FF"/>
                </a:solidFill>
                <a:latin typeface="Overpass"/>
                <a:ea typeface="Overpass"/>
                <a:cs typeface="Overpass"/>
                <a:sym typeface="Overpass"/>
              </a:rPr>
              <a:t>The road to production</a:t>
            </a:r>
            <a:endParaRPr b="0" sz="1050" u="none" strike="noStrike">
              <a:solidFill>
                <a:srgbClr val="FFFFFF"/>
              </a:solidFill>
              <a:latin typeface="Arial"/>
              <a:ea typeface="Arial"/>
              <a:cs typeface="Arial"/>
              <a:sym typeface="Arial"/>
            </a:endParaRPr>
          </a:p>
        </p:txBody>
      </p:sp>
      <p:sp>
        <p:nvSpPr>
          <p:cNvPr id="984" name="Google Shape;984;p50"/>
          <p:cNvSpPr/>
          <p:nvPr/>
        </p:nvSpPr>
        <p:spPr>
          <a:xfrm>
            <a:off x="-120600" y="1925280"/>
            <a:ext cx="4797720" cy="1576800"/>
          </a:xfrm>
          <a:prstGeom prst="rect">
            <a:avLst/>
          </a:prstGeom>
          <a:noFill/>
          <a:ln>
            <a:noFill/>
          </a:ln>
        </p:spPr>
        <p:txBody>
          <a:bodyPr anchorCtr="0" anchor="ctr" bIns="45000" lIns="90000" spcFirstLastPara="1" rIns="90000" wrap="square" tIns="45000">
            <a:noAutofit/>
          </a:bodyPr>
          <a:lstStyle/>
          <a:p>
            <a:pPr indent="0" lvl="0" marL="0" marR="0" rtl="0" algn="ctr">
              <a:lnSpc>
                <a:spcPct val="78025"/>
              </a:lnSpc>
              <a:spcBef>
                <a:spcPts val="0"/>
              </a:spcBef>
              <a:spcAft>
                <a:spcPts val="0"/>
              </a:spcAft>
              <a:buNone/>
            </a:pPr>
            <a:r>
              <a:rPr b="0" lang="en-US" sz="4000" u="none" strike="noStrike">
                <a:solidFill>
                  <a:srgbClr val="FFFFFF"/>
                </a:solidFill>
                <a:latin typeface="Overpass Mono"/>
                <a:ea typeface="Overpass Mono"/>
                <a:cs typeface="Overpass Mono"/>
                <a:sym typeface="Overpass Mono"/>
              </a:rPr>
              <a:t>The road to </a:t>
            </a:r>
            <a:endParaRPr b="0" sz="4000" u="none" strike="noStrike">
              <a:solidFill>
                <a:srgbClr val="FFFFFF"/>
              </a:solidFill>
              <a:latin typeface="Arial"/>
              <a:ea typeface="Arial"/>
              <a:cs typeface="Arial"/>
              <a:sym typeface="Arial"/>
            </a:endParaRPr>
          </a:p>
          <a:p>
            <a:pPr indent="0" lvl="0" marL="0" marR="0" rtl="0" algn="ctr">
              <a:lnSpc>
                <a:spcPct val="78025"/>
              </a:lnSpc>
              <a:spcBef>
                <a:spcPts val="0"/>
              </a:spcBef>
              <a:spcAft>
                <a:spcPts val="0"/>
              </a:spcAft>
              <a:buNone/>
            </a:pPr>
            <a:r>
              <a:rPr b="0" lang="en-US" sz="4000" u="none" strike="noStrike">
                <a:solidFill>
                  <a:srgbClr val="FFFFFF"/>
                </a:solidFill>
                <a:latin typeface="Overpass Mono"/>
                <a:ea typeface="Overpass Mono"/>
                <a:cs typeface="Overpass Mono"/>
                <a:sym typeface="Overpass Mono"/>
              </a:rPr>
              <a:t>production</a:t>
            </a:r>
            <a:endParaRPr b="0" sz="4000" u="none" strike="noStrike">
              <a:solidFill>
                <a:srgbClr val="FFFFFF"/>
              </a:solidFill>
              <a:latin typeface="Arial"/>
              <a:ea typeface="Arial"/>
              <a:cs typeface="Arial"/>
              <a:sym typeface="Arial"/>
            </a:endParaRPr>
          </a:p>
        </p:txBody>
      </p:sp>
      <p:sp>
        <p:nvSpPr>
          <p:cNvPr id="985" name="Google Shape;985;p50"/>
          <p:cNvSpPr/>
          <p:nvPr/>
        </p:nvSpPr>
        <p:spPr>
          <a:xfrm>
            <a:off x="4608000" y="1997280"/>
            <a:ext cx="4501080" cy="157680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24683"/>
              </a:lnSpc>
              <a:spcBef>
                <a:spcPts val="0"/>
              </a:spcBef>
              <a:spcAft>
                <a:spcPts val="0"/>
              </a:spcAft>
              <a:buClr>
                <a:srgbClr val="FFFFFF"/>
              </a:buClr>
              <a:buSzPts val="711"/>
              <a:buFont typeface="Noto Sans Symbols"/>
              <a:buChar char="●"/>
            </a:pPr>
            <a:r>
              <a:rPr b="0" lang="en-US" sz="1580" u="none" strike="noStrike">
                <a:solidFill>
                  <a:srgbClr val="F8F8FF"/>
                </a:solidFill>
                <a:latin typeface="Overpass"/>
                <a:ea typeface="Overpass"/>
                <a:cs typeface="Overpass"/>
                <a:sym typeface="Overpass"/>
              </a:rPr>
              <a:t>Prototype implementation available.</a:t>
            </a:r>
            <a:endParaRPr b="0" sz="1580" u="none" strike="noStrike">
              <a:solidFill>
                <a:srgbClr val="FFFFFF"/>
              </a:solidFill>
              <a:latin typeface="Arial"/>
              <a:ea typeface="Arial"/>
              <a:cs typeface="Arial"/>
              <a:sym typeface="Arial"/>
            </a:endParaRPr>
          </a:p>
          <a:p>
            <a:pPr indent="-216000" lvl="0" marL="216000" marR="0" rtl="0" algn="l">
              <a:lnSpc>
                <a:spcPct val="124683"/>
              </a:lnSpc>
              <a:spcBef>
                <a:spcPts val="0"/>
              </a:spcBef>
              <a:spcAft>
                <a:spcPts val="0"/>
              </a:spcAft>
              <a:buClr>
                <a:srgbClr val="FFFFFF"/>
              </a:buClr>
              <a:buSzPts val="711"/>
              <a:buFont typeface="Noto Sans Symbols"/>
              <a:buChar char="●"/>
            </a:pPr>
            <a:r>
              <a:rPr b="0" lang="en-US" sz="1580" u="none" strike="noStrike">
                <a:solidFill>
                  <a:srgbClr val="F8F8FF"/>
                </a:solidFill>
                <a:latin typeface="Overpass"/>
                <a:ea typeface="Overpass"/>
                <a:cs typeface="Overpass"/>
                <a:sym typeface="Overpass"/>
              </a:rPr>
              <a:t>Standard library has implementations of:</a:t>
            </a:r>
            <a:endParaRPr b="0" sz="1580" u="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ABI compatible contracts</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ABI encoding / decoding</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Dispatch</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Storage access.</a:t>
            </a:r>
            <a:endParaRPr b="0" i="0" sz="1580" u="none" cap="none" strike="noStrike">
              <a:solidFill>
                <a:srgbClr val="FFFFFF"/>
              </a:solidFill>
              <a:latin typeface="Arial"/>
              <a:ea typeface="Arial"/>
              <a:cs typeface="Arial"/>
              <a:sym typeface="Arial"/>
            </a:endParaRPr>
          </a:p>
          <a:p>
            <a:pPr indent="-216000" lvl="0" marL="216000" marR="0" rtl="0" algn="l">
              <a:lnSpc>
                <a:spcPct val="124683"/>
              </a:lnSpc>
              <a:spcBef>
                <a:spcPts val="0"/>
              </a:spcBef>
              <a:spcAft>
                <a:spcPts val="0"/>
              </a:spcAft>
              <a:buClr>
                <a:srgbClr val="FFFFFF"/>
              </a:buClr>
              <a:buSzPts val="711"/>
              <a:buFont typeface="Noto Sans Symbols"/>
              <a:buChar char="●"/>
            </a:pPr>
            <a:r>
              <a:rPr b="0" lang="en-US" sz="1580" u="none" strike="noStrike">
                <a:solidFill>
                  <a:srgbClr val="F8F8FF"/>
                </a:solidFill>
                <a:latin typeface="Overpass"/>
                <a:ea typeface="Overpass"/>
                <a:cs typeface="Overpass"/>
                <a:sym typeface="Overpass"/>
              </a:rPr>
              <a:t>Current prototype is able to compile a ERC20 contract.</a:t>
            </a:r>
            <a:endParaRPr b="0" sz="1580" u="none" strike="noStrike">
              <a:solidFill>
                <a:srgbClr val="FFFFFF"/>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990" name="Shape 990"/>
        <p:cNvGrpSpPr/>
        <p:nvPr/>
      </p:nvGrpSpPr>
      <p:grpSpPr>
        <a:xfrm>
          <a:off x="0" y="0"/>
          <a:ext cx="0" cy="0"/>
          <a:chOff x="0" y="0"/>
          <a:chExt cx="0" cy="0"/>
        </a:xfrm>
      </p:grpSpPr>
      <p:cxnSp>
        <p:nvCxnSpPr>
          <p:cNvPr id="991" name="Google Shape;991;p51"/>
          <p:cNvCxnSpPr/>
          <p:nvPr/>
        </p:nvCxnSpPr>
        <p:spPr>
          <a:xfrm>
            <a:off x="4572000" y="0"/>
            <a:ext cx="360" cy="5143320"/>
          </a:xfrm>
          <a:prstGeom prst="straightConnector1">
            <a:avLst/>
          </a:prstGeom>
          <a:noFill/>
          <a:ln cap="flat" cmpd="sng" w="12700">
            <a:solidFill>
              <a:srgbClr val="2B247C">
                <a:alpha val="20000"/>
              </a:srgbClr>
            </a:solidFill>
            <a:prstDash val="solid"/>
            <a:round/>
            <a:headEnd len="sm" w="sm" type="none"/>
            <a:tailEnd len="sm" w="sm" type="none"/>
          </a:ln>
        </p:spPr>
      </p:cxnSp>
      <p:cxnSp>
        <p:nvCxnSpPr>
          <p:cNvPr id="992" name="Google Shape;992;p51"/>
          <p:cNvCxnSpPr/>
          <p:nvPr/>
        </p:nvCxnSpPr>
        <p:spPr>
          <a:xfrm>
            <a:off x="4572000" y="0"/>
            <a:ext cx="360" cy="5143320"/>
          </a:xfrm>
          <a:prstGeom prst="straightConnector1">
            <a:avLst/>
          </a:prstGeom>
          <a:noFill/>
          <a:ln cap="flat" cmpd="sng" w="12700">
            <a:solidFill>
              <a:srgbClr val="D2D2FF">
                <a:alpha val="20000"/>
              </a:srgbClr>
            </a:solidFill>
            <a:prstDash val="solid"/>
            <a:round/>
            <a:headEnd len="sm" w="sm" type="none"/>
            <a:tailEnd len="sm" w="sm" type="none"/>
          </a:ln>
        </p:spPr>
      </p:cxnSp>
      <p:sp>
        <p:nvSpPr>
          <p:cNvPr id="993" name="Google Shape;993;p51"/>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994" name="Google Shape;994;p51"/>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995" name="Google Shape;995;p51"/>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996" name="Google Shape;996;p51"/>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997" name="Google Shape;997;p51"/>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998" name="Google Shape;998;p51"/>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999" name="Google Shape;999;p51"/>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1000" name="Google Shape;1000;p51"/>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1001" name="Google Shape;1001;p51"/>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1002" name="Google Shape;1002;p51"/>
          <p:cNvSpPr/>
          <p:nvPr/>
        </p:nvSpPr>
        <p:spPr>
          <a:xfrm>
            <a:off x="80280" y="380880"/>
            <a:ext cx="388188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8F8FF"/>
                </a:solidFill>
                <a:latin typeface="Overpass"/>
                <a:ea typeface="Overpass"/>
                <a:cs typeface="Overpass"/>
                <a:sym typeface="Overpass"/>
              </a:rPr>
              <a:t>The road to production</a:t>
            </a:r>
            <a:endParaRPr b="0" sz="1050" u="none" strike="noStrike">
              <a:solidFill>
                <a:srgbClr val="FFFFFF"/>
              </a:solidFill>
              <a:latin typeface="Arial"/>
              <a:ea typeface="Arial"/>
              <a:cs typeface="Arial"/>
              <a:sym typeface="Arial"/>
            </a:endParaRPr>
          </a:p>
        </p:txBody>
      </p:sp>
      <p:sp>
        <p:nvSpPr>
          <p:cNvPr id="1003" name="Google Shape;1003;p51"/>
          <p:cNvSpPr/>
          <p:nvPr/>
        </p:nvSpPr>
        <p:spPr>
          <a:xfrm>
            <a:off x="-120600" y="1925280"/>
            <a:ext cx="4797720" cy="1576800"/>
          </a:xfrm>
          <a:prstGeom prst="rect">
            <a:avLst/>
          </a:prstGeom>
          <a:noFill/>
          <a:ln>
            <a:noFill/>
          </a:ln>
        </p:spPr>
        <p:txBody>
          <a:bodyPr anchorCtr="0" anchor="ctr" bIns="45000" lIns="90000" spcFirstLastPara="1" rIns="90000" wrap="square" tIns="45000">
            <a:noAutofit/>
          </a:bodyPr>
          <a:lstStyle/>
          <a:p>
            <a:pPr indent="0" lvl="0" marL="0" marR="0" rtl="0" algn="ctr">
              <a:lnSpc>
                <a:spcPct val="78025"/>
              </a:lnSpc>
              <a:spcBef>
                <a:spcPts val="0"/>
              </a:spcBef>
              <a:spcAft>
                <a:spcPts val="0"/>
              </a:spcAft>
              <a:buNone/>
            </a:pPr>
            <a:r>
              <a:rPr b="0" lang="en-US" sz="4000" u="none" strike="noStrike">
                <a:solidFill>
                  <a:srgbClr val="FFFFFF"/>
                </a:solidFill>
                <a:latin typeface="Overpass Mono"/>
                <a:ea typeface="Overpass Mono"/>
                <a:cs typeface="Overpass Mono"/>
                <a:sym typeface="Overpass Mono"/>
              </a:rPr>
              <a:t>The road to </a:t>
            </a:r>
            <a:endParaRPr b="0" sz="4000" u="none" strike="noStrike">
              <a:solidFill>
                <a:srgbClr val="FFFFFF"/>
              </a:solidFill>
              <a:latin typeface="Arial"/>
              <a:ea typeface="Arial"/>
              <a:cs typeface="Arial"/>
              <a:sym typeface="Arial"/>
            </a:endParaRPr>
          </a:p>
          <a:p>
            <a:pPr indent="0" lvl="0" marL="0" marR="0" rtl="0" algn="ctr">
              <a:lnSpc>
                <a:spcPct val="78025"/>
              </a:lnSpc>
              <a:spcBef>
                <a:spcPts val="0"/>
              </a:spcBef>
              <a:spcAft>
                <a:spcPts val="0"/>
              </a:spcAft>
              <a:buNone/>
            </a:pPr>
            <a:r>
              <a:rPr b="0" lang="en-US" sz="4000" u="none" strike="noStrike">
                <a:solidFill>
                  <a:srgbClr val="FFFFFF"/>
                </a:solidFill>
                <a:latin typeface="Overpass Mono"/>
                <a:ea typeface="Overpass Mono"/>
                <a:cs typeface="Overpass Mono"/>
                <a:sym typeface="Overpass Mono"/>
              </a:rPr>
              <a:t>production</a:t>
            </a:r>
            <a:endParaRPr b="0" sz="4000" u="none" strike="noStrike">
              <a:solidFill>
                <a:srgbClr val="FFFFFF"/>
              </a:solidFill>
              <a:latin typeface="Arial"/>
              <a:ea typeface="Arial"/>
              <a:cs typeface="Arial"/>
              <a:sym typeface="Arial"/>
            </a:endParaRPr>
          </a:p>
        </p:txBody>
      </p:sp>
      <p:sp>
        <p:nvSpPr>
          <p:cNvPr id="1004" name="Google Shape;1004;p51"/>
          <p:cNvSpPr/>
          <p:nvPr/>
        </p:nvSpPr>
        <p:spPr>
          <a:xfrm>
            <a:off x="4608000" y="1961280"/>
            <a:ext cx="4501080" cy="157680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24683"/>
              </a:lnSpc>
              <a:spcBef>
                <a:spcPts val="0"/>
              </a:spcBef>
              <a:spcAft>
                <a:spcPts val="0"/>
              </a:spcAft>
              <a:buClr>
                <a:srgbClr val="FFFFFF"/>
              </a:buClr>
              <a:buSzPts val="711"/>
              <a:buFont typeface="Noto Sans Symbols"/>
              <a:buChar char="●"/>
            </a:pPr>
            <a:r>
              <a:rPr b="0" lang="en-US" sz="1580" u="none" strike="noStrike">
                <a:solidFill>
                  <a:srgbClr val="F8F8FF"/>
                </a:solidFill>
                <a:latin typeface="Overpass"/>
                <a:ea typeface="Overpass"/>
                <a:cs typeface="Overpass"/>
                <a:sym typeface="Overpass"/>
              </a:rPr>
              <a:t>Next steps (finish type system):</a:t>
            </a:r>
            <a:endParaRPr b="0" sz="1580" u="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Define compile time evaluation.	</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Module system.</a:t>
            </a:r>
            <a:endParaRPr b="0" i="0" sz="1580" u="none" cap="none" strike="noStrike">
              <a:solidFill>
                <a:srgbClr val="FFFFFF"/>
              </a:solidFill>
              <a:latin typeface="Arial"/>
              <a:ea typeface="Arial"/>
              <a:cs typeface="Arial"/>
              <a:sym typeface="Arial"/>
            </a:endParaRPr>
          </a:p>
          <a:p>
            <a:pPr indent="-216000" lvl="0" marL="216000" marR="0" rtl="0" algn="l">
              <a:lnSpc>
                <a:spcPct val="124683"/>
              </a:lnSpc>
              <a:spcBef>
                <a:spcPts val="0"/>
              </a:spcBef>
              <a:spcAft>
                <a:spcPts val="0"/>
              </a:spcAft>
              <a:buClr>
                <a:srgbClr val="FFFFFF"/>
              </a:buClr>
              <a:buSzPts val="711"/>
              <a:buFont typeface="Noto Sans Symbols"/>
              <a:buChar char="●"/>
            </a:pPr>
            <a:r>
              <a:rPr b="0" lang="en-US" sz="1580" u="none" strike="noStrike">
                <a:solidFill>
                  <a:srgbClr val="F8F8FF"/>
                </a:solidFill>
                <a:latin typeface="Overpass"/>
                <a:ea typeface="Overpass"/>
                <a:cs typeface="Overpass"/>
                <a:sym typeface="Overpass"/>
              </a:rPr>
              <a:t>Prototype stable:</a:t>
            </a:r>
            <a:endParaRPr b="0" sz="1580" u="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Start a production implementation.</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Mechanize the meta-theory using a proof assistant.</a:t>
            </a:r>
            <a:endParaRPr b="0" i="0" sz="1580" u="none" cap="none" strike="noStrike">
              <a:solidFill>
                <a:srgbClr val="FFFFFF"/>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1009" name="Shape 1009"/>
        <p:cNvGrpSpPr/>
        <p:nvPr/>
      </p:nvGrpSpPr>
      <p:grpSpPr>
        <a:xfrm>
          <a:off x="0" y="0"/>
          <a:ext cx="0" cy="0"/>
          <a:chOff x="0" y="0"/>
          <a:chExt cx="0" cy="0"/>
        </a:xfrm>
      </p:grpSpPr>
      <p:cxnSp>
        <p:nvCxnSpPr>
          <p:cNvPr id="1010" name="Google Shape;1010;p52"/>
          <p:cNvCxnSpPr/>
          <p:nvPr/>
        </p:nvCxnSpPr>
        <p:spPr>
          <a:xfrm>
            <a:off x="4572000" y="0"/>
            <a:ext cx="360" cy="5143320"/>
          </a:xfrm>
          <a:prstGeom prst="straightConnector1">
            <a:avLst/>
          </a:prstGeom>
          <a:noFill/>
          <a:ln cap="flat" cmpd="sng" w="12700">
            <a:solidFill>
              <a:srgbClr val="2B247C">
                <a:alpha val="20000"/>
              </a:srgbClr>
            </a:solidFill>
            <a:prstDash val="solid"/>
            <a:round/>
            <a:headEnd len="sm" w="sm" type="none"/>
            <a:tailEnd len="sm" w="sm" type="none"/>
          </a:ln>
        </p:spPr>
      </p:cxnSp>
      <p:cxnSp>
        <p:nvCxnSpPr>
          <p:cNvPr id="1011" name="Google Shape;1011;p52"/>
          <p:cNvCxnSpPr/>
          <p:nvPr/>
        </p:nvCxnSpPr>
        <p:spPr>
          <a:xfrm>
            <a:off x="4572000" y="0"/>
            <a:ext cx="360" cy="5143320"/>
          </a:xfrm>
          <a:prstGeom prst="straightConnector1">
            <a:avLst/>
          </a:prstGeom>
          <a:noFill/>
          <a:ln cap="flat" cmpd="sng" w="12700">
            <a:solidFill>
              <a:srgbClr val="D2D2FF">
                <a:alpha val="20000"/>
              </a:srgbClr>
            </a:solidFill>
            <a:prstDash val="solid"/>
            <a:round/>
            <a:headEnd len="sm" w="sm" type="none"/>
            <a:tailEnd len="sm" w="sm" type="none"/>
          </a:ln>
        </p:spPr>
      </p:cxnSp>
      <p:sp>
        <p:nvSpPr>
          <p:cNvPr id="1012" name="Google Shape;1012;p52"/>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1013" name="Google Shape;1013;p52"/>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1014" name="Google Shape;1014;p52"/>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1015" name="Google Shape;1015;p52"/>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1016" name="Google Shape;1016;p52"/>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1017" name="Google Shape;1017;p52"/>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1018" name="Google Shape;1018;p52"/>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1019" name="Google Shape;1019;p52"/>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1020" name="Google Shape;1020;p52"/>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1021" name="Google Shape;1021;p52"/>
          <p:cNvSpPr/>
          <p:nvPr/>
        </p:nvSpPr>
        <p:spPr>
          <a:xfrm>
            <a:off x="80280" y="380880"/>
            <a:ext cx="388188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8F8FF"/>
                </a:solidFill>
                <a:latin typeface="Overpass"/>
                <a:ea typeface="Overpass"/>
                <a:cs typeface="Overpass"/>
                <a:sym typeface="Overpass"/>
              </a:rPr>
              <a:t>Beyond 1.0</a:t>
            </a:r>
            <a:endParaRPr b="0" sz="1050" u="none" strike="noStrike">
              <a:solidFill>
                <a:srgbClr val="FFFFFF"/>
              </a:solidFill>
              <a:latin typeface="Arial"/>
              <a:ea typeface="Arial"/>
              <a:cs typeface="Arial"/>
              <a:sym typeface="Arial"/>
            </a:endParaRPr>
          </a:p>
        </p:txBody>
      </p:sp>
      <p:sp>
        <p:nvSpPr>
          <p:cNvPr id="1022" name="Google Shape;1022;p52"/>
          <p:cNvSpPr/>
          <p:nvPr/>
        </p:nvSpPr>
        <p:spPr>
          <a:xfrm>
            <a:off x="-120600" y="1925280"/>
            <a:ext cx="4797720" cy="1576800"/>
          </a:xfrm>
          <a:prstGeom prst="rect">
            <a:avLst/>
          </a:prstGeom>
          <a:noFill/>
          <a:ln>
            <a:noFill/>
          </a:ln>
        </p:spPr>
        <p:txBody>
          <a:bodyPr anchorCtr="0" anchor="ctr" bIns="45000" lIns="90000" spcFirstLastPara="1" rIns="90000" wrap="square" tIns="45000">
            <a:noAutofit/>
          </a:bodyPr>
          <a:lstStyle/>
          <a:p>
            <a:pPr indent="0" lvl="0" marL="0" marR="0" rtl="0" algn="ctr">
              <a:lnSpc>
                <a:spcPct val="78025"/>
              </a:lnSpc>
              <a:spcBef>
                <a:spcPts val="0"/>
              </a:spcBef>
              <a:spcAft>
                <a:spcPts val="0"/>
              </a:spcAft>
              <a:buNone/>
            </a:pPr>
            <a:r>
              <a:rPr b="0" lang="en-US" sz="4000" u="none" strike="noStrike">
                <a:solidFill>
                  <a:srgbClr val="FFFFFF"/>
                </a:solidFill>
                <a:latin typeface="Overpass Mono"/>
                <a:ea typeface="Overpass Mono"/>
                <a:cs typeface="Overpass Mono"/>
                <a:sym typeface="Overpass Mono"/>
              </a:rPr>
              <a:t>Beyond 1.0</a:t>
            </a:r>
            <a:endParaRPr b="0" sz="4000" u="none" strike="noStrike">
              <a:solidFill>
                <a:srgbClr val="FFFFFF"/>
              </a:solidFill>
              <a:latin typeface="Arial"/>
              <a:ea typeface="Arial"/>
              <a:cs typeface="Arial"/>
              <a:sym typeface="Arial"/>
            </a:endParaRPr>
          </a:p>
        </p:txBody>
      </p:sp>
      <p:sp>
        <p:nvSpPr>
          <p:cNvPr id="1023" name="Google Shape;1023;p52"/>
          <p:cNvSpPr/>
          <p:nvPr/>
        </p:nvSpPr>
        <p:spPr>
          <a:xfrm>
            <a:off x="4608000" y="1961280"/>
            <a:ext cx="4501080" cy="157680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24683"/>
              </a:lnSpc>
              <a:spcBef>
                <a:spcPts val="0"/>
              </a:spcBef>
              <a:spcAft>
                <a:spcPts val="0"/>
              </a:spcAft>
              <a:buClr>
                <a:srgbClr val="FFFFFF"/>
              </a:buClr>
              <a:buSzPts val="711"/>
              <a:buFont typeface="Noto Sans Symbols"/>
              <a:buChar char="●"/>
            </a:pPr>
            <a:r>
              <a:rPr b="0" lang="en-US" sz="1580" u="none" strike="noStrike">
                <a:solidFill>
                  <a:srgbClr val="F8F8FF"/>
                </a:solidFill>
                <a:latin typeface="Overpass"/>
                <a:ea typeface="Overpass"/>
                <a:cs typeface="Overpass"/>
                <a:sym typeface="Overpass"/>
              </a:rPr>
              <a:t>Our focus: deliver the language described so far.</a:t>
            </a:r>
            <a:endParaRPr b="0" sz="1580" u="none" strike="noStrike">
              <a:solidFill>
                <a:srgbClr val="FFFFFF"/>
              </a:solidFill>
              <a:latin typeface="Arial"/>
              <a:ea typeface="Arial"/>
              <a:cs typeface="Arial"/>
              <a:sym typeface="Arial"/>
            </a:endParaRPr>
          </a:p>
          <a:p>
            <a:pPr indent="0" lvl="0" marL="0" marR="0" rtl="0" algn="l">
              <a:lnSpc>
                <a:spcPct val="124683"/>
              </a:lnSpc>
              <a:spcBef>
                <a:spcPts val="0"/>
              </a:spcBef>
              <a:spcAft>
                <a:spcPts val="0"/>
              </a:spcAft>
              <a:buNone/>
            </a:pPr>
            <a:r>
              <a:t/>
            </a:r>
            <a:endParaRPr b="0" sz="1580" u="none" strike="noStrike">
              <a:solidFill>
                <a:srgbClr val="FFFFFF"/>
              </a:solidFill>
              <a:latin typeface="Arial"/>
              <a:ea typeface="Arial"/>
              <a:cs typeface="Arial"/>
              <a:sym typeface="Arial"/>
            </a:endParaRPr>
          </a:p>
          <a:p>
            <a:pPr indent="-216000" lvl="0" marL="216000" marR="0" rtl="0" algn="l">
              <a:lnSpc>
                <a:spcPct val="124683"/>
              </a:lnSpc>
              <a:spcBef>
                <a:spcPts val="0"/>
              </a:spcBef>
              <a:spcAft>
                <a:spcPts val="0"/>
              </a:spcAft>
              <a:buClr>
                <a:srgbClr val="FFFFFF"/>
              </a:buClr>
              <a:buSzPts val="711"/>
              <a:buFont typeface="Noto Sans Symbols"/>
              <a:buChar char="●"/>
            </a:pPr>
            <a:r>
              <a:rPr b="0" lang="en-US" sz="1580" u="none" strike="noStrike">
                <a:solidFill>
                  <a:srgbClr val="F8F8FF"/>
                </a:solidFill>
                <a:latin typeface="Overpass"/>
                <a:ea typeface="Overpass"/>
                <a:cs typeface="Overpass"/>
                <a:sym typeface="Overpass"/>
              </a:rPr>
              <a:t>Possible future iterations:</a:t>
            </a:r>
            <a:endParaRPr b="0" sz="1580" u="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Linear types.</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Refinement types.</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Macros</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Theorem proving</a:t>
            </a:r>
            <a:endParaRPr b="0" i="0" sz="1580" u="none" cap="none" strike="noStrike">
              <a:solidFill>
                <a:srgbClr val="FFFFFF"/>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1028" name="Shape 1028"/>
        <p:cNvGrpSpPr/>
        <p:nvPr/>
      </p:nvGrpSpPr>
      <p:grpSpPr>
        <a:xfrm>
          <a:off x="0" y="0"/>
          <a:ext cx="0" cy="0"/>
          <a:chOff x="0" y="0"/>
          <a:chExt cx="0" cy="0"/>
        </a:xfrm>
      </p:grpSpPr>
      <p:cxnSp>
        <p:nvCxnSpPr>
          <p:cNvPr id="1029" name="Google Shape;1029;p53"/>
          <p:cNvCxnSpPr/>
          <p:nvPr/>
        </p:nvCxnSpPr>
        <p:spPr>
          <a:xfrm>
            <a:off x="4572000" y="0"/>
            <a:ext cx="360" cy="5143320"/>
          </a:xfrm>
          <a:prstGeom prst="straightConnector1">
            <a:avLst/>
          </a:prstGeom>
          <a:noFill/>
          <a:ln cap="flat" cmpd="sng" w="12700">
            <a:solidFill>
              <a:srgbClr val="2B247C">
                <a:alpha val="20000"/>
              </a:srgbClr>
            </a:solidFill>
            <a:prstDash val="solid"/>
            <a:round/>
            <a:headEnd len="sm" w="sm" type="none"/>
            <a:tailEnd len="sm" w="sm" type="none"/>
          </a:ln>
        </p:spPr>
      </p:cxnSp>
      <p:cxnSp>
        <p:nvCxnSpPr>
          <p:cNvPr id="1030" name="Google Shape;1030;p53"/>
          <p:cNvCxnSpPr/>
          <p:nvPr/>
        </p:nvCxnSpPr>
        <p:spPr>
          <a:xfrm>
            <a:off x="4572000" y="0"/>
            <a:ext cx="360" cy="5143320"/>
          </a:xfrm>
          <a:prstGeom prst="straightConnector1">
            <a:avLst/>
          </a:prstGeom>
          <a:noFill/>
          <a:ln cap="flat" cmpd="sng" w="12700">
            <a:solidFill>
              <a:srgbClr val="D2D2FF">
                <a:alpha val="20000"/>
              </a:srgbClr>
            </a:solidFill>
            <a:prstDash val="solid"/>
            <a:round/>
            <a:headEnd len="sm" w="sm" type="none"/>
            <a:tailEnd len="sm" w="sm" type="none"/>
          </a:ln>
        </p:spPr>
      </p:cxnSp>
      <p:sp>
        <p:nvSpPr>
          <p:cNvPr id="1031" name="Google Shape;1031;p53"/>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1032" name="Google Shape;1032;p53"/>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1033" name="Google Shape;1033;p53"/>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1034" name="Google Shape;1034;p53"/>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1035" name="Google Shape;1035;p53"/>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1036" name="Google Shape;1036;p53"/>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1037" name="Google Shape;1037;p53"/>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1038" name="Google Shape;1038;p53"/>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1039" name="Google Shape;1039;p53"/>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1040" name="Google Shape;1040;p53"/>
          <p:cNvSpPr/>
          <p:nvPr/>
        </p:nvSpPr>
        <p:spPr>
          <a:xfrm>
            <a:off x="80280" y="380880"/>
            <a:ext cx="388188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8F8FF"/>
                </a:solidFill>
                <a:latin typeface="Overpass"/>
                <a:ea typeface="Overpass"/>
                <a:cs typeface="Overpass"/>
                <a:sym typeface="Overpass"/>
              </a:rPr>
              <a:t>Conclusion</a:t>
            </a:r>
            <a:endParaRPr b="0" sz="1050" u="none" strike="noStrike">
              <a:solidFill>
                <a:srgbClr val="FFFFFF"/>
              </a:solidFill>
              <a:latin typeface="Arial"/>
              <a:ea typeface="Arial"/>
              <a:cs typeface="Arial"/>
              <a:sym typeface="Arial"/>
            </a:endParaRPr>
          </a:p>
        </p:txBody>
      </p:sp>
      <p:sp>
        <p:nvSpPr>
          <p:cNvPr id="1041" name="Google Shape;1041;p53"/>
          <p:cNvSpPr/>
          <p:nvPr/>
        </p:nvSpPr>
        <p:spPr>
          <a:xfrm>
            <a:off x="-120600" y="1925280"/>
            <a:ext cx="4797720" cy="1576800"/>
          </a:xfrm>
          <a:prstGeom prst="rect">
            <a:avLst/>
          </a:prstGeom>
          <a:noFill/>
          <a:ln>
            <a:noFill/>
          </a:ln>
        </p:spPr>
        <p:txBody>
          <a:bodyPr anchorCtr="0" anchor="ctr" bIns="45000" lIns="90000" spcFirstLastPara="1" rIns="90000" wrap="square" tIns="45000">
            <a:noAutofit/>
          </a:bodyPr>
          <a:lstStyle/>
          <a:p>
            <a:pPr indent="0" lvl="0" marL="0" marR="0" rtl="0" algn="ctr">
              <a:lnSpc>
                <a:spcPct val="78025"/>
              </a:lnSpc>
              <a:spcBef>
                <a:spcPts val="0"/>
              </a:spcBef>
              <a:spcAft>
                <a:spcPts val="0"/>
              </a:spcAft>
              <a:buNone/>
            </a:pPr>
            <a:r>
              <a:rPr b="0" lang="en-US" sz="4000" u="none" strike="noStrike">
                <a:solidFill>
                  <a:srgbClr val="FFFFFF"/>
                </a:solidFill>
                <a:latin typeface="Overpass Mono"/>
                <a:ea typeface="Overpass Mono"/>
                <a:cs typeface="Overpass Mono"/>
                <a:sym typeface="Overpass Mono"/>
              </a:rPr>
              <a:t>Conclusion</a:t>
            </a:r>
            <a:endParaRPr b="0" sz="4000" u="none" strike="noStrike">
              <a:solidFill>
                <a:srgbClr val="FFFFFF"/>
              </a:solidFill>
              <a:latin typeface="Arial"/>
              <a:ea typeface="Arial"/>
              <a:cs typeface="Arial"/>
              <a:sym typeface="Arial"/>
            </a:endParaRPr>
          </a:p>
        </p:txBody>
      </p:sp>
      <p:sp>
        <p:nvSpPr>
          <p:cNvPr id="1042" name="Google Shape;1042;p53"/>
          <p:cNvSpPr/>
          <p:nvPr/>
        </p:nvSpPr>
        <p:spPr>
          <a:xfrm>
            <a:off x="4608000" y="1961280"/>
            <a:ext cx="4501080" cy="1576800"/>
          </a:xfrm>
          <a:prstGeom prst="rect">
            <a:avLst/>
          </a:prstGeom>
          <a:noFill/>
          <a:ln>
            <a:noFill/>
          </a:ln>
        </p:spPr>
        <p:txBody>
          <a:bodyPr anchorCtr="0" anchor="ctr" bIns="45000" lIns="90000" spcFirstLastPara="1" rIns="90000" wrap="square" tIns="45000">
            <a:noAutofit/>
          </a:bodyPr>
          <a:lstStyle/>
          <a:p>
            <a:pPr indent="-216000" lvl="0" marL="216000" marR="0" rtl="0" algn="l">
              <a:lnSpc>
                <a:spcPct val="124683"/>
              </a:lnSpc>
              <a:spcBef>
                <a:spcPts val="0"/>
              </a:spcBef>
              <a:spcAft>
                <a:spcPts val="0"/>
              </a:spcAft>
              <a:buClr>
                <a:srgbClr val="FFFFFF"/>
              </a:buClr>
              <a:buSzPts val="711"/>
              <a:buFont typeface="Noto Sans Symbols"/>
              <a:buChar char="●"/>
            </a:pPr>
            <a:r>
              <a:rPr b="0" lang="en-US" sz="1580" u="none" strike="noStrike">
                <a:solidFill>
                  <a:srgbClr val="F8F8FF"/>
                </a:solidFill>
                <a:latin typeface="Overpass"/>
                <a:ea typeface="Overpass"/>
                <a:cs typeface="Overpass"/>
                <a:sym typeface="Overpass"/>
              </a:rPr>
              <a:t>Core Solidity is a foundational re-imagining of the language.</a:t>
            </a:r>
            <a:endParaRPr b="0" sz="1580" u="none" strike="noStrike">
              <a:solidFill>
                <a:srgbClr val="FFFFFF"/>
              </a:solidFill>
              <a:latin typeface="Arial"/>
              <a:ea typeface="Arial"/>
              <a:cs typeface="Arial"/>
              <a:sym typeface="Arial"/>
            </a:endParaRPr>
          </a:p>
          <a:p>
            <a:pPr indent="0" lvl="0" marL="0" marR="0" rtl="0" algn="l">
              <a:lnSpc>
                <a:spcPct val="124683"/>
              </a:lnSpc>
              <a:spcBef>
                <a:spcPts val="0"/>
              </a:spcBef>
              <a:spcAft>
                <a:spcPts val="0"/>
              </a:spcAft>
              <a:buNone/>
            </a:pPr>
            <a:r>
              <a:t/>
            </a:r>
            <a:endParaRPr b="0" sz="1580" u="none" strike="noStrike">
              <a:solidFill>
                <a:srgbClr val="FFFFFF"/>
              </a:solidFill>
              <a:latin typeface="Arial"/>
              <a:ea typeface="Arial"/>
              <a:cs typeface="Arial"/>
              <a:sym typeface="Arial"/>
            </a:endParaRPr>
          </a:p>
          <a:p>
            <a:pPr indent="-216000" lvl="0" marL="216000" marR="0" rtl="0" algn="l">
              <a:lnSpc>
                <a:spcPct val="124683"/>
              </a:lnSpc>
              <a:spcBef>
                <a:spcPts val="0"/>
              </a:spcBef>
              <a:spcAft>
                <a:spcPts val="0"/>
              </a:spcAft>
              <a:buClr>
                <a:srgbClr val="FFFFFF"/>
              </a:buClr>
              <a:buSzPts val="711"/>
              <a:buFont typeface="Noto Sans Symbols"/>
              <a:buChar char="●"/>
            </a:pPr>
            <a:r>
              <a:rPr b="0" lang="en-US" sz="1580" u="none" strike="noStrike">
                <a:solidFill>
                  <a:srgbClr val="F8F8FF"/>
                </a:solidFill>
                <a:latin typeface="Overpass"/>
                <a:ea typeface="Overpass"/>
                <a:cs typeface="Overpass"/>
                <a:sym typeface="Overpass"/>
              </a:rPr>
              <a:t>Our </a:t>
            </a:r>
            <a:r>
              <a:rPr lang="en-US" sz="1580">
                <a:solidFill>
                  <a:srgbClr val="F8F8FF"/>
                </a:solidFill>
                <a:latin typeface="Overpass"/>
                <a:ea typeface="Overpass"/>
                <a:cs typeface="Overpass"/>
                <a:sym typeface="Overpass"/>
              </a:rPr>
              <a:t>objective</a:t>
            </a:r>
            <a:r>
              <a:rPr b="0" lang="en-US" sz="1580" u="none" strike="noStrike">
                <a:solidFill>
                  <a:srgbClr val="F8F8FF"/>
                </a:solidFill>
                <a:latin typeface="Overpass"/>
                <a:ea typeface="Overpass"/>
                <a:cs typeface="Overpass"/>
                <a:sym typeface="Overpass"/>
              </a:rPr>
              <a:t> is to build a language:</a:t>
            </a:r>
            <a:endParaRPr b="0" sz="1580" u="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More expressive.</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More secure.</a:t>
            </a:r>
            <a:endParaRPr b="0" i="0" sz="1580" u="none" cap="none" strike="noStrike">
              <a:solidFill>
                <a:srgbClr val="FFFFFF"/>
              </a:solidFill>
              <a:latin typeface="Arial"/>
              <a:ea typeface="Arial"/>
              <a:cs typeface="Arial"/>
              <a:sym typeface="Arial"/>
            </a:endParaRPr>
          </a:p>
          <a:p>
            <a:pPr indent="-216000" lvl="1" marL="432000" marR="0" rtl="0" algn="l">
              <a:lnSpc>
                <a:spcPct val="124683"/>
              </a:lnSpc>
              <a:spcBef>
                <a:spcPts val="0"/>
              </a:spcBef>
              <a:spcAft>
                <a:spcPts val="0"/>
              </a:spcAft>
              <a:buClr>
                <a:srgbClr val="FFFFFF"/>
              </a:buClr>
              <a:buSzPts val="711"/>
              <a:buFont typeface="Noto Sans Symbols"/>
              <a:buChar char="●"/>
            </a:pPr>
            <a:r>
              <a:rPr b="0" i="0" lang="en-US" sz="1580" u="none" cap="none" strike="noStrike">
                <a:solidFill>
                  <a:srgbClr val="F8F8FF"/>
                </a:solidFill>
                <a:latin typeface="Overpass"/>
                <a:ea typeface="Overpass"/>
                <a:cs typeface="Overpass"/>
                <a:sym typeface="Overpass"/>
              </a:rPr>
              <a:t>Mathematically sound.</a:t>
            </a:r>
            <a:endParaRPr b="0" i="0" sz="1580" u="none" cap="none" strike="noStrike">
              <a:solidFill>
                <a:srgbClr val="FFFFFF"/>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47C"/>
        </a:solidFill>
      </p:bgPr>
    </p:bg>
    <p:spTree>
      <p:nvGrpSpPr>
        <p:cNvPr id="1047" name="Shape 1047"/>
        <p:cNvGrpSpPr/>
        <p:nvPr/>
      </p:nvGrpSpPr>
      <p:grpSpPr>
        <a:xfrm>
          <a:off x="0" y="0"/>
          <a:ext cx="0" cy="0"/>
          <a:chOff x="0" y="0"/>
          <a:chExt cx="0" cy="0"/>
        </a:xfrm>
      </p:grpSpPr>
      <p:cxnSp>
        <p:nvCxnSpPr>
          <p:cNvPr id="1048" name="Google Shape;1048;p54"/>
          <p:cNvCxnSpPr/>
          <p:nvPr/>
        </p:nvCxnSpPr>
        <p:spPr>
          <a:xfrm>
            <a:off x="4572000" y="0"/>
            <a:ext cx="360" cy="5143320"/>
          </a:xfrm>
          <a:prstGeom prst="straightConnector1">
            <a:avLst/>
          </a:prstGeom>
          <a:noFill/>
          <a:ln cap="flat" cmpd="sng" w="12700">
            <a:solidFill>
              <a:srgbClr val="2B247C">
                <a:alpha val="20000"/>
              </a:srgbClr>
            </a:solidFill>
            <a:prstDash val="solid"/>
            <a:round/>
            <a:headEnd len="sm" w="sm" type="none"/>
            <a:tailEnd len="sm" w="sm" type="none"/>
          </a:ln>
        </p:spPr>
      </p:cxnSp>
      <p:cxnSp>
        <p:nvCxnSpPr>
          <p:cNvPr id="1049" name="Google Shape;1049;p54"/>
          <p:cNvCxnSpPr/>
          <p:nvPr/>
        </p:nvCxnSpPr>
        <p:spPr>
          <a:xfrm>
            <a:off x="4572000" y="0"/>
            <a:ext cx="360" cy="5143320"/>
          </a:xfrm>
          <a:prstGeom prst="straightConnector1">
            <a:avLst/>
          </a:prstGeom>
          <a:noFill/>
          <a:ln cap="flat" cmpd="sng" w="12700">
            <a:solidFill>
              <a:srgbClr val="D2D2FF">
                <a:alpha val="20000"/>
              </a:srgbClr>
            </a:solidFill>
            <a:prstDash val="solid"/>
            <a:round/>
            <a:headEnd len="sm" w="sm" type="none"/>
            <a:tailEnd len="sm" w="sm" type="none"/>
          </a:ln>
        </p:spPr>
      </p:cxnSp>
      <p:sp>
        <p:nvSpPr>
          <p:cNvPr id="1050" name="Google Shape;1050;p54"/>
          <p:cNvSpPr/>
          <p:nvPr/>
        </p:nvSpPr>
        <p:spPr>
          <a:xfrm>
            <a:off x="8682120" y="209520"/>
            <a:ext cx="299520" cy="341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Arial"/>
              <a:ea typeface="Arial"/>
              <a:cs typeface="Arial"/>
              <a:sym typeface="Arial"/>
            </a:endParaRPr>
          </a:p>
        </p:txBody>
      </p:sp>
      <p:pic>
        <p:nvPicPr>
          <p:cNvPr descr="preencoded.png" id="1051" name="Google Shape;1051;p54"/>
          <p:cNvPicPr preferRelativeResize="0"/>
          <p:nvPr/>
        </p:nvPicPr>
        <p:blipFill rotWithShape="1">
          <a:blip r:embed="rId3">
            <a:alphaModFix/>
          </a:blip>
          <a:srcRect b="0" l="0" r="0" t="0"/>
          <a:stretch/>
        </p:blipFill>
        <p:spPr>
          <a:xfrm>
            <a:off x="8831880" y="209520"/>
            <a:ext cx="116280" cy="102960"/>
          </a:xfrm>
          <a:prstGeom prst="rect">
            <a:avLst/>
          </a:prstGeom>
          <a:noFill/>
          <a:ln>
            <a:noFill/>
          </a:ln>
        </p:spPr>
      </p:pic>
      <p:pic>
        <p:nvPicPr>
          <p:cNvPr descr="preencoded.png" id="1052" name="Google Shape;1052;p54"/>
          <p:cNvPicPr preferRelativeResize="0"/>
          <p:nvPr/>
        </p:nvPicPr>
        <p:blipFill rotWithShape="1">
          <a:blip r:embed="rId4">
            <a:alphaModFix/>
          </a:blip>
          <a:srcRect b="0" l="0" r="0" t="0"/>
          <a:stretch/>
        </p:blipFill>
        <p:spPr>
          <a:xfrm>
            <a:off x="8776800" y="209520"/>
            <a:ext cx="116280" cy="102960"/>
          </a:xfrm>
          <a:prstGeom prst="rect">
            <a:avLst/>
          </a:prstGeom>
          <a:noFill/>
          <a:ln>
            <a:noFill/>
          </a:ln>
        </p:spPr>
      </p:pic>
      <p:pic>
        <p:nvPicPr>
          <p:cNvPr descr="preencoded.png" id="1053" name="Google Shape;1053;p54"/>
          <p:cNvPicPr preferRelativeResize="0"/>
          <p:nvPr/>
        </p:nvPicPr>
        <p:blipFill rotWithShape="1">
          <a:blip r:embed="rId5">
            <a:alphaModFix/>
          </a:blip>
          <a:srcRect b="0" l="0" r="0" t="0"/>
          <a:stretch/>
        </p:blipFill>
        <p:spPr>
          <a:xfrm>
            <a:off x="8721000" y="307440"/>
            <a:ext cx="116280" cy="101160"/>
          </a:xfrm>
          <a:prstGeom prst="rect">
            <a:avLst/>
          </a:prstGeom>
          <a:noFill/>
          <a:ln>
            <a:noFill/>
          </a:ln>
        </p:spPr>
      </p:pic>
      <p:pic>
        <p:nvPicPr>
          <p:cNvPr descr="preencoded.png" id="1054" name="Google Shape;1054;p54"/>
          <p:cNvPicPr preferRelativeResize="0"/>
          <p:nvPr/>
        </p:nvPicPr>
        <p:blipFill rotWithShape="1">
          <a:blip r:embed="rId3">
            <a:alphaModFix/>
          </a:blip>
          <a:srcRect b="0" l="0" r="0" t="0"/>
          <a:stretch/>
        </p:blipFill>
        <p:spPr>
          <a:xfrm>
            <a:off x="8721000" y="209520"/>
            <a:ext cx="116280" cy="102960"/>
          </a:xfrm>
          <a:prstGeom prst="rect">
            <a:avLst/>
          </a:prstGeom>
          <a:noFill/>
          <a:ln>
            <a:noFill/>
          </a:ln>
        </p:spPr>
      </p:pic>
      <p:pic>
        <p:nvPicPr>
          <p:cNvPr descr="preencoded.png" id="1055" name="Google Shape;1055;p54"/>
          <p:cNvPicPr preferRelativeResize="0"/>
          <p:nvPr/>
        </p:nvPicPr>
        <p:blipFill rotWithShape="1">
          <a:blip r:embed="rId4">
            <a:alphaModFix/>
          </a:blip>
          <a:srcRect b="0" l="0" r="0" t="0"/>
          <a:stretch/>
        </p:blipFill>
        <p:spPr>
          <a:xfrm>
            <a:off x="8722440" y="457560"/>
            <a:ext cx="116280" cy="102960"/>
          </a:xfrm>
          <a:prstGeom prst="rect">
            <a:avLst/>
          </a:prstGeom>
          <a:noFill/>
          <a:ln>
            <a:noFill/>
          </a:ln>
        </p:spPr>
      </p:pic>
      <p:pic>
        <p:nvPicPr>
          <p:cNvPr descr="preencoded.png" id="1056" name="Google Shape;1056;p54"/>
          <p:cNvPicPr preferRelativeResize="0"/>
          <p:nvPr/>
        </p:nvPicPr>
        <p:blipFill rotWithShape="1">
          <a:blip r:embed="rId3">
            <a:alphaModFix/>
          </a:blip>
          <a:srcRect b="0" l="0" r="0" t="0"/>
          <a:stretch/>
        </p:blipFill>
        <p:spPr>
          <a:xfrm>
            <a:off x="8777520" y="457560"/>
            <a:ext cx="116280" cy="102960"/>
          </a:xfrm>
          <a:prstGeom prst="rect">
            <a:avLst/>
          </a:prstGeom>
          <a:noFill/>
          <a:ln>
            <a:noFill/>
          </a:ln>
        </p:spPr>
      </p:pic>
      <p:pic>
        <p:nvPicPr>
          <p:cNvPr descr="preencoded.png" id="1057" name="Google Shape;1057;p54"/>
          <p:cNvPicPr preferRelativeResize="0"/>
          <p:nvPr/>
        </p:nvPicPr>
        <p:blipFill rotWithShape="1">
          <a:blip r:embed="rId3">
            <a:alphaModFix/>
          </a:blip>
          <a:srcRect b="0" l="0" r="0" t="0"/>
          <a:stretch/>
        </p:blipFill>
        <p:spPr>
          <a:xfrm>
            <a:off x="8832960" y="359640"/>
            <a:ext cx="116280" cy="102960"/>
          </a:xfrm>
          <a:prstGeom prst="rect">
            <a:avLst/>
          </a:prstGeom>
          <a:noFill/>
          <a:ln>
            <a:noFill/>
          </a:ln>
        </p:spPr>
      </p:pic>
      <p:pic>
        <p:nvPicPr>
          <p:cNvPr descr="preencoded.png" id="1058" name="Google Shape;1058;p54"/>
          <p:cNvPicPr preferRelativeResize="0"/>
          <p:nvPr/>
        </p:nvPicPr>
        <p:blipFill rotWithShape="1">
          <a:blip r:embed="rId4">
            <a:alphaModFix/>
          </a:blip>
          <a:srcRect b="0" l="0" r="0" t="0"/>
          <a:stretch/>
        </p:blipFill>
        <p:spPr>
          <a:xfrm>
            <a:off x="8832960" y="457560"/>
            <a:ext cx="116280" cy="102960"/>
          </a:xfrm>
          <a:prstGeom prst="rect">
            <a:avLst/>
          </a:prstGeom>
          <a:noFill/>
          <a:ln>
            <a:noFill/>
          </a:ln>
        </p:spPr>
      </p:pic>
      <p:sp>
        <p:nvSpPr>
          <p:cNvPr id="1059" name="Google Shape;1059;p54"/>
          <p:cNvSpPr/>
          <p:nvPr/>
        </p:nvSpPr>
        <p:spPr>
          <a:xfrm>
            <a:off x="80280" y="380880"/>
            <a:ext cx="3881880" cy="162360"/>
          </a:xfrm>
          <a:prstGeom prst="rect">
            <a:avLst/>
          </a:prstGeom>
          <a:noFill/>
          <a:ln>
            <a:noFill/>
          </a:ln>
        </p:spPr>
        <p:txBody>
          <a:bodyPr anchorCtr="0" anchor="ctr" bIns="45000" lIns="90000" spcFirstLastPara="1" rIns="90000" wrap="square" tIns="45000">
            <a:noAutofit/>
          </a:bodyPr>
          <a:lstStyle/>
          <a:p>
            <a:pPr indent="0" lvl="0" marL="0" marR="0" rtl="0" algn="l">
              <a:lnSpc>
                <a:spcPct val="126571"/>
              </a:lnSpc>
              <a:spcBef>
                <a:spcPts val="0"/>
              </a:spcBef>
              <a:spcAft>
                <a:spcPts val="0"/>
              </a:spcAft>
              <a:buNone/>
            </a:pPr>
            <a:r>
              <a:rPr b="0" lang="en-US" sz="1050" u="none" strike="noStrike">
                <a:solidFill>
                  <a:srgbClr val="F8F8FF"/>
                </a:solidFill>
                <a:latin typeface="Overpass"/>
                <a:ea typeface="Overpass"/>
                <a:cs typeface="Overpass"/>
                <a:sym typeface="Overpass"/>
              </a:rPr>
              <a:t>Thanks!</a:t>
            </a:r>
            <a:endParaRPr b="0" sz="1050" u="none" strike="noStrike">
              <a:solidFill>
                <a:srgbClr val="FFFFFF"/>
              </a:solidFill>
              <a:latin typeface="Arial"/>
              <a:ea typeface="Arial"/>
              <a:cs typeface="Arial"/>
              <a:sym typeface="Arial"/>
            </a:endParaRPr>
          </a:p>
        </p:txBody>
      </p:sp>
      <p:sp>
        <p:nvSpPr>
          <p:cNvPr id="1060" name="Google Shape;1060;p54"/>
          <p:cNvSpPr/>
          <p:nvPr/>
        </p:nvSpPr>
        <p:spPr>
          <a:xfrm>
            <a:off x="-120600" y="1925280"/>
            <a:ext cx="4797720" cy="1576800"/>
          </a:xfrm>
          <a:prstGeom prst="rect">
            <a:avLst/>
          </a:prstGeom>
          <a:noFill/>
          <a:ln>
            <a:noFill/>
          </a:ln>
        </p:spPr>
        <p:txBody>
          <a:bodyPr anchorCtr="0" anchor="ctr" bIns="45000" lIns="90000" spcFirstLastPara="1" rIns="90000" wrap="square" tIns="45000">
            <a:noAutofit/>
          </a:bodyPr>
          <a:lstStyle/>
          <a:p>
            <a:pPr indent="0" lvl="0" marL="0" marR="0" rtl="0" algn="ctr">
              <a:lnSpc>
                <a:spcPct val="78025"/>
              </a:lnSpc>
              <a:spcBef>
                <a:spcPts val="0"/>
              </a:spcBef>
              <a:spcAft>
                <a:spcPts val="0"/>
              </a:spcAft>
              <a:buNone/>
            </a:pPr>
            <a:r>
              <a:rPr b="0" lang="en-US" sz="4000" u="none" strike="noStrike">
                <a:solidFill>
                  <a:srgbClr val="FFFFFF"/>
                </a:solidFill>
                <a:latin typeface="Overpass Mono"/>
                <a:ea typeface="Overpass Mono"/>
                <a:cs typeface="Overpass Mono"/>
                <a:sym typeface="Overpass Mono"/>
              </a:rPr>
              <a:t>Thanks!</a:t>
            </a:r>
            <a:endParaRPr b="0" sz="4000" u="none" strike="noStrike">
              <a:solidFill>
                <a:srgbClr val="FFFFFF"/>
              </a:solidFill>
              <a:latin typeface="Arial"/>
              <a:ea typeface="Arial"/>
              <a:cs typeface="Arial"/>
              <a:sym typeface="Arial"/>
            </a:endParaRPr>
          </a:p>
        </p:txBody>
      </p:sp>
      <p:pic>
        <p:nvPicPr>
          <p:cNvPr id="1061" name="Google Shape;1061;p54"/>
          <p:cNvPicPr preferRelativeResize="0"/>
          <p:nvPr/>
        </p:nvPicPr>
        <p:blipFill rotWithShape="1">
          <a:blip r:embed="rId6">
            <a:alphaModFix/>
          </a:blip>
          <a:srcRect b="0" l="0" r="0" t="0"/>
          <a:stretch/>
        </p:blipFill>
        <p:spPr>
          <a:xfrm>
            <a:off x="4853880" y="828360"/>
            <a:ext cx="1847160" cy="1847160"/>
          </a:xfrm>
          <a:prstGeom prst="rect">
            <a:avLst/>
          </a:prstGeom>
          <a:noFill/>
          <a:ln>
            <a:noFill/>
          </a:ln>
        </p:spPr>
      </p:pic>
      <p:pic>
        <p:nvPicPr>
          <p:cNvPr id="1062" name="Google Shape;1062;p54"/>
          <p:cNvPicPr preferRelativeResize="0"/>
          <p:nvPr/>
        </p:nvPicPr>
        <p:blipFill rotWithShape="1">
          <a:blip r:embed="rId7">
            <a:alphaModFix/>
          </a:blip>
          <a:srcRect b="0" l="0" r="0" t="0"/>
          <a:stretch/>
        </p:blipFill>
        <p:spPr>
          <a:xfrm>
            <a:off x="4836600" y="2974320"/>
            <a:ext cx="1861920" cy="1861920"/>
          </a:xfrm>
          <a:prstGeom prst="rect">
            <a:avLst/>
          </a:prstGeom>
          <a:noFill/>
          <a:ln>
            <a:noFill/>
          </a:ln>
        </p:spPr>
      </p:pic>
      <p:sp>
        <p:nvSpPr>
          <p:cNvPr id="1063" name="Google Shape;1063;p54"/>
          <p:cNvSpPr/>
          <p:nvPr/>
        </p:nvSpPr>
        <p:spPr>
          <a:xfrm>
            <a:off x="6485400" y="1299600"/>
            <a:ext cx="2597040" cy="614880"/>
          </a:xfrm>
          <a:prstGeom prst="rect">
            <a:avLst/>
          </a:prstGeom>
          <a:noFill/>
          <a:ln>
            <a:noFill/>
          </a:ln>
        </p:spPr>
        <p:txBody>
          <a:bodyPr anchorCtr="0" anchor="ctr" bIns="45000" lIns="90000" spcFirstLastPara="1" rIns="90000" wrap="square" tIns="45000">
            <a:noAutofit/>
          </a:bodyPr>
          <a:lstStyle/>
          <a:p>
            <a:pPr indent="0" lvl="0" marL="0" marR="0" rtl="0" algn="ctr">
              <a:lnSpc>
                <a:spcPct val="89545"/>
              </a:lnSpc>
              <a:spcBef>
                <a:spcPts val="0"/>
              </a:spcBef>
              <a:spcAft>
                <a:spcPts val="0"/>
              </a:spcAft>
              <a:buNone/>
            </a:pPr>
            <a:br>
              <a:rPr lang="en-US" sz="2200">
                <a:latin typeface="Calibri"/>
                <a:ea typeface="Calibri"/>
                <a:cs typeface="Calibri"/>
                <a:sym typeface="Calibri"/>
              </a:rPr>
            </a:br>
            <a:r>
              <a:rPr b="1" lang="en-US" sz="2200" u="none" strike="noStrike">
                <a:solidFill>
                  <a:srgbClr val="F8F8FF"/>
                </a:solidFill>
                <a:latin typeface="Overpass"/>
                <a:ea typeface="Overpass"/>
                <a:cs typeface="Overpass"/>
                <a:sym typeface="Overpass"/>
              </a:rPr>
              <a:t>Core Solidity</a:t>
            </a:r>
            <a:endParaRPr b="0" sz="2200" u="none" strike="noStrike">
              <a:solidFill>
                <a:srgbClr val="FFFFFF"/>
              </a:solidFill>
              <a:latin typeface="Arial"/>
              <a:ea typeface="Arial"/>
              <a:cs typeface="Arial"/>
              <a:sym typeface="Arial"/>
            </a:endParaRPr>
          </a:p>
          <a:p>
            <a:pPr indent="0" lvl="0" marL="0" marR="0" rtl="0" algn="ctr">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repository</a:t>
            </a:r>
            <a:endParaRPr b="0" sz="2200" u="none" strike="noStrike">
              <a:solidFill>
                <a:srgbClr val="FFFFFF"/>
              </a:solidFill>
              <a:latin typeface="Arial"/>
              <a:ea typeface="Arial"/>
              <a:cs typeface="Arial"/>
              <a:sym typeface="Arial"/>
            </a:endParaRPr>
          </a:p>
        </p:txBody>
      </p:sp>
      <p:sp>
        <p:nvSpPr>
          <p:cNvPr id="1064" name="Google Shape;1064;p54"/>
          <p:cNvSpPr/>
          <p:nvPr/>
        </p:nvSpPr>
        <p:spPr>
          <a:xfrm>
            <a:off x="6485400" y="3529800"/>
            <a:ext cx="2597040" cy="614880"/>
          </a:xfrm>
          <a:prstGeom prst="rect">
            <a:avLst/>
          </a:prstGeom>
          <a:noFill/>
          <a:ln>
            <a:noFill/>
          </a:ln>
        </p:spPr>
        <p:txBody>
          <a:bodyPr anchorCtr="0" anchor="ctr" bIns="45000" lIns="90000" spcFirstLastPara="1" rIns="90000" wrap="square" tIns="45000">
            <a:noAutofit/>
          </a:bodyPr>
          <a:lstStyle/>
          <a:p>
            <a:pPr indent="0" lvl="0" marL="0" marR="0" rtl="0" algn="ctr">
              <a:lnSpc>
                <a:spcPct val="89545"/>
              </a:lnSpc>
              <a:spcBef>
                <a:spcPts val="0"/>
              </a:spcBef>
              <a:spcAft>
                <a:spcPts val="0"/>
              </a:spcAft>
              <a:buNone/>
            </a:pPr>
            <a:br>
              <a:rPr lang="en-US" sz="2200">
                <a:latin typeface="Calibri"/>
                <a:ea typeface="Calibri"/>
                <a:cs typeface="Calibri"/>
                <a:sym typeface="Calibri"/>
              </a:rPr>
            </a:br>
            <a:r>
              <a:rPr b="1" lang="en-US" sz="2200" u="none" strike="noStrike">
                <a:solidFill>
                  <a:srgbClr val="F8F8FF"/>
                </a:solidFill>
                <a:latin typeface="Overpass"/>
                <a:ea typeface="Overpass"/>
                <a:cs typeface="Overpass"/>
                <a:sym typeface="Overpass"/>
              </a:rPr>
              <a:t>Core Solidity</a:t>
            </a:r>
            <a:endParaRPr b="0" sz="2200" u="none" strike="noStrike">
              <a:solidFill>
                <a:srgbClr val="FFFFFF"/>
              </a:solidFill>
              <a:latin typeface="Arial"/>
              <a:ea typeface="Arial"/>
              <a:cs typeface="Arial"/>
              <a:sym typeface="Arial"/>
            </a:endParaRPr>
          </a:p>
          <a:p>
            <a:pPr indent="0" lvl="0" marL="0" marR="0" rtl="0" algn="ctr">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feedback </a:t>
            </a:r>
            <a:endParaRPr b="0" sz="2200" u="none" strike="noStrike">
              <a:solidFill>
                <a:srgbClr val="FFFFFF"/>
              </a:solidFill>
              <a:latin typeface="Arial"/>
              <a:ea typeface="Arial"/>
              <a:cs typeface="Arial"/>
              <a:sym typeface="Arial"/>
            </a:endParaRPr>
          </a:p>
          <a:p>
            <a:pPr indent="0" lvl="0" marL="0" marR="0" rtl="0" algn="ctr">
              <a:lnSpc>
                <a:spcPct val="89545"/>
              </a:lnSpc>
              <a:spcBef>
                <a:spcPts val="0"/>
              </a:spcBef>
              <a:spcAft>
                <a:spcPts val="0"/>
              </a:spcAft>
              <a:buNone/>
            </a:pPr>
            <a:r>
              <a:rPr b="1" lang="en-US" sz="2200" u="none" strike="noStrike">
                <a:solidFill>
                  <a:srgbClr val="F8F8FF"/>
                </a:solidFill>
                <a:latin typeface="Overpass"/>
                <a:ea typeface="Overpass"/>
                <a:cs typeface="Overpass"/>
                <a:sym typeface="Overpass"/>
              </a:rPr>
              <a:t>forum thread</a:t>
            </a:r>
            <a:endParaRPr b="0" sz="2200" u="none" strike="noStrike">
              <a:solidFill>
                <a:srgbClr val="FFFFFF"/>
              </a:solidFill>
              <a:latin typeface="Arial"/>
              <a:ea typeface="Arial"/>
              <a:cs typeface="Arial"/>
              <a:sym typeface="Arial"/>
            </a:endParaRPr>
          </a:p>
          <a:p>
            <a:pPr indent="0" lvl="0" marL="0" marR="0" rtl="0" algn="ctr">
              <a:lnSpc>
                <a:spcPct val="89545"/>
              </a:lnSpc>
              <a:spcBef>
                <a:spcPts val="0"/>
              </a:spcBef>
              <a:spcAft>
                <a:spcPts val="0"/>
              </a:spcAft>
              <a:buNone/>
            </a:pPr>
            <a:r>
              <a:t/>
            </a:r>
            <a:endParaRPr b="0" sz="2200" u="none" strike="noStrike">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2025-10-27T11:49:20Z</dcterms:created>
  <dc:creator>PptxGenJS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24</vt:i4>
  </property>
  <property fmtid="{D5CDD505-2E9C-101B-9397-08002B2CF9AE}" pid="3" name="PresentationFormat">
    <vt:lpwstr>On-screen Show (16:9)</vt:lpwstr>
  </property>
  <property fmtid="{D5CDD505-2E9C-101B-9397-08002B2CF9AE}" pid="4" name="Slides">
    <vt:i4>24</vt:i4>
  </property>
</Properties>
</file>