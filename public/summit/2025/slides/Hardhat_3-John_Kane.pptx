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305" r:id="rId6"/>
    <p:sldId id="261" r:id="rId7"/>
    <p:sldId id="306" r:id="rId8"/>
    <p:sldId id="263" r:id="rId9"/>
    <p:sldId id="264" r:id="rId10"/>
    <p:sldId id="265" r:id="rId11"/>
    <p:sldId id="266" r:id="rId12"/>
    <p:sldId id="267" r:id="rId13"/>
    <p:sldId id="311" r:id="rId14"/>
    <p:sldId id="312" r:id="rId15"/>
    <p:sldId id="270" r:id="rId16"/>
    <p:sldId id="271" r:id="rId17"/>
    <p:sldId id="277" r:id="rId18"/>
    <p:sldId id="279" r:id="rId19"/>
    <p:sldId id="313" r:id="rId20"/>
    <p:sldId id="272" r:id="rId21"/>
    <p:sldId id="273" r:id="rId22"/>
    <p:sldId id="274" r:id="rId23"/>
    <p:sldId id="275" r:id="rId24"/>
    <p:sldId id="276" r:id="rId25"/>
    <p:sldId id="314" r:id="rId26"/>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378" autoAdjust="0"/>
  </p:normalViewPr>
  <p:slideViewPr>
    <p:cSldViewPr snapToGrid="0">
      <p:cViewPr varScale="1">
        <p:scale>
          <a:sx n="105" d="100"/>
          <a:sy n="105" d="100"/>
        </p:scale>
        <p:origin x="96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 33"/>
          <p:cNvSpPr>
            <a:spLocks noGrp="1" noRot="1" noChangeAspect="1"/>
          </p:cNvSpPr>
          <p:nvPr>
            <p:ph type="sldImg"/>
          </p:nvPr>
        </p:nvSpPr>
        <p:spPr>
          <a:xfrm>
            <a:off x="381000" y="685800"/>
            <a:ext cx="6096000" cy="3429000"/>
          </a:xfrm>
          <a:prstGeom prst="rect">
            <a:avLst/>
          </a:prstGeom>
        </p:spPr>
        <p:txBody>
          <a:bodyPr/>
          <a:lstStyle/>
          <a:p>
            <a:endParaRPr/>
          </a:p>
        </p:txBody>
      </p:sp>
      <p:sp>
        <p:nvSpPr>
          <p:cNvPr id="34" name="Shape 34"/>
          <p:cNvSpPr>
            <a:spLocks noGrp="1"/>
          </p:cNvSpPr>
          <p:nvPr>
            <p:ph type="body" sz="quarter" idx="1"/>
          </p:nvPr>
        </p:nvSpPr>
        <p:spPr>
          <a:prstGeom prst="rect">
            <a:avLst/>
          </a:prstGeom>
        </p:spPr>
        <p:txBody>
          <a:bodyPr/>
          <a:lstStyle/>
          <a:p>
            <a:r>
              <a:rPr dirty="0"/>
              <a:t>Hello and welcome,</a:t>
            </a:r>
          </a:p>
          <a:p>
            <a:r>
              <a:rPr dirty="0"/>
              <a:t>My name is John Kane and I work on the Hardhat team at the Nomic Foundation.</a:t>
            </a:r>
          </a:p>
          <a:p>
            <a:r>
              <a:rPr dirty="0"/>
              <a:t>I am going to be talking about Hardhat 3, </a:t>
            </a:r>
            <a:r>
              <a:rPr lang="en-GB" dirty="0"/>
              <a:t>our major new release, currently in Beta but ready for production.</a:t>
            </a:r>
            <a:endParaRPr dirty="0"/>
          </a:p>
          <a:p>
            <a:r>
              <a:rPr dirty="0"/>
              <a:t>I will walk you through the big improvements you can leverage, some tips on migrating, and exciting </a:t>
            </a:r>
            <a:r>
              <a:rPr lang="en-GB" dirty="0"/>
              <a:t>new features</a:t>
            </a:r>
            <a:r>
              <a:rPr dirty="0"/>
              <a:t> you should expect in the next few months.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46"/>
          <p:cNvSpPr>
            <a:spLocks noGrp="1" noRot="1" noChangeAspect="1"/>
          </p:cNvSpPr>
          <p:nvPr>
            <p:ph type="sldImg"/>
          </p:nvPr>
        </p:nvSpPr>
        <p:spPr>
          <a:xfrm>
            <a:off x="381000" y="685800"/>
            <a:ext cx="6096000" cy="3429000"/>
          </a:xfrm>
          <a:prstGeom prst="rect">
            <a:avLst/>
          </a:prstGeom>
        </p:spPr>
        <p:txBody>
          <a:bodyPr/>
          <a:lstStyle/>
          <a:p>
            <a:endParaRPr/>
          </a:p>
        </p:txBody>
      </p:sp>
      <p:sp>
        <p:nvSpPr>
          <p:cNvPr id="47" name="Shape 47"/>
          <p:cNvSpPr>
            <a:spLocks noGrp="1"/>
          </p:cNvSpPr>
          <p:nvPr>
            <p:ph type="body" sz="quarter" idx="1"/>
          </p:nvPr>
        </p:nvSpPr>
        <p:spPr>
          <a:prstGeom prst="rect">
            <a:avLst/>
          </a:prstGeom>
        </p:spPr>
        <p:txBody>
          <a:bodyPr/>
          <a:lstStyle/>
          <a:p>
            <a:r>
              <a:rPr dirty="0"/>
              <a:t>Before I jump in, let me just say a word on the Nomic Foundation. </a:t>
            </a:r>
          </a:p>
          <a:p>
            <a:r>
              <a:rPr dirty="0"/>
              <a:t>The entire Hardhat team works at Nomic. Hardhat is our largest project, but it is one among several:</a:t>
            </a:r>
            <a:br>
              <a:rPr dirty="0"/>
            </a:br>
            <a:r>
              <a:rPr dirty="0"/>
              <a:t>* slang - our compiler</a:t>
            </a:r>
            <a:r>
              <a:rPr lang="en-GB" dirty="0"/>
              <a:t> targeted at developer tools</a:t>
            </a:r>
            <a:r>
              <a:rPr dirty="0"/>
              <a:t> </a:t>
            </a:r>
          </a:p>
          <a:p>
            <a:r>
              <a:rPr dirty="0"/>
              <a:t>* </a:t>
            </a:r>
            <a:r>
              <a:rPr lang="en-GB" dirty="0"/>
              <a:t>Also </a:t>
            </a:r>
            <a:r>
              <a:rPr dirty="0"/>
              <a:t>EDR (Ethereum Development Runtime) - a Rust library that lets you simulate an Ethereum node - you use it every time you boot up `hardhat node`.</a:t>
            </a:r>
          </a:p>
          <a:p>
            <a:endParaRPr dirty="0"/>
          </a:p>
          <a:p>
            <a:r>
              <a:rPr dirty="0"/>
              <a:t>Nomic is a non-profit that is dedicated to improving the development platform for Ethereum, and only Ethereum, </a:t>
            </a:r>
            <a:r>
              <a:rPr lang="en-GB" dirty="0"/>
              <a:t>our job is to make life easier for Ethereum </a:t>
            </a:r>
            <a:r>
              <a:rPr lang="en-GB" dirty="0" err="1"/>
              <a:t>devs</a:t>
            </a:r>
            <a:r>
              <a:rPr lang="en-GB" dirty="0"/>
              <a:t>.</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hape 59"/>
          <p:cNvSpPr>
            <a:spLocks noGrp="1" noRot="1" noChangeAspect="1"/>
          </p:cNvSpPr>
          <p:nvPr>
            <p:ph type="sldImg"/>
          </p:nvPr>
        </p:nvSpPr>
        <p:spPr>
          <a:xfrm>
            <a:off x="381000" y="685800"/>
            <a:ext cx="6096000" cy="3429000"/>
          </a:xfrm>
          <a:prstGeom prst="rect">
            <a:avLst/>
          </a:prstGeom>
        </p:spPr>
        <p:txBody>
          <a:bodyPr/>
          <a:lstStyle/>
          <a:p>
            <a:endParaRPr/>
          </a:p>
        </p:txBody>
      </p:sp>
      <p:sp>
        <p:nvSpPr>
          <p:cNvPr id="60" name="Shape 60"/>
          <p:cNvSpPr>
            <a:spLocks noGrp="1"/>
          </p:cNvSpPr>
          <p:nvPr>
            <p:ph type="body" sz="quarter" idx="1"/>
          </p:nvPr>
        </p:nvSpPr>
        <p:spPr>
          <a:prstGeom prst="rect">
            <a:avLst/>
          </a:prstGeom>
        </p:spPr>
        <p:txBody>
          <a:bodyPr/>
          <a:lstStyle/>
          <a:p>
            <a:r>
              <a:rPr dirty="0"/>
              <a:t>So Hardhat.</a:t>
            </a:r>
          </a:p>
          <a:p>
            <a:r>
              <a:rPr dirty="0"/>
              <a:t>Hardhat is</a:t>
            </a:r>
            <a:r>
              <a:rPr lang="en-GB" dirty="0"/>
              <a:t> a</a:t>
            </a:r>
            <a:r>
              <a:rPr dirty="0"/>
              <a:t> development</a:t>
            </a:r>
            <a:r>
              <a:rPr lang="en-GB" dirty="0"/>
              <a:t> system </a:t>
            </a:r>
            <a:r>
              <a:rPr dirty="0"/>
              <a:t>for smart contracts.</a:t>
            </a:r>
          </a:p>
          <a:p>
            <a:r>
              <a:rPr dirty="0"/>
              <a:t>The first commits went down seven years ago, starting as a</a:t>
            </a:r>
            <a:r>
              <a:rPr lang="en-GB" dirty="0"/>
              <a:t> node</a:t>
            </a:r>
            <a:r>
              <a:rPr dirty="0"/>
              <a:t> task runner that wrapped </a:t>
            </a:r>
            <a:r>
              <a:rPr dirty="0" err="1"/>
              <a:t>solc</a:t>
            </a:r>
            <a:r>
              <a:rPr lang="en-GB" dirty="0"/>
              <a:t>.</a:t>
            </a:r>
          </a:p>
          <a:p>
            <a:r>
              <a:rPr lang="en-GB" dirty="0"/>
              <a:t>Letting you compile contracts, deploy to a locally running eth node, and then brining test capabilities in JS.</a:t>
            </a:r>
            <a:endParaRPr dirty="0"/>
          </a:p>
          <a:p>
            <a:r>
              <a:rPr dirty="0"/>
              <a:t>Over the years it expanded</a:t>
            </a:r>
            <a:r>
              <a:rPr lang="en-GB" dirty="0"/>
              <a:t> with</a:t>
            </a:r>
            <a:r>
              <a:rPr dirty="0"/>
              <a:t> new capabilities</a:t>
            </a:r>
            <a:r>
              <a:rPr lang="en-GB" dirty="0"/>
              <a: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noRot="1" noChangeAspect="1"/>
          </p:cNvSpPr>
          <p:nvPr>
            <p:ph type="sldImg"/>
          </p:nvPr>
        </p:nvSpPr>
        <p:spPr>
          <a:xfrm>
            <a:off x="381000" y="685800"/>
            <a:ext cx="6096000" cy="3429000"/>
          </a:xfrm>
          <a:prstGeom prst="rect">
            <a:avLst/>
          </a:prstGeom>
        </p:spPr>
        <p:txBody>
          <a:bodyPr/>
          <a:lstStyle/>
          <a:p>
            <a:endParaRPr/>
          </a:p>
        </p:txBody>
      </p:sp>
      <p:sp>
        <p:nvSpPr>
          <p:cNvPr id="76" name="Shape 76"/>
          <p:cNvSpPr>
            <a:spLocks noGrp="1"/>
          </p:cNvSpPr>
          <p:nvPr>
            <p:ph type="body" sz="quarter" idx="1"/>
          </p:nvPr>
        </p:nvSpPr>
        <p:spPr>
          <a:prstGeom prst="rect">
            <a:avLst/>
          </a:prstGeom>
        </p:spPr>
        <p:txBody>
          <a:bodyPr/>
          <a:lstStyle/>
          <a:p>
            <a:r>
              <a:rPr dirty="0"/>
              <a:t>Over all that time we have had guiding principles.</a:t>
            </a:r>
          </a:p>
          <a:p>
            <a:r>
              <a:rPr dirty="0"/>
              <a:t>Hardhat is</a:t>
            </a:r>
            <a:r>
              <a:rPr lang="en-GB" dirty="0"/>
              <a:t> intended to be extended. To let teams adapt it to their needs.</a:t>
            </a:r>
            <a:r>
              <a:rPr dirty="0"/>
              <a:t> This</a:t>
            </a:r>
            <a:r>
              <a:rPr lang="en-GB" dirty="0"/>
              <a:t> is</a:t>
            </a:r>
            <a:r>
              <a:rPr dirty="0"/>
              <a:t> done through our plugin system and API - which has lead to a flourishing ecosystem of third party plugins.</a:t>
            </a:r>
          </a:p>
          <a:p>
            <a:r>
              <a:rPr dirty="0"/>
              <a:t>We have focused on making Hardhat easy to use: that it will meet developers where they are, whether your coding a front end to a smart contract system, and so buried in a complex JS mono repo,  hardhat will work, or doing a pure Solidity project and trying to understand why this contract reverted and you need comprehensible stack traces.</a:t>
            </a:r>
          </a:p>
          <a:p>
            <a:r>
              <a:rPr dirty="0"/>
              <a:t>Reliability and consistency</a:t>
            </a:r>
            <a:r>
              <a:rPr lang="en-GB" dirty="0"/>
              <a:t> – we take </a:t>
            </a:r>
            <a:r>
              <a:rPr lang="en-GB" dirty="0" err="1"/>
              <a:t>semver</a:t>
            </a:r>
            <a:r>
              <a:rPr lang="en-GB" dirty="0"/>
              <a:t> and not breaking the API between major versions seriously. Hardhat 2’s API has been rock solid.</a:t>
            </a:r>
          </a:p>
          <a:p>
            <a:r>
              <a:rPr lang="en-GB" dirty="0"/>
              <a:t>But spoiler alert, as the title of the talk gives away … we need to make some breaking. But why?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E5AB3-5166-6F6A-8860-7289B4075B84}"/>
            </a:ext>
          </a:extLst>
        </p:cNvPr>
        <p:cNvGrpSpPr/>
        <p:nvPr/>
      </p:nvGrpSpPr>
      <p:grpSpPr>
        <a:xfrm>
          <a:off x="0" y="0"/>
          <a:ext cx="0" cy="0"/>
          <a:chOff x="0" y="0"/>
          <a:chExt cx="0" cy="0"/>
        </a:xfrm>
      </p:grpSpPr>
      <p:sp>
        <p:nvSpPr>
          <p:cNvPr id="75" name="Shape 75">
            <a:extLst>
              <a:ext uri="{FF2B5EF4-FFF2-40B4-BE49-F238E27FC236}">
                <a16:creationId xmlns:a16="http://schemas.microsoft.com/office/drawing/2014/main" id="{D822B999-2D4D-71CC-ACAC-6C01B2BEC2E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6" name="Shape 76">
            <a:extLst>
              <a:ext uri="{FF2B5EF4-FFF2-40B4-BE49-F238E27FC236}">
                <a16:creationId xmlns:a16="http://schemas.microsoft.com/office/drawing/2014/main" id="{8560FF03-FA8E-2758-F0BB-2DDF1EC523C4}"/>
              </a:ext>
            </a:extLst>
          </p:cNvPr>
          <p:cNvSpPr>
            <a:spLocks noGrp="1"/>
          </p:cNvSpPr>
          <p:nvPr>
            <p:ph type="body" sz="quarter" idx="1"/>
          </p:nvPr>
        </p:nvSpPr>
        <p:spPr>
          <a:prstGeom prst="rect">
            <a:avLst/>
          </a:prstGeom>
        </p:spPr>
        <p:txBody>
          <a:bodyPr/>
          <a:lstStyle/>
          <a:p>
            <a:r>
              <a:rPr lang="en-GB" dirty="0"/>
              <a:t>Ethereum changed - the Rollup centric roadmap means L2s have become a key target for new development and deployment.</a:t>
            </a:r>
          </a:p>
          <a:p>
            <a:r>
              <a:rPr lang="en-GB" dirty="0"/>
              <a:t>The Node ecosystem has gone through its Python 2 to Python 3 stage and swapped from </a:t>
            </a:r>
            <a:r>
              <a:rPr lang="en-GB" dirty="0" err="1"/>
              <a:t>CommonJS</a:t>
            </a:r>
            <a:r>
              <a:rPr lang="en-GB" dirty="0"/>
              <a:t> to </a:t>
            </a:r>
            <a:r>
              <a:rPr lang="en-GB" dirty="0" err="1"/>
              <a:t>Ecmascript</a:t>
            </a:r>
            <a:r>
              <a:rPr lang="en-GB" dirty="0"/>
              <a:t> modules and deeply embraced Typescript - bring massive improvements in development experience.</a:t>
            </a:r>
          </a:p>
          <a:p>
            <a:r>
              <a:rPr lang="en-GB" dirty="0"/>
              <a:t>Solidity tooling changed with new frameworks, with new capabilities - including Solidity tests. To take one big example the community has solidified around the importance of writing tests in Solidity (as opposed to </a:t>
            </a:r>
            <a:r>
              <a:rPr lang="en-GB" dirty="0" err="1"/>
              <a:t>js</a:t>
            </a:r>
            <a:r>
              <a:rPr lang="en-GB" dirty="0"/>
              <a:t> or python).</a:t>
            </a:r>
          </a:p>
        </p:txBody>
      </p:sp>
    </p:spTree>
    <p:extLst>
      <p:ext uri="{BB962C8B-B14F-4D97-AF65-F5344CB8AC3E}">
        <p14:creationId xmlns:p14="http://schemas.microsoft.com/office/powerpoint/2010/main" val="2352350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Shape 105"/>
          <p:cNvSpPr>
            <a:spLocks noGrp="1" noRot="1" noChangeAspect="1"/>
          </p:cNvSpPr>
          <p:nvPr>
            <p:ph type="sldImg"/>
          </p:nvPr>
        </p:nvSpPr>
        <p:spPr>
          <a:xfrm>
            <a:off x="381000" y="685800"/>
            <a:ext cx="6096000" cy="3429000"/>
          </a:xfrm>
          <a:prstGeom prst="rect">
            <a:avLst/>
          </a:prstGeom>
        </p:spPr>
        <p:txBody>
          <a:bodyPr/>
          <a:lstStyle/>
          <a:p>
            <a:endParaRPr/>
          </a:p>
        </p:txBody>
      </p:sp>
      <p:sp>
        <p:nvSpPr>
          <p:cNvPr id="106" name="Shape 106"/>
          <p:cNvSpPr>
            <a:spLocks noGrp="1"/>
          </p:cNvSpPr>
          <p:nvPr>
            <p:ph type="body" sz="quarter" idx="1"/>
          </p:nvPr>
        </p:nvSpPr>
        <p:spPr>
          <a:prstGeom prst="rect">
            <a:avLst/>
          </a:prstGeom>
        </p:spPr>
        <p:txBody>
          <a:bodyPr/>
          <a:lstStyle/>
          <a:p>
            <a:r>
              <a:rPr dirty="0"/>
              <a:t>Hardhat 3 </a:t>
            </a:r>
            <a:r>
              <a:rPr lang="en-GB" dirty="0"/>
              <a:t>answers the changing needs of </a:t>
            </a:r>
            <a:r>
              <a:rPr dirty="0"/>
              <a:t> while still delivering on our principles of extensibility, ease of use and reliability.</a:t>
            </a:r>
          </a:p>
          <a:p>
            <a:r>
              <a:rPr dirty="0"/>
              <a:t>Hardhat 3 brings a comprehensive approach to testing. </a:t>
            </a:r>
            <a:r>
              <a:rPr dirty="0" err="1"/>
              <a:t>Javascript</a:t>
            </a:r>
            <a:r>
              <a:rPr dirty="0"/>
              <a:t> or typescript are still here and key, if you have a large mocha test suite please bring it to the Hardhat 3 party. But if you want to write unit tests Solidity you now have 1st class support in Hardhat 3.</a:t>
            </a:r>
          </a:p>
          <a:p>
            <a:r>
              <a:rPr dirty="0"/>
              <a:t>In the last few years we have rewritten our core runtime in Rust (that is the EDR team I spoke about before), improving performance for both tests and scripts. And we have lots more improvements planned.</a:t>
            </a:r>
          </a:p>
          <a:p>
            <a:r>
              <a:rPr dirty="0"/>
              <a:t>Hardhat 3 explicitly sets out to support L2s, allowing your local development network to precisely simulate the network your developing for. Currently, that simulation supported is limited to Optimism stack based chains, with more L2s planned.</a:t>
            </a:r>
          </a:p>
          <a:p>
            <a:r>
              <a:rPr dirty="0"/>
              <a:t>Finally, Hardhat has always been strong on deployment, but with our Ignition smart contract deployment system, we are doubling down on supporting you through the complete development lifecycle.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BD2A5-057D-5528-B33C-836418ECAC08}"/>
            </a:ext>
          </a:extLst>
        </p:cNvPr>
        <p:cNvGrpSpPr/>
        <p:nvPr/>
      </p:nvGrpSpPr>
      <p:grpSpPr>
        <a:xfrm>
          <a:off x="0" y="0"/>
          <a:ext cx="0" cy="0"/>
          <a:chOff x="0" y="0"/>
          <a:chExt cx="0" cy="0"/>
        </a:xfrm>
      </p:grpSpPr>
      <p:sp>
        <p:nvSpPr>
          <p:cNvPr id="119" name="Shape 119">
            <a:extLst>
              <a:ext uri="{FF2B5EF4-FFF2-40B4-BE49-F238E27FC236}">
                <a16:creationId xmlns:a16="http://schemas.microsoft.com/office/drawing/2014/main" id="{EFD0598E-2C40-A9AB-4434-BE747646FF41}"/>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120" name="Shape 120">
            <a:extLst>
              <a:ext uri="{FF2B5EF4-FFF2-40B4-BE49-F238E27FC236}">
                <a16:creationId xmlns:a16="http://schemas.microsoft.com/office/drawing/2014/main" id="{C61496CD-56B5-F911-A23A-CD02F4A57BAE}"/>
              </a:ext>
            </a:extLst>
          </p:cNvPr>
          <p:cNvSpPr>
            <a:spLocks noGrp="1"/>
          </p:cNvSpPr>
          <p:nvPr>
            <p:ph type="body" sz="quarter" idx="1"/>
          </p:nvPr>
        </p:nvSpPr>
        <p:spPr>
          <a:prstGeom prst="rect">
            <a:avLst/>
          </a:prstGeom>
        </p:spPr>
        <p:txBody>
          <a:bodyPr/>
          <a:lstStyle/>
          <a:p>
            <a:r>
              <a:rPr dirty="0"/>
              <a:t>Lets jump in detail - Solidity Tests.</a:t>
            </a:r>
          </a:p>
          <a:p>
            <a:r>
              <a:rPr dirty="0"/>
              <a:t>Tests written in Solidity have the advantage that Hardhat doesn’t need to simulate a full Node to run - to run a test we only need to execute the EVM. Solidity Tests can just run faster.</a:t>
            </a:r>
          </a:p>
          <a:p>
            <a:r>
              <a:rPr dirty="0"/>
              <a:t>You also don’t have the context switching and concept translation between two different languages.</a:t>
            </a:r>
          </a:p>
          <a:p>
            <a:r>
              <a:rPr dirty="0"/>
              <a:t>This is ideal if you want to write a unit test against smart contract logic, putting some conditional under test.</a:t>
            </a:r>
          </a:p>
          <a:p>
            <a:r>
              <a:rPr dirty="0"/>
              <a:t>And if you need a fuller simulation, with multiple transactions or the network layer, you have JS/TS integration tests as you always did.</a:t>
            </a:r>
          </a:p>
          <a:p>
            <a:endParaRPr dirty="0"/>
          </a:p>
          <a:p>
            <a:r>
              <a:rPr dirty="0"/>
              <a:t>We have intentionally pulled across the structure and indeed many of the cheat codes of Foundry’s Solidity Test.</a:t>
            </a:r>
          </a:p>
          <a:p>
            <a:r>
              <a:rPr dirty="0"/>
              <a:t>Our goal is to build on what works, but also that a Solidity Test suite from a Foundry project should be runnable under Hardhat with ideally none, or minimal changes.</a:t>
            </a:r>
          </a:p>
          <a:p>
            <a:r>
              <a:rPr dirty="0"/>
              <a:t>As I said, most </a:t>
            </a:r>
            <a:r>
              <a:rPr dirty="0" err="1"/>
              <a:t>cheatcodes</a:t>
            </a:r>
            <a:r>
              <a:rPr dirty="0"/>
              <a:t> are supported, those that aren’t tend to be around scripting - and Hardhat has different solutions for those use cases, indeed scripting is one of those places where having access to a scripting language is useful.</a:t>
            </a:r>
          </a:p>
          <a:p>
            <a:endParaRPr dirty="0"/>
          </a:p>
          <a:p>
            <a:r>
              <a:rPr dirty="0"/>
              <a:t>Fuzz tests and invariant tests are supported as well.</a:t>
            </a:r>
          </a:p>
          <a:p>
            <a:endParaRPr dirty="0"/>
          </a:p>
        </p:txBody>
      </p:sp>
    </p:spTree>
    <p:extLst>
      <p:ext uri="{BB962C8B-B14F-4D97-AF65-F5344CB8AC3E}">
        <p14:creationId xmlns:p14="http://schemas.microsoft.com/office/powerpoint/2010/main" val="4154670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381000" y="685800"/>
            <a:ext cx="6096000" cy="3429000"/>
          </a:xfrm>
          <a:prstGeom prst="rect">
            <a:avLst/>
          </a:prstGeom>
        </p:spPr>
        <p:txBody>
          <a:bodyPr/>
          <a:lstStyle/>
          <a:p>
            <a:endParaRPr/>
          </a:p>
        </p:txBody>
      </p:sp>
      <p:sp>
        <p:nvSpPr>
          <p:cNvPr id="135" name="Shape 135"/>
          <p:cNvSpPr>
            <a:spLocks noGrp="1"/>
          </p:cNvSpPr>
          <p:nvPr>
            <p:ph type="body" sz="quarter" idx="1"/>
          </p:nvPr>
        </p:nvSpPr>
        <p:spPr>
          <a:prstGeom prst="rect">
            <a:avLst/>
          </a:prstGeom>
        </p:spPr>
        <p:txBody>
          <a:bodyPr/>
          <a:lstStyle/>
          <a:p>
            <a:r>
              <a:rPr dirty="0"/>
              <a:t>L2s are now a key part of the Ethereum.</a:t>
            </a:r>
          </a:p>
          <a:p>
            <a:r>
              <a:rPr dirty="0"/>
              <a:t>Hardhat 3 aims to give a precise simulation of the network being developed against. For the moment that is main net and Optimism chains. But we want to support additional l2s.</a:t>
            </a:r>
          </a:p>
          <a:p>
            <a:r>
              <a:rPr dirty="0"/>
              <a:t>What does like. Well we have reworked the network API in Hardhat 3. And introduced the concept of </a:t>
            </a:r>
            <a:r>
              <a:rPr dirty="0" err="1"/>
              <a:t>chainType</a:t>
            </a:r>
            <a:r>
              <a:rPr dirty="0"/>
              <a:t>.</a:t>
            </a:r>
          </a:p>
          <a:p>
            <a:r>
              <a:rPr dirty="0"/>
              <a:t>So you can see here, we have pulled in Hardhat, creating a connection with the named network confirmed “</a:t>
            </a:r>
            <a:r>
              <a:rPr dirty="0" err="1"/>
              <a:t>hardhatOp</a:t>
            </a:r>
            <a:r>
              <a:rPr dirty="0"/>
              <a:t>” that will be read from your </a:t>
            </a:r>
            <a:r>
              <a:rPr dirty="0" err="1"/>
              <a:t>hardhat.config</a:t>
            </a:r>
            <a:r>
              <a:rPr dirty="0"/>
              <a:t> file, but also this chain type property, here set to “op” or optimism.</a:t>
            </a:r>
          </a:p>
          <a:p>
            <a:endParaRPr dirty="0"/>
          </a:p>
          <a:p>
            <a:r>
              <a:rPr dirty="0"/>
              <a:t>That lets Hardhat flow additional type information, here we flow into </a:t>
            </a:r>
            <a:r>
              <a:rPr dirty="0" err="1"/>
              <a:t>viem</a:t>
            </a:r>
            <a:r>
              <a:rPr dirty="0"/>
              <a:t>. That means that the RPC calls the </a:t>
            </a:r>
            <a:r>
              <a:rPr dirty="0" err="1"/>
              <a:t>viem</a:t>
            </a:r>
            <a:r>
              <a:rPr dirty="0"/>
              <a:t> client supports includes those specific to OP chains, for instance `estimateL2Gas`. If I changed the </a:t>
            </a:r>
            <a:r>
              <a:rPr dirty="0" err="1"/>
              <a:t>chainType</a:t>
            </a:r>
            <a:r>
              <a:rPr dirty="0"/>
              <a:t> here to `l1`, you would immediately see the red squiggly of a type error on the `estimateL1Gas` call.</a:t>
            </a:r>
          </a:p>
          <a:p>
            <a:endParaRPr dirty="0"/>
          </a:p>
          <a:p>
            <a:endParaRPr dirty="0"/>
          </a:p>
          <a:p>
            <a:r>
              <a:rPr dirty="0"/>
              <a:t>Enhances types - particularly view</a:t>
            </a:r>
          </a:p>
          <a:p>
            <a:r>
              <a:rPr dirty="0"/>
              <a:t>Tells EDR to simulate Optimism - that will affect:</a:t>
            </a:r>
          </a:p>
          <a:p>
            <a:pPr marL="120315" indent="-120315">
              <a:buSzPct val="100000"/>
              <a:buChar char="*"/>
            </a:pPr>
            <a:r>
              <a:rPr dirty="0" err="1"/>
              <a:t>Predeploys</a:t>
            </a:r>
            <a:endParaRPr lang="en-GB" dirty="0"/>
          </a:p>
          <a:p>
            <a:pPr marL="120315" indent="-120315">
              <a:buSzPct val="100000"/>
              <a:buChar char="*"/>
            </a:pPr>
            <a:r>
              <a:rPr dirty="0"/>
              <a:t>Gas costs and estimations</a:t>
            </a:r>
          </a:p>
          <a:p>
            <a:pPr marL="120315" indent="-120315">
              <a:buSzPct val="100000"/>
              <a:buChar char="*"/>
            </a:pPr>
            <a:r>
              <a:rPr dirty="0"/>
              <a:t>JSON-</a:t>
            </a:r>
            <a:r>
              <a:rPr dirty="0" err="1"/>
              <a:t>rpc</a:t>
            </a:r>
            <a:r>
              <a:rPr dirty="0"/>
              <a:t> level changes</a:t>
            </a:r>
          </a:p>
          <a:p>
            <a:r>
              <a:rPr dirty="0"/>
              <a:t>Get a more precise simulation - rather than just testing against L1 and hoping for the best, we are aiming to get you closer to reality.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Shape 149"/>
          <p:cNvSpPr>
            <a:spLocks noGrp="1" noRot="1" noChangeAspect="1"/>
          </p:cNvSpPr>
          <p:nvPr>
            <p:ph type="sldImg"/>
          </p:nvPr>
        </p:nvSpPr>
        <p:spPr>
          <a:xfrm>
            <a:off x="381000" y="685800"/>
            <a:ext cx="6096000" cy="3429000"/>
          </a:xfrm>
          <a:prstGeom prst="rect">
            <a:avLst/>
          </a:prstGeom>
        </p:spPr>
        <p:txBody>
          <a:bodyPr/>
          <a:lstStyle/>
          <a:p>
            <a:endParaRPr/>
          </a:p>
        </p:txBody>
      </p:sp>
      <p:sp>
        <p:nvSpPr>
          <p:cNvPr id="150" name="Shape 150"/>
          <p:cNvSpPr>
            <a:spLocks noGrp="1"/>
          </p:cNvSpPr>
          <p:nvPr>
            <p:ph type="body" sz="quarter" idx="1"/>
          </p:nvPr>
        </p:nvSpPr>
        <p:spPr>
          <a:prstGeom prst="rect">
            <a:avLst/>
          </a:prstGeom>
        </p:spPr>
        <p:txBody>
          <a:bodyPr/>
          <a:lstStyle/>
          <a:p>
            <a:r>
              <a:rPr dirty="0"/>
              <a:t>In a world of multiple L2 networks, you need to be deal with more than one network at once.</a:t>
            </a:r>
          </a:p>
          <a:p>
            <a:r>
              <a:rPr dirty="0"/>
              <a:t>In Hardhat 2, the network connection was implicit and there could be only one in a running process. Leading to a range of hacked workarounds.</a:t>
            </a:r>
          </a:p>
          <a:p>
            <a:r>
              <a:rPr dirty="0"/>
              <a:t>In Hardhat 3 connecting to a network is explicit - giving you the control you need. At the same time we have looked to </a:t>
            </a:r>
            <a:r>
              <a:rPr dirty="0" err="1"/>
              <a:t>minimise</a:t>
            </a:r>
            <a:r>
              <a:rPr dirty="0"/>
              <a:t> the change by providing a default connection that roughly matches how Hardhat 2 behaves.</a:t>
            </a:r>
          </a:p>
          <a:p>
            <a:r>
              <a:rPr dirty="0"/>
              <a:t>Just to re-iterate. You can now handle multiple network connections in your scripts and in your tests. Those connections can be against L1s or L2s. For optimism based L2s you can expect better type support and more precise simulation in local hardhat nodes.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xfrm>
            <a:off x="381000" y="685800"/>
            <a:ext cx="6096000" cy="3429000"/>
          </a:xfrm>
          <a:prstGeom prst="rect">
            <a:avLst/>
          </a:prstGeom>
        </p:spPr>
        <p:txBody>
          <a:bodyPr/>
          <a:lstStyle/>
          <a:p>
            <a:endParaRPr/>
          </a:p>
        </p:txBody>
      </p:sp>
      <p:sp>
        <p:nvSpPr>
          <p:cNvPr id="166" name="Shape 166"/>
          <p:cNvSpPr>
            <a:spLocks noGrp="1"/>
          </p:cNvSpPr>
          <p:nvPr>
            <p:ph type="body" sz="quarter" idx="1"/>
          </p:nvPr>
        </p:nvSpPr>
        <p:spPr>
          <a:prstGeom prst="rect">
            <a:avLst/>
          </a:prstGeom>
        </p:spPr>
        <p:txBody>
          <a:bodyPr/>
          <a:lstStyle/>
          <a:p>
            <a:r>
              <a:rPr lang="en-GB" dirty="0"/>
              <a:t>Hardhat 3 comes by default with </a:t>
            </a:r>
            <a:r>
              <a:rPr dirty="0"/>
              <a:t>Ignition</a:t>
            </a:r>
            <a:r>
              <a:rPr lang="en-GB" dirty="0"/>
              <a:t>, Hardhat’s</a:t>
            </a:r>
            <a:r>
              <a:rPr dirty="0"/>
              <a:t> smart contract deployment system.</a:t>
            </a:r>
          </a:p>
          <a:p>
            <a:r>
              <a:rPr dirty="0"/>
              <a:t>It allows you to declaratively describe a complex deployment.</a:t>
            </a:r>
          </a:p>
          <a:p>
            <a:r>
              <a:rPr lang="en-GB" dirty="0"/>
              <a:t>You describe your deployment, Ignition will</a:t>
            </a:r>
            <a:r>
              <a:rPr dirty="0"/>
              <a:t> then build an execution plan, validate it looking for problems before you start sending transactions, then co-ordinate the transactions that need to be sent and monitoring them. The state of the transactions are journaled locally, letting Ignition restart a failed or interrupted deployment without </a:t>
            </a:r>
            <a:r>
              <a:rPr lang="en-GB" dirty="0"/>
              <a:t>having to write the error handling code </a:t>
            </a:r>
            <a:r>
              <a:rPr lang="en-GB" dirty="0" err="1"/>
              <a:t>yourslef</a:t>
            </a:r>
            <a:r>
              <a:rPr dirty="0"/>
              <a:t>.</a:t>
            </a:r>
          </a:p>
          <a:p>
            <a:r>
              <a:rPr dirty="0"/>
              <a:t>To take an example: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Shape 179"/>
          <p:cNvSpPr>
            <a:spLocks noGrp="1" noRot="1" noChangeAspect="1"/>
          </p:cNvSpPr>
          <p:nvPr>
            <p:ph type="sldImg"/>
          </p:nvPr>
        </p:nvSpPr>
        <p:spPr>
          <a:xfrm>
            <a:off x="381000" y="685800"/>
            <a:ext cx="6096000" cy="3429000"/>
          </a:xfrm>
          <a:prstGeom prst="rect">
            <a:avLst/>
          </a:prstGeom>
        </p:spPr>
        <p:txBody>
          <a:bodyPr/>
          <a:lstStyle/>
          <a:p>
            <a:endParaRPr/>
          </a:p>
        </p:txBody>
      </p:sp>
      <p:sp>
        <p:nvSpPr>
          <p:cNvPr id="180" name="Shape 180"/>
          <p:cNvSpPr>
            <a:spLocks noGrp="1"/>
          </p:cNvSpPr>
          <p:nvPr>
            <p:ph type="body" sz="quarter" idx="1"/>
          </p:nvPr>
        </p:nvSpPr>
        <p:spPr>
          <a:prstGeom prst="rect">
            <a:avLst/>
          </a:prstGeom>
        </p:spPr>
        <p:txBody>
          <a:bodyPr/>
          <a:lstStyle/>
          <a:p>
            <a:r>
              <a:rPr dirty="0"/>
              <a:t>Ignition is a powerful and featureful deployment system </a:t>
            </a:r>
            <a:r>
              <a:rPr lang="en-GB" dirty="0"/>
              <a:t>– it has many additional features supporting running as test fixtures or deterministic deployments with `create2` - </a:t>
            </a:r>
            <a:r>
              <a:rPr dirty="0"/>
              <a:t> you should take a look.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Shape 194"/>
          <p:cNvSpPr>
            <a:spLocks noGrp="1" noRot="1" noChangeAspect="1"/>
          </p:cNvSpPr>
          <p:nvPr>
            <p:ph type="sldImg"/>
          </p:nvPr>
        </p:nvSpPr>
        <p:spPr>
          <a:xfrm>
            <a:off x="381000" y="685800"/>
            <a:ext cx="6096000" cy="3429000"/>
          </a:xfrm>
          <a:prstGeom prst="rect">
            <a:avLst/>
          </a:prstGeom>
        </p:spPr>
        <p:txBody>
          <a:bodyPr/>
          <a:lstStyle/>
          <a:p>
            <a:endParaRPr/>
          </a:p>
        </p:txBody>
      </p:sp>
      <p:sp>
        <p:nvSpPr>
          <p:cNvPr id="195" name="Shape 195"/>
          <p:cNvSpPr>
            <a:spLocks noGrp="1"/>
          </p:cNvSpPr>
          <p:nvPr>
            <p:ph type="body" sz="quarter" idx="1"/>
          </p:nvPr>
        </p:nvSpPr>
        <p:spPr>
          <a:prstGeom prst="rect">
            <a:avLst/>
          </a:prstGeom>
        </p:spPr>
        <p:txBody>
          <a:bodyPr/>
          <a:lstStyle/>
          <a:p>
            <a:r>
              <a:rPr dirty="0"/>
              <a:t>Hardhat retains its philosophy of extensibility </a:t>
            </a:r>
            <a:r>
              <a:rPr lang="en-GB" dirty="0"/>
              <a:t>–</a:t>
            </a:r>
            <a:r>
              <a:rPr dirty="0"/>
              <a:t> </a:t>
            </a:r>
            <a:r>
              <a:rPr lang="en-GB" dirty="0"/>
              <a:t>the plugin API has had to be updated to allow for ESM. But many </a:t>
            </a:r>
            <a:r>
              <a:rPr dirty="0"/>
              <a:t>many plugins have already ported across to HH3.</a:t>
            </a:r>
          </a:p>
          <a:p>
            <a:r>
              <a:rPr dirty="0"/>
              <a:t>We made the call though to ensure a strong batteries included feel for new Hardhat projects from the outset.</a:t>
            </a:r>
          </a:p>
          <a:p>
            <a:r>
              <a:rPr dirty="0"/>
              <a:t>Code coverage is now baked into Hardhat whether you are running Solidity or integration tests - with coverage results being combined if you include both in the same run.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97170-8990-F500-4F62-870F9EAB7D45}"/>
            </a:ext>
          </a:extLst>
        </p:cNvPr>
        <p:cNvGrpSpPr/>
        <p:nvPr/>
      </p:nvGrpSpPr>
      <p:grpSpPr>
        <a:xfrm>
          <a:off x="0" y="0"/>
          <a:ext cx="0" cy="0"/>
          <a:chOff x="0" y="0"/>
          <a:chExt cx="0" cy="0"/>
        </a:xfrm>
      </p:grpSpPr>
      <p:sp>
        <p:nvSpPr>
          <p:cNvPr id="194" name="Shape 194">
            <a:extLst>
              <a:ext uri="{FF2B5EF4-FFF2-40B4-BE49-F238E27FC236}">
                <a16:creationId xmlns:a16="http://schemas.microsoft.com/office/drawing/2014/main" id="{D27D5FD1-B12B-EC00-FB9D-88EB7B1516A6}"/>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195" name="Shape 195">
            <a:extLst>
              <a:ext uri="{FF2B5EF4-FFF2-40B4-BE49-F238E27FC236}">
                <a16:creationId xmlns:a16="http://schemas.microsoft.com/office/drawing/2014/main" id="{E94D5C39-D532-58D7-6930-75F81FBCFE64}"/>
              </a:ext>
            </a:extLst>
          </p:cNvPr>
          <p:cNvSpPr>
            <a:spLocks noGrp="1"/>
          </p:cNvSpPr>
          <p:nvPr>
            <p:ph type="body" sz="quarter" idx="1"/>
          </p:nvPr>
        </p:nvSpPr>
        <p:spPr>
          <a:prstGeom prst="rect">
            <a:avLst/>
          </a:prstGeom>
        </p:spPr>
        <p:txBody>
          <a:bodyPr/>
          <a:lstStyle/>
          <a:p>
            <a:r>
              <a:rPr lang="en-GB" dirty="0"/>
              <a:t>Similarly reporting statistics on gas usage in a test suite is part of core - no need for an additional plugin.</a:t>
            </a:r>
          </a:p>
        </p:txBody>
      </p:sp>
    </p:spTree>
    <p:extLst>
      <p:ext uri="{BB962C8B-B14F-4D97-AF65-F5344CB8AC3E}">
        <p14:creationId xmlns:p14="http://schemas.microsoft.com/office/powerpoint/2010/main" val="1538254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B70DA-3456-EBFB-8AE2-6DBDAE9D12D5}"/>
            </a:ext>
          </a:extLst>
        </p:cNvPr>
        <p:cNvGrpSpPr/>
        <p:nvPr/>
      </p:nvGrpSpPr>
      <p:grpSpPr>
        <a:xfrm>
          <a:off x="0" y="0"/>
          <a:ext cx="0" cy="0"/>
          <a:chOff x="0" y="0"/>
          <a:chExt cx="0" cy="0"/>
        </a:xfrm>
      </p:grpSpPr>
      <p:sp>
        <p:nvSpPr>
          <p:cNvPr id="75" name="Shape 75">
            <a:extLst>
              <a:ext uri="{FF2B5EF4-FFF2-40B4-BE49-F238E27FC236}">
                <a16:creationId xmlns:a16="http://schemas.microsoft.com/office/drawing/2014/main" id="{8E453BB7-3602-D7CD-F5F6-5B5A9491839D}"/>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6" name="Shape 76">
            <a:extLst>
              <a:ext uri="{FF2B5EF4-FFF2-40B4-BE49-F238E27FC236}">
                <a16:creationId xmlns:a16="http://schemas.microsoft.com/office/drawing/2014/main" id="{4C8A1083-4142-C032-087B-81E70B6E2D7F}"/>
              </a:ext>
            </a:extLst>
          </p:cNvPr>
          <p:cNvSpPr>
            <a:spLocks noGrp="1"/>
          </p:cNvSpPr>
          <p:nvPr>
            <p:ph type="body" sz="quarter" idx="1"/>
          </p:nvPr>
        </p:nvSpPr>
        <p:spPr>
          <a:prstGeom prst="rect">
            <a:avLst/>
          </a:prstGeom>
        </p:spPr>
        <p:txBody>
          <a:bodyPr/>
          <a:lstStyle/>
          <a:p>
            <a:r>
              <a:rPr lang="en-GB" dirty="0"/>
              <a:t>Keystore - no more private keys in .env files, the keystore plugin lets you keep secrets in an encrypted file in your home directory, and outside of the repo.</a:t>
            </a:r>
          </a:p>
          <a:p>
            <a:r>
              <a:rPr lang="en-GB" dirty="0"/>
              <a:t>For deployments you the option of pulling in `hardhat-ledger` for hardware wallet support.</a:t>
            </a:r>
          </a:p>
        </p:txBody>
      </p:sp>
    </p:spTree>
    <p:extLst>
      <p:ext uri="{BB962C8B-B14F-4D97-AF65-F5344CB8AC3E}">
        <p14:creationId xmlns:p14="http://schemas.microsoft.com/office/powerpoint/2010/main" val="2296478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Shape 235"/>
          <p:cNvSpPr>
            <a:spLocks noGrp="1" noRot="1" noChangeAspect="1"/>
          </p:cNvSpPr>
          <p:nvPr>
            <p:ph type="sldImg"/>
          </p:nvPr>
        </p:nvSpPr>
        <p:spPr>
          <a:xfrm>
            <a:off x="381000" y="685800"/>
            <a:ext cx="6096000" cy="3429000"/>
          </a:xfrm>
          <a:prstGeom prst="rect">
            <a:avLst/>
          </a:prstGeom>
        </p:spPr>
        <p:txBody>
          <a:bodyPr/>
          <a:lstStyle/>
          <a:p>
            <a:endParaRPr/>
          </a:p>
        </p:txBody>
      </p:sp>
      <p:sp>
        <p:nvSpPr>
          <p:cNvPr id="236" name="Shape 236"/>
          <p:cNvSpPr>
            <a:spLocks noGrp="1"/>
          </p:cNvSpPr>
          <p:nvPr>
            <p:ph type="body" sz="quarter" idx="1"/>
          </p:nvPr>
        </p:nvSpPr>
        <p:spPr>
          <a:prstGeom prst="rect">
            <a:avLst/>
          </a:prstGeom>
        </p:spPr>
        <p:txBody>
          <a:bodyPr/>
          <a:lstStyle/>
          <a:p>
            <a:r>
              <a:rPr dirty="0"/>
              <a:t>The swap over to the EDR runtime written in Rust, significantly improved the speed of many JS/TS test suites.</a:t>
            </a:r>
          </a:p>
          <a:p>
            <a:r>
              <a:rPr dirty="0"/>
              <a:t>Solidity tests are on par with Foundry</a:t>
            </a:r>
            <a:r>
              <a:rPr lang="en-GB" dirty="0"/>
              <a:t> 1.3</a:t>
            </a:r>
            <a:r>
              <a:rPr dirty="0"/>
              <a:t>.</a:t>
            </a:r>
          </a:p>
          <a:p>
            <a:r>
              <a:rPr dirty="0"/>
              <a:t>Having both options lets you partition your test suite, for optimal performance.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hape 249"/>
          <p:cNvSpPr>
            <a:spLocks noGrp="1" noRot="1" noChangeAspect="1"/>
          </p:cNvSpPr>
          <p:nvPr>
            <p:ph type="sldImg"/>
          </p:nvPr>
        </p:nvSpPr>
        <p:spPr>
          <a:xfrm>
            <a:off x="381000" y="685800"/>
            <a:ext cx="6096000" cy="3429000"/>
          </a:xfrm>
          <a:prstGeom prst="rect">
            <a:avLst/>
          </a:prstGeom>
        </p:spPr>
        <p:txBody>
          <a:bodyPr/>
          <a:lstStyle/>
          <a:p>
            <a:endParaRPr/>
          </a:p>
        </p:txBody>
      </p:sp>
      <p:sp>
        <p:nvSpPr>
          <p:cNvPr id="250" name="Shape 250"/>
          <p:cNvSpPr>
            <a:spLocks noGrp="1"/>
          </p:cNvSpPr>
          <p:nvPr>
            <p:ph type="body" sz="quarter" idx="1"/>
          </p:nvPr>
        </p:nvSpPr>
        <p:spPr>
          <a:prstGeom prst="rect">
            <a:avLst/>
          </a:prstGeom>
        </p:spPr>
        <p:txBody>
          <a:bodyPr/>
          <a:lstStyle/>
          <a:p>
            <a:r>
              <a:rPr dirty="0"/>
              <a:t>Hardhat 3 is production ready. Major projects have switched already.</a:t>
            </a:r>
            <a:endParaRPr lang="en-GB" dirty="0"/>
          </a:p>
          <a:p>
            <a:endParaRPr dirty="0"/>
          </a:p>
          <a:p>
            <a:r>
              <a:rPr lang="en-GB" dirty="0"/>
              <a:t>But for the moment we have the Beta tag.</a:t>
            </a:r>
          </a:p>
          <a:p>
            <a:r>
              <a:rPr dirty="0"/>
              <a:t>We don’t expect user facing breaking changes in the API.</a:t>
            </a:r>
          </a:p>
          <a:p>
            <a:r>
              <a:rPr lang="en-GB" dirty="0"/>
              <a:t>K</a:t>
            </a:r>
            <a:r>
              <a:rPr dirty="0" err="1"/>
              <a:t>eeping</a:t>
            </a:r>
            <a:r>
              <a:rPr dirty="0"/>
              <a:t> the Beta tag while we built equivalents to the features set current available in the Hardhat toolbox, things like code coverage and gas statistics</a:t>
            </a:r>
          </a:p>
          <a:p>
            <a:r>
              <a:rPr dirty="0"/>
              <a:t>We will keep the Beta tag until that core experience is fully available.</a:t>
            </a:r>
          </a:p>
          <a:p>
            <a:endParaRPr lang="en-GB" dirty="0"/>
          </a:p>
          <a:p>
            <a:r>
              <a:rPr lang="en-GB" dirty="0"/>
              <a:t>There may still be changes to the plugins API</a:t>
            </a:r>
            <a:endParaRPr dirty="0"/>
          </a:p>
          <a:p>
            <a:r>
              <a:rPr dirty="0"/>
              <a:t>If you are a plugin author, we have published docs on creating plugins. </a:t>
            </a:r>
            <a:r>
              <a:rPr lang="en-GB" dirty="0"/>
              <a:t>A</a:t>
            </a:r>
            <a:r>
              <a:rPr dirty="0"/>
              <a:t>s we add more extension points, so we are keen to hear from anyone writing a plugin from scratch or migrating an existing plugin. Please get in touch.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A few tips on migrating a Hardhat 2 project.</a:t>
            </a:r>
          </a:p>
          <a:p>
            <a:r>
              <a:rPr lang="en-GB" dirty="0"/>
              <a:t>To be clear, while Hardhat 3 has breaking changes – particularly the plugin </a:t>
            </a:r>
            <a:r>
              <a:rPr lang="en-GB" dirty="0" err="1"/>
              <a:t>api</a:t>
            </a:r>
            <a:r>
              <a:rPr lang="en-GB" dirty="0"/>
              <a:t>, </a:t>
            </a:r>
            <a:r>
              <a:rPr lang="en-GB" dirty="0" err="1"/>
              <a:t>ESMified</a:t>
            </a:r>
            <a:r>
              <a:rPr lang="en-GB" dirty="0"/>
              <a:t> hardhat config, and the new network API.</a:t>
            </a:r>
          </a:p>
          <a:p>
            <a:r>
              <a:rPr lang="en-GB" dirty="0"/>
              <a:t>We have attempted to minimize the amount of change an established codebase will need.</a:t>
            </a:r>
          </a:p>
          <a:p>
            <a:r>
              <a:rPr lang="en-GB" dirty="0"/>
              <a:t>Projects have already migrated and we have been working with and investigating the migration paths for major defi projects – every project is different, but for many this will be at the scale of days of engineering effort rather than weeks.</a:t>
            </a:r>
          </a:p>
          <a:p>
            <a:endParaRPr lang="en-GB" dirty="0"/>
          </a:p>
          <a:p>
            <a:r>
              <a:rPr lang="en-GB" dirty="0"/>
              <a:t>Your starting point should be the Migration guide on the hardhat.org website. It goes into depth.</a:t>
            </a:r>
          </a:p>
          <a:p>
            <a:r>
              <a:rPr lang="en-GB" dirty="0"/>
              <a:t>But to give you a sense of </a:t>
            </a:r>
            <a:r>
              <a:rPr lang="en-GB" dirty="0" err="1"/>
              <a:t>whats</a:t>
            </a:r>
            <a:r>
              <a:rPr lang="en-GB" dirty="0"/>
              <a:t> involved.</a:t>
            </a:r>
          </a:p>
        </p:txBody>
      </p:sp>
    </p:spTree>
    <p:extLst>
      <p:ext uri="{BB962C8B-B14F-4D97-AF65-F5344CB8AC3E}">
        <p14:creationId xmlns:p14="http://schemas.microsoft.com/office/powerpoint/2010/main" val="3274726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20315" indent="-120315">
              <a:lnSpc>
                <a:spcPts val="1800"/>
              </a:lnSpc>
              <a:buSzPct val="100000"/>
              <a:buChar char="*"/>
              <a:defRPr sz="1200">
                <a:solidFill>
                  <a:srgbClr val="FFFFFF">
                    <a:alpha val="99000"/>
                  </a:srgbClr>
                </a:solidFill>
                <a:latin typeface="Overpass"/>
                <a:ea typeface="Overpass"/>
                <a:cs typeface="Overpass"/>
                <a:sym typeface="Overpass"/>
              </a:defRPr>
            </a:pPr>
            <a:r>
              <a:rPr lang="en-GB" dirty="0"/>
              <a:t>Firstly you will need to update the versions of hardhat and the nomic plugins in your </a:t>
            </a:r>
            <a:r>
              <a:rPr lang="en-GB" dirty="0" err="1"/>
              <a:t>package.json</a:t>
            </a:r>
            <a:r>
              <a:rPr lang="en-GB" dirty="0"/>
              <a:t> to 3.x version range.</a:t>
            </a:r>
          </a:p>
          <a:p>
            <a:pPr marL="120315" indent="-120315">
              <a:lnSpc>
                <a:spcPts val="1800"/>
              </a:lnSpc>
              <a:buSzPct val="100000"/>
              <a:buChar char="*"/>
              <a:defRPr sz="1200">
                <a:solidFill>
                  <a:srgbClr val="FFFFFF">
                    <a:alpha val="99000"/>
                  </a:srgbClr>
                </a:solidFill>
                <a:latin typeface="Overpass"/>
                <a:ea typeface="Overpass"/>
                <a:cs typeface="Overpass"/>
                <a:sym typeface="Overpass"/>
              </a:defRPr>
            </a:pPr>
            <a:r>
              <a:rPr lang="en-GB" dirty="0"/>
              <a:t>Hardhat 3 is ESM first, at a minimum the </a:t>
            </a:r>
            <a:r>
              <a:rPr lang="en-GB" dirty="0" err="1"/>
              <a:t>hardhat.config</a:t>
            </a:r>
            <a:r>
              <a:rPr lang="en-GB" dirty="0"/>
              <a:t> needs to a an </a:t>
            </a:r>
            <a:r>
              <a:rPr lang="en-GB" dirty="0" err="1"/>
              <a:t>Ecmascript</a:t>
            </a:r>
            <a:r>
              <a:rPr lang="en-GB" dirty="0"/>
              <a:t> module.</a:t>
            </a:r>
          </a:p>
          <a:p>
            <a:pPr marL="120315" indent="-120315">
              <a:lnSpc>
                <a:spcPts val="1800"/>
              </a:lnSpc>
              <a:buSzPct val="100000"/>
              <a:buChar char="*"/>
              <a:defRPr sz="1200">
                <a:solidFill>
                  <a:srgbClr val="FFFFFF">
                    <a:alpha val="99000"/>
                  </a:srgbClr>
                </a:solidFill>
                <a:latin typeface="Overpass"/>
                <a:ea typeface="Overpass"/>
                <a:cs typeface="Overpass"/>
                <a:sym typeface="Overpass"/>
              </a:defRPr>
            </a:pPr>
            <a:r>
              <a:rPr lang="en-GB" dirty="0"/>
              <a:t>Most of the structure of the config object will be able to come across from Hardhat 2 unchanged.</a:t>
            </a:r>
          </a:p>
          <a:p>
            <a:pPr marL="120315" indent="-120315">
              <a:lnSpc>
                <a:spcPts val="1800"/>
              </a:lnSpc>
              <a:buSzPct val="100000"/>
              <a:buChar char="*"/>
              <a:defRPr sz="1200">
                <a:solidFill>
                  <a:srgbClr val="FFFFFF">
                    <a:alpha val="99000"/>
                  </a:srgbClr>
                </a:solidFill>
                <a:latin typeface="Overpass"/>
                <a:ea typeface="Overpass"/>
                <a:cs typeface="Overpass"/>
                <a:sym typeface="Overpass"/>
              </a:defRPr>
            </a:pPr>
            <a:r>
              <a:rPr lang="en-GB" sz="1200" dirty="0">
                <a:latin typeface="+mj-lt"/>
                <a:ea typeface="+mj-ea"/>
                <a:cs typeface="+mj-cs"/>
                <a:sym typeface="Overpass"/>
              </a:rPr>
              <a:t>But you will definitely need to update Plugins, tasks which previously where registered by side effects when your required or imported the plugin, and now are passed as config.</a:t>
            </a:r>
            <a:endParaRPr lang="en-GB" dirty="0"/>
          </a:p>
          <a:p>
            <a:endParaRPr lang="en-GB" dirty="0"/>
          </a:p>
        </p:txBody>
      </p:sp>
    </p:spTree>
    <p:extLst>
      <p:ext uri="{BB962C8B-B14F-4D97-AF65-F5344CB8AC3E}">
        <p14:creationId xmlns:p14="http://schemas.microsoft.com/office/powerpoint/2010/main" val="15164673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515AF-37FF-B569-BE89-86F066965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7DA0B-CBF8-0B6C-C0A2-13872E3C9B0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40BE4D1-C675-F232-BD27-B4D0E85E5FDE}"/>
              </a:ext>
            </a:extLst>
          </p:cNvPr>
          <p:cNvSpPr>
            <a:spLocks noGrp="1"/>
          </p:cNvSpPr>
          <p:nvPr>
            <p:ph type="body" idx="1"/>
          </p:nvPr>
        </p:nvSpPr>
        <p:spPr/>
        <p:txBody>
          <a:bodyPr/>
          <a:lstStyle/>
          <a:p>
            <a:r>
              <a:rPr lang="en-GB" dirty="0"/>
              <a:t>* The likely largest area of code change is in your test suite. Previously the network was created implicitly, as you can see here at the top with the provider sending an JSON </a:t>
            </a:r>
            <a:r>
              <a:rPr lang="en-GB" dirty="0" err="1"/>
              <a:t>rpcs</a:t>
            </a:r>
            <a:r>
              <a:rPr lang="en-GB" dirty="0"/>
              <a:t> call.</a:t>
            </a:r>
          </a:p>
          <a:p>
            <a:r>
              <a:rPr lang="en-GB" dirty="0"/>
              <a:t>* Now the network must be created explicitly – letting you have multiple connections or to change the chain type - but along with that you will need to decide your isolation level, are you creating a single in-memory network instance for the entire test suite? One per file? One per test. That is for a project to decide. </a:t>
            </a:r>
          </a:p>
          <a:p>
            <a:r>
              <a:rPr lang="en-GB" dirty="0"/>
              <a:t>* This is likely to be the biggest change in your codebase – requiring updates in many test files. But we have found in projects that are migrating it is in large part a repetitive but mechanical change.</a:t>
            </a:r>
          </a:p>
        </p:txBody>
      </p:sp>
    </p:spTree>
    <p:extLst>
      <p:ext uri="{BB962C8B-B14F-4D97-AF65-F5344CB8AC3E}">
        <p14:creationId xmlns:p14="http://schemas.microsoft.com/office/powerpoint/2010/main" val="3261147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Shape 264"/>
          <p:cNvSpPr>
            <a:spLocks noGrp="1" noRot="1" noChangeAspect="1"/>
          </p:cNvSpPr>
          <p:nvPr>
            <p:ph type="sldImg"/>
          </p:nvPr>
        </p:nvSpPr>
        <p:spPr>
          <a:xfrm>
            <a:off x="381000" y="685800"/>
            <a:ext cx="6096000" cy="3429000"/>
          </a:xfrm>
          <a:prstGeom prst="rect">
            <a:avLst/>
          </a:prstGeom>
        </p:spPr>
        <p:txBody>
          <a:bodyPr/>
          <a:lstStyle/>
          <a:p>
            <a:endParaRPr/>
          </a:p>
        </p:txBody>
      </p:sp>
      <p:sp>
        <p:nvSpPr>
          <p:cNvPr id="265" name="Shape 265"/>
          <p:cNvSpPr>
            <a:spLocks noGrp="1"/>
          </p:cNvSpPr>
          <p:nvPr>
            <p:ph type="body" sz="quarter" idx="1"/>
          </p:nvPr>
        </p:nvSpPr>
        <p:spPr>
          <a:prstGeom prst="rect">
            <a:avLst/>
          </a:prstGeom>
        </p:spPr>
        <p:txBody>
          <a:bodyPr/>
          <a:lstStyle/>
          <a:p>
            <a:r>
              <a:rPr dirty="0"/>
              <a:t>Okay, </a:t>
            </a:r>
            <a:r>
              <a:rPr lang="en-GB" dirty="0"/>
              <a:t>Hardhat 3 provides a base we are going to continue building on,</a:t>
            </a:r>
            <a:r>
              <a:rPr dirty="0"/>
              <a:t> what </a:t>
            </a:r>
            <a:r>
              <a:rPr lang="en-GB" dirty="0"/>
              <a:t>features are</a:t>
            </a:r>
            <a:r>
              <a:rPr dirty="0"/>
              <a:t> coming down the pipeline in the next few months</a:t>
            </a:r>
            <a:r>
              <a:rPr lang="en-GB" dirty="0"/>
              <a:t>?</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Gas statistics are available today.</a:t>
            </a:r>
          </a:p>
          <a:p>
            <a:r>
              <a:rPr lang="en-GB" dirty="0"/>
              <a:t>But we want to add support for Gas snapshots where the gas usage of a test run is stored to file, and subsequent test runs are compared against that baseline, giving you a regression </a:t>
            </a:r>
            <a:r>
              <a:rPr lang="en-GB"/>
              <a:t>test you can use in your CI.</a:t>
            </a:r>
            <a:endParaRPr lang="en-GB" dirty="0"/>
          </a:p>
        </p:txBody>
      </p:sp>
    </p:spTree>
    <p:extLst>
      <p:ext uri="{BB962C8B-B14F-4D97-AF65-F5344CB8AC3E}">
        <p14:creationId xmlns:p14="http://schemas.microsoft.com/office/powerpoint/2010/main" val="699214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92768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Shape 309"/>
          <p:cNvSpPr>
            <a:spLocks noGrp="1" noRot="1" noChangeAspect="1"/>
          </p:cNvSpPr>
          <p:nvPr>
            <p:ph type="sldImg"/>
          </p:nvPr>
        </p:nvSpPr>
        <p:spPr>
          <a:xfrm>
            <a:off x="381000" y="685800"/>
            <a:ext cx="6096000" cy="3429000"/>
          </a:xfrm>
          <a:prstGeom prst="rect">
            <a:avLst/>
          </a:prstGeom>
        </p:spPr>
        <p:txBody>
          <a:bodyPr/>
          <a:lstStyle/>
          <a:p>
            <a:endParaRPr/>
          </a:p>
        </p:txBody>
      </p:sp>
      <p:sp>
        <p:nvSpPr>
          <p:cNvPr id="310" name="Shape 310"/>
          <p:cNvSpPr>
            <a:spLocks noGrp="1"/>
          </p:cNvSpPr>
          <p:nvPr>
            <p:ph type="body" sz="quarter" idx="1"/>
          </p:nvPr>
        </p:nvSpPr>
        <p:spPr>
          <a:prstGeom prst="rect">
            <a:avLst/>
          </a:prstGeom>
        </p:spPr>
        <p:txBody>
          <a:bodyPr/>
          <a:lstStyle/>
          <a:p>
            <a:r>
              <a:rPr dirty="0"/>
              <a:t>Run your Hardhat project from bun.</a:t>
            </a:r>
          </a:p>
          <a:p>
            <a:r>
              <a:rPr dirty="0"/>
              <a:t>We have seen projects already successfully using Hardhat 3 and Bun</a:t>
            </a:r>
          </a:p>
          <a:p>
            <a:r>
              <a:rPr dirty="0"/>
              <a:t>Make sure it works well with </a:t>
            </a:r>
            <a:r>
              <a:rPr lang="en-GB" dirty="0"/>
              <a:t>across all the features of Hardhat and their combinations – we won’t give it the official stamp of approval until then.</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Shape 323"/>
          <p:cNvSpPr>
            <a:spLocks noGrp="1" noRot="1" noChangeAspect="1"/>
          </p:cNvSpPr>
          <p:nvPr>
            <p:ph type="sldImg"/>
          </p:nvPr>
        </p:nvSpPr>
        <p:spPr>
          <a:xfrm>
            <a:off x="381000" y="685800"/>
            <a:ext cx="6096000" cy="3429000"/>
          </a:xfrm>
          <a:prstGeom prst="rect">
            <a:avLst/>
          </a:prstGeom>
        </p:spPr>
        <p:txBody>
          <a:bodyPr/>
          <a:lstStyle/>
          <a:p>
            <a:endParaRPr/>
          </a:p>
        </p:txBody>
      </p:sp>
      <p:sp>
        <p:nvSpPr>
          <p:cNvPr id="324" name="Shape 324"/>
          <p:cNvSpPr>
            <a:spLocks noGrp="1"/>
          </p:cNvSpPr>
          <p:nvPr>
            <p:ph type="body" sz="quarter" idx="1"/>
          </p:nvPr>
        </p:nvSpPr>
        <p:spPr>
          <a:prstGeom prst="rect">
            <a:avLst/>
          </a:prstGeom>
        </p:spPr>
        <p:txBody>
          <a:bodyPr/>
          <a:lstStyle/>
          <a:p>
            <a:r>
              <a:rPr dirty="0"/>
              <a:t>Hardhat 3 is faster, but we are not going to rest on our laurels.</a:t>
            </a:r>
            <a:endParaRPr lang="en-GB" dirty="0"/>
          </a:p>
          <a:p>
            <a:endParaRPr lang="en-GB" dirty="0"/>
          </a:p>
          <a:p>
            <a:pPr marL="228600" indent="-228600">
              <a:buAutoNum type="arabicPeriod"/>
            </a:pPr>
            <a:r>
              <a:rPr lang="en-GB" dirty="0"/>
              <a:t>EDR delivered in some cases 10x performance improvements in JS test suites, in test execution for Solidity tests we are on par with Foundry,</a:t>
            </a:r>
          </a:p>
          <a:p>
            <a:pPr marL="228600" indent="-228600">
              <a:buAutoNum type="arabicPeriod"/>
            </a:pPr>
            <a:r>
              <a:rPr lang="en-GB" dirty="0"/>
              <a:t>However, we have identified improvement we can make in our build pipeline</a:t>
            </a:r>
          </a:p>
          <a:p>
            <a:pPr marL="228600" indent="-228600">
              <a:buAutoNum type="arabicPeriod"/>
            </a:pPr>
            <a:r>
              <a:rPr lang="en-GB" dirty="0"/>
              <a:t>Continue improving performance on real world usage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8D5D6-75A8-8327-23DD-7E2956E21CF9}"/>
            </a:ext>
          </a:extLst>
        </p:cNvPr>
        <p:cNvGrpSpPr/>
        <p:nvPr/>
      </p:nvGrpSpPr>
      <p:grpSpPr>
        <a:xfrm>
          <a:off x="0" y="0"/>
          <a:ext cx="0" cy="0"/>
          <a:chOff x="0" y="0"/>
          <a:chExt cx="0" cy="0"/>
        </a:xfrm>
      </p:grpSpPr>
      <p:sp>
        <p:nvSpPr>
          <p:cNvPr id="119" name="Shape 119">
            <a:extLst>
              <a:ext uri="{FF2B5EF4-FFF2-40B4-BE49-F238E27FC236}">
                <a16:creationId xmlns:a16="http://schemas.microsoft.com/office/drawing/2014/main" id="{A0B7E138-E160-96E1-999F-9173E8E7D363}"/>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120" name="Shape 120">
            <a:extLst>
              <a:ext uri="{FF2B5EF4-FFF2-40B4-BE49-F238E27FC236}">
                <a16:creationId xmlns:a16="http://schemas.microsoft.com/office/drawing/2014/main" id="{22FA5C72-296A-1E2D-121F-76750850A976}"/>
              </a:ext>
            </a:extLst>
          </p:cNvPr>
          <p:cNvSpPr>
            <a:spLocks noGrp="1"/>
          </p:cNvSpPr>
          <p:nvPr>
            <p:ph type="body" sz="quarter" idx="1"/>
          </p:nvPr>
        </p:nvSpPr>
        <p:spPr>
          <a:prstGeom prst="rect">
            <a:avLst/>
          </a:prstGeom>
        </p:spPr>
        <p:txBody>
          <a:bodyPr/>
          <a:lstStyle/>
          <a:p>
            <a:r>
              <a:rPr lang="en-GB" dirty="0"/>
              <a:t>Hardhat 3 delivers on our principles of extensibility, ease of use and reliability while:</a:t>
            </a:r>
          </a:p>
          <a:p>
            <a:pPr marL="171450" indent="-171450">
              <a:buFont typeface="Arial" panose="020B0604020202020204" pitchFamily="34" charset="0"/>
              <a:buChar char="•"/>
            </a:pPr>
            <a:r>
              <a:rPr lang="en-GB" dirty="0"/>
              <a:t>Improving performance</a:t>
            </a:r>
          </a:p>
          <a:p>
            <a:pPr marL="171450" indent="-171450">
              <a:buFont typeface="Arial" panose="020B0604020202020204" pitchFamily="34" charset="0"/>
              <a:buChar char="•"/>
            </a:pPr>
            <a:r>
              <a:rPr lang="en-GB" dirty="0"/>
              <a:t>Adding solidity testing</a:t>
            </a:r>
          </a:p>
          <a:p>
            <a:pPr marL="171450" indent="-171450">
              <a:buFont typeface="Arial" panose="020B0604020202020204" pitchFamily="34" charset="0"/>
              <a:buChar char="•"/>
            </a:pPr>
            <a:r>
              <a:rPr lang="en-GB" dirty="0"/>
              <a:t>And taking Hardhat multi-chain</a:t>
            </a:r>
          </a:p>
          <a:p>
            <a:pPr marL="0" indent="0">
              <a:buFont typeface="Arial" panose="020B0604020202020204" pitchFamily="34" charset="0"/>
              <a:buNone/>
            </a:pPr>
            <a:r>
              <a:rPr lang="en-GB" dirty="0"/>
              <a:t>Give it a go, the best starting point is our docs at hardhat.org, we have recently revamped the entirety of the docs, and tell us what you think.</a:t>
            </a:r>
            <a:endParaRPr dirty="0"/>
          </a:p>
        </p:txBody>
      </p:sp>
    </p:spTree>
    <p:extLst>
      <p:ext uri="{BB962C8B-B14F-4D97-AF65-F5344CB8AC3E}">
        <p14:creationId xmlns:p14="http://schemas.microsoft.com/office/powerpoint/2010/main" val="4196236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69056"/>
            <a:ext cx="8229600" cy="11310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3"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5.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20" name="hardhat_helmet_colour.png" descr="hardhat_helmet_colour.png"/>
          <p:cNvPicPr>
            <a:picLocks noChangeAspect="1"/>
          </p:cNvPicPr>
          <p:nvPr/>
        </p:nvPicPr>
        <p:blipFill>
          <a:blip r:embed="rId3"/>
          <a:stretch>
            <a:fillRect/>
          </a:stretch>
        </p:blipFill>
        <p:spPr>
          <a:xfrm>
            <a:off x="4432905" y="1678293"/>
            <a:ext cx="4639891" cy="3255657"/>
          </a:xfrm>
          <a:prstGeom prst="rect">
            <a:avLst/>
          </a:prstGeom>
          <a:ln w="12700">
            <a:miter lim="400000"/>
          </a:ln>
        </p:spPr>
      </p:pic>
      <p:pic>
        <p:nvPicPr>
          <p:cNvPr id="21" name="Image 1" descr="Image 1"/>
          <p:cNvPicPr>
            <a:picLocks noChangeAspect="1"/>
          </p:cNvPicPr>
          <p:nvPr/>
        </p:nvPicPr>
        <p:blipFill>
          <a:blip r:embed="rId4"/>
          <a:stretch>
            <a:fillRect/>
          </a:stretch>
        </p:blipFill>
        <p:spPr>
          <a:xfrm>
            <a:off x="152399" y="4432666"/>
            <a:ext cx="1426206" cy="713103"/>
          </a:xfrm>
          <a:prstGeom prst="rect">
            <a:avLst/>
          </a:prstGeom>
          <a:ln w="12700">
            <a:miter lim="400000"/>
          </a:ln>
        </p:spPr>
      </p:pic>
      <p:pic>
        <p:nvPicPr>
          <p:cNvPr id="22" name="Image 2" descr="Image 2"/>
          <p:cNvPicPr>
            <a:picLocks noChangeAspect="1"/>
          </p:cNvPicPr>
          <p:nvPr/>
        </p:nvPicPr>
        <p:blipFill>
          <a:blip r:embed="rId5"/>
          <a:stretch>
            <a:fillRect/>
          </a:stretch>
        </p:blipFill>
        <p:spPr>
          <a:xfrm>
            <a:off x="8831842" y="209550"/>
            <a:ext cx="120477" cy="107273"/>
          </a:xfrm>
          <a:prstGeom prst="rect">
            <a:avLst/>
          </a:prstGeom>
          <a:ln w="12700">
            <a:miter lim="400000"/>
          </a:ln>
        </p:spPr>
      </p:pic>
      <p:pic>
        <p:nvPicPr>
          <p:cNvPr id="23" name="Image 3" descr="Image 3"/>
          <p:cNvPicPr>
            <a:picLocks noChangeAspect="1"/>
          </p:cNvPicPr>
          <p:nvPr/>
        </p:nvPicPr>
        <p:blipFill>
          <a:blip r:embed="rId6"/>
          <a:stretch>
            <a:fillRect/>
          </a:stretch>
        </p:blipFill>
        <p:spPr>
          <a:xfrm>
            <a:off x="8776719" y="209550"/>
            <a:ext cx="120477" cy="107273"/>
          </a:xfrm>
          <a:prstGeom prst="rect">
            <a:avLst/>
          </a:prstGeom>
          <a:ln w="12700">
            <a:miter lim="400000"/>
          </a:ln>
        </p:spPr>
      </p:pic>
      <p:pic>
        <p:nvPicPr>
          <p:cNvPr id="24" name="Image 4" descr="Image 4"/>
          <p:cNvPicPr>
            <a:picLocks noChangeAspect="1"/>
          </p:cNvPicPr>
          <p:nvPr/>
        </p:nvPicPr>
        <p:blipFill>
          <a:blip r:embed="rId7"/>
          <a:stretch>
            <a:fillRect/>
          </a:stretch>
        </p:blipFill>
        <p:spPr>
          <a:xfrm>
            <a:off x="8721128" y="307298"/>
            <a:ext cx="120477" cy="105516"/>
          </a:xfrm>
          <a:prstGeom prst="rect">
            <a:avLst/>
          </a:prstGeom>
          <a:ln w="12700">
            <a:miter lim="400000"/>
          </a:ln>
        </p:spPr>
      </p:pic>
      <p:pic>
        <p:nvPicPr>
          <p:cNvPr id="25" name="Image 5" descr="Image 5"/>
          <p:cNvPicPr>
            <a:picLocks noChangeAspect="1"/>
          </p:cNvPicPr>
          <p:nvPr/>
        </p:nvPicPr>
        <p:blipFill>
          <a:blip r:embed="rId5"/>
          <a:stretch>
            <a:fillRect/>
          </a:stretch>
        </p:blipFill>
        <p:spPr>
          <a:xfrm>
            <a:off x="8721127" y="209550"/>
            <a:ext cx="120477" cy="107273"/>
          </a:xfrm>
          <a:prstGeom prst="rect">
            <a:avLst/>
          </a:prstGeom>
          <a:ln w="12700">
            <a:miter lim="400000"/>
          </a:ln>
        </p:spPr>
      </p:pic>
      <p:pic>
        <p:nvPicPr>
          <p:cNvPr id="26" name="Image 6" descr="Image 6"/>
          <p:cNvPicPr>
            <a:picLocks noChangeAspect="1"/>
          </p:cNvPicPr>
          <p:nvPr/>
        </p:nvPicPr>
        <p:blipFill>
          <a:blip r:embed="rId6"/>
          <a:stretch>
            <a:fillRect/>
          </a:stretch>
        </p:blipFill>
        <p:spPr>
          <a:xfrm>
            <a:off x="8722413" y="457535"/>
            <a:ext cx="120477" cy="107274"/>
          </a:xfrm>
          <a:prstGeom prst="rect">
            <a:avLst/>
          </a:prstGeom>
          <a:ln w="12700">
            <a:miter lim="400000"/>
          </a:ln>
        </p:spPr>
      </p:pic>
      <p:pic>
        <p:nvPicPr>
          <p:cNvPr id="27" name="Image 7" descr="Image 7"/>
          <p:cNvPicPr>
            <a:picLocks noChangeAspect="1"/>
          </p:cNvPicPr>
          <p:nvPr/>
        </p:nvPicPr>
        <p:blipFill>
          <a:blip r:embed="rId5"/>
          <a:stretch>
            <a:fillRect/>
          </a:stretch>
        </p:blipFill>
        <p:spPr>
          <a:xfrm>
            <a:off x="8777536" y="457535"/>
            <a:ext cx="120477" cy="107274"/>
          </a:xfrm>
          <a:prstGeom prst="rect">
            <a:avLst/>
          </a:prstGeom>
          <a:ln w="12700">
            <a:miter lim="400000"/>
          </a:ln>
        </p:spPr>
      </p:pic>
      <p:pic>
        <p:nvPicPr>
          <p:cNvPr id="28" name="Image 8" descr="Image 8"/>
          <p:cNvPicPr>
            <a:picLocks noChangeAspect="1"/>
          </p:cNvPicPr>
          <p:nvPr/>
        </p:nvPicPr>
        <p:blipFill>
          <a:blip r:embed="rId5"/>
          <a:stretch>
            <a:fillRect/>
          </a:stretch>
        </p:blipFill>
        <p:spPr>
          <a:xfrm>
            <a:off x="8833126" y="359787"/>
            <a:ext cx="120477" cy="107273"/>
          </a:xfrm>
          <a:prstGeom prst="rect">
            <a:avLst/>
          </a:prstGeom>
          <a:ln w="12700">
            <a:miter lim="400000"/>
          </a:ln>
        </p:spPr>
      </p:pic>
      <p:pic>
        <p:nvPicPr>
          <p:cNvPr id="29" name="Image 9" descr="Image 9"/>
          <p:cNvPicPr>
            <a:picLocks noChangeAspect="1"/>
          </p:cNvPicPr>
          <p:nvPr/>
        </p:nvPicPr>
        <p:blipFill>
          <a:blip r:embed="rId6"/>
          <a:stretch>
            <a:fillRect/>
          </a:stretch>
        </p:blipFill>
        <p:spPr>
          <a:xfrm>
            <a:off x="8833129" y="457535"/>
            <a:ext cx="120477" cy="107274"/>
          </a:xfrm>
          <a:prstGeom prst="rect">
            <a:avLst/>
          </a:prstGeom>
          <a:ln w="12700">
            <a:miter lim="400000"/>
          </a:ln>
        </p:spPr>
      </p:pic>
      <p:sp>
        <p:nvSpPr>
          <p:cNvPr id="30" name="Text 3"/>
          <p:cNvSpPr txBox="1"/>
          <p:nvPr/>
        </p:nvSpPr>
        <p:spPr>
          <a:xfrm>
            <a:off x="521969" y="340361"/>
            <a:ext cx="1246824"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8F8FF">
                    <a:alpha val="99000"/>
                  </a:srgbClr>
                </a:solidFill>
                <a:latin typeface="IBM Plex Sans"/>
                <a:ea typeface="IBM Plex Sans"/>
                <a:cs typeface="IBM Plex Sans"/>
                <a:sym typeface="IBM Plex Sans"/>
              </a:defRPr>
            </a:lvl1pPr>
          </a:lstStyle>
          <a:p>
            <a:r>
              <a:t>18 NOV 2025</a:t>
            </a:r>
          </a:p>
        </p:txBody>
      </p:sp>
      <p:sp>
        <p:nvSpPr>
          <p:cNvPr id="31" name="Text 4"/>
          <p:cNvSpPr txBox="1"/>
          <p:nvPr/>
        </p:nvSpPr>
        <p:spPr>
          <a:xfrm>
            <a:off x="521970" y="966803"/>
            <a:ext cx="6571298" cy="883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nSpc>
                <a:spcPts val="6300"/>
              </a:lnSpc>
              <a:defRPr sz="5200">
                <a:solidFill>
                  <a:srgbClr val="F8F8FF">
                    <a:alpha val="99000"/>
                  </a:srgbClr>
                </a:solidFill>
                <a:latin typeface="Overpass Mono"/>
                <a:ea typeface="Overpass Mono"/>
                <a:cs typeface="Overpass Mono"/>
                <a:sym typeface="Overpass Mono"/>
              </a:defRPr>
            </a:pPr>
            <a:r>
              <a:rPr b="1" dirty="0"/>
              <a:t>Hardhat 3</a:t>
            </a:r>
            <a:r>
              <a:rPr dirty="0"/>
              <a:t> is here</a:t>
            </a:r>
          </a:p>
        </p:txBody>
      </p:sp>
      <p:sp>
        <p:nvSpPr>
          <p:cNvPr id="32" name="Text 5"/>
          <p:cNvSpPr txBox="1"/>
          <p:nvPr/>
        </p:nvSpPr>
        <p:spPr>
          <a:xfrm>
            <a:off x="521970" y="1769291"/>
            <a:ext cx="6571298" cy="476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3100"/>
              </a:lnSpc>
              <a:defRPr sz="2400" spc="-52">
                <a:solidFill>
                  <a:srgbClr val="D2D2FF">
                    <a:alpha val="99000"/>
                  </a:srgbClr>
                </a:solidFill>
                <a:latin typeface="Overpass Mono"/>
                <a:ea typeface="Overpass Mono"/>
                <a:cs typeface="Overpass Mono"/>
                <a:sym typeface="Overpass Mono"/>
              </a:defRPr>
            </a:lvl1pPr>
          </a:lstStyle>
          <a:p>
            <a:r>
              <a:rPr dirty="0"/>
              <a:t>What’s new and why you should use it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36" name="Image 1" descr="Image 1"/>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37" name="Image 2" descr="Image 2"/>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38" name="Image 3" descr="Image 3"/>
          <p:cNvPicPr>
            <a:picLocks noChangeAspect="1"/>
          </p:cNvPicPr>
          <p:nvPr/>
        </p:nvPicPr>
        <p:blipFill>
          <a:blip r:embed="rId5"/>
          <a:stretch>
            <a:fillRect/>
          </a:stretch>
        </p:blipFill>
        <p:spPr>
          <a:xfrm>
            <a:off x="8721131" y="307298"/>
            <a:ext cx="120477" cy="105516"/>
          </a:xfrm>
          <a:prstGeom prst="rect">
            <a:avLst/>
          </a:prstGeom>
          <a:ln w="12700">
            <a:miter lim="400000"/>
          </a:ln>
        </p:spPr>
      </p:pic>
      <p:pic>
        <p:nvPicPr>
          <p:cNvPr id="39" name="Image 4" descr="Image 4"/>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40" name="Image 5" descr="Image 5"/>
          <p:cNvPicPr>
            <a:picLocks noChangeAspect="1"/>
          </p:cNvPicPr>
          <p:nvPr/>
        </p:nvPicPr>
        <p:blipFill>
          <a:blip r:embed="rId4"/>
          <a:stretch>
            <a:fillRect/>
          </a:stretch>
        </p:blipFill>
        <p:spPr>
          <a:xfrm>
            <a:off x="8722414" y="457535"/>
            <a:ext cx="120477" cy="107274"/>
          </a:xfrm>
          <a:prstGeom prst="rect">
            <a:avLst/>
          </a:prstGeom>
          <a:ln w="12700">
            <a:miter lim="400000"/>
          </a:ln>
        </p:spPr>
      </p:pic>
      <p:pic>
        <p:nvPicPr>
          <p:cNvPr id="41" name="Image 6" descr="Image 6"/>
          <p:cNvPicPr>
            <a:picLocks noChangeAspect="1"/>
          </p:cNvPicPr>
          <p:nvPr/>
        </p:nvPicPr>
        <p:blipFill>
          <a:blip r:embed="rId3"/>
          <a:stretch>
            <a:fillRect/>
          </a:stretch>
        </p:blipFill>
        <p:spPr>
          <a:xfrm>
            <a:off x="8777536" y="457535"/>
            <a:ext cx="120477" cy="107274"/>
          </a:xfrm>
          <a:prstGeom prst="rect">
            <a:avLst/>
          </a:prstGeom>
          <a:ln w="12700">
            <a:miter lim="400000"/>
          </a:ln>
        </p:spPr>
      </p:pic>
      <p:pic>
        <p:nvPicPr>
          <p:cNvPr id="42" name="Image 7" descr="Image 7"/>
          <p:cNvPicPr>
            <a:picLocks noChangeAspect="1"/>
          </p:cNvPicPr>
          <p:nvPr/>
        </p:nvPicPr>
        <p:blipFill>
          <a:blip r:embed="rId3"/>
          <a:stretch>
            <a:fillRect/>
          </a:stretch>
        </p:blipFill>
        <p:spPr>
          <a:xfrm>
            <a:off x="8833128" y="359787"/>
            <a:ext cx="120477" cy="107273"/>
          </a:xfrm>
          <a:prstGeom prst="rect">
            <a:avLst/>
          </a:prstGeom>
          <a:ln w="12700">
            <a:miter lim="400000"/>
          </a:ln>
        </p:spPr>
      </p:pic>
      <p:pic>
        <p:nvPicPr>
          <p:cNvPr id="43" name="Image 8" descr="Image 8"/>
          <p:cNvPicPr>
            <a:picLocks noChangeAspect="1"/>
          </p:cNvPicPr>
          <p:nvPr/>
        </p:nvPicPr>
        <p:blipFill>
          <a:blip r:embed="rId4"/>
          <a:stretch>
            <a:fillRect/>
          </a:stretch>
        </p:blipFill>
        <p:spPr>
          <a:xfrm>
            <a:off x="8833129" y="457535"/>
            <a:ext cx="120477" cy="107274"/>
          </a:xfrm>
          <a:prstGeom prst="rect">
            <a:avLst/>
          </a:prstGeom>
          <a:ln w="12700">
            <a:miter lim="400000"/>
          </a:ln>
        </p:spPr>
      </p:pic>
      <p:sp>
        <p:nvSpPr>
          <p:cNvPr id="44" name="Text 1"/>
          <p:cNvSpPr txBox="1"/>
          <p:nvPr/>
        </p:nvSpPr>
        <p:spPr>
          <a:xfrm>
            <a:off x="521969" y="337980"/>
            <a:ext cx="1270637"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FFFFF">
                    <a:alpha val="99000"/>
                  </a:srgbClr>
                </a:solidFill>
                <a:latin typeface="Overpass"/>
                <a:ea typeface="Overpass"/>
                <a:cs typeface="Overpass"/>
                <a:sym typeface="Overpass"/>
              </a:defRPr>
            </a:lvl1pPr>
          </a:lstStyle>
          <a:p>
            <a:endParaRPr dirty="0"/>
          </a:p>
        </p:txBody>
      </p:sp>
      <p:pic>
        <p:nvPicPr>
          <p:cNvPr id="45" name="nomic_foundation_logo_white.png" descr="nomic_foundation_logo_white.png"/>
          <p:cNvPicPr>
            <a:picLocks noChangeAspect="1"/>
          </p:cNvPicPr>
          <p:nvPr/>
        </p:nvPicPr>
        <p:blipFill>
          <a:blip r:embed="rId6"/>
          <a:stretch>
            <a:fillRect/>
          </a:stretch>
        </p:blipFill>
        <p:spPr>
          <a:xfrm>
            <a:off x="356856" y="796952"/>
            <a:ext cx="8430288" cy="3549596"/>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49" name="Image 1" descr="Image 1"/>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50" name="Image 2" descr="Image 2"/>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51" name="Image 3" descr="Image 3"/>
          <p:cNvPicPr>
            <a:picLocks noChangeAspect="1"/>
          </p:cNvPicPr>
          <p:nvPr/>
        </p:nvPicPr>
        <p:blipFill>
          <a:blip r:embed="rId5"/>
          <a:stretch>
            <a:fillRect/>
          </a:stretch>
        </p:blipFill>
        <p:spPr>
          <a:xfrm>
            <a:off x="8721124" y="307298"/>
            <a:ext cx="120477" cy="105516"/>
          </a:xfrm>
          <a:prstGeom prst="rect">
            <a:avLst/>
          </a:prstGeom>
          <a:ln w="12700">
            <a:miter lim="400000"/>
          </a:ln>
        </p:spPr>
      </p:pic>
      <p:pic>
        <p:nvPicPr>
          <p:cNvPr id="52" name="Image 4" descr="Image 4"/>
          <p:cNvPicPr>
            <a:picLocks noChangeAspect="1"/>
          </p:cNvPicPr>
          <p:nvPr/>
        </p:nvPicPr>
        <p:blipFill>
          <a:blip r:embed="rId3"/>
          <a:stretch>
            <a:fillRect/>
          </a:stretch>
        </p:blipFill>
        <p:spPr>
          <a:xfrm>
            <a:off x="8721122" y="209550"/>
            <a:ext cx="120477" cy="107273"/>
          </a:xfrm>
          <a:prstGeom prst="rect">
            <a:avLst/>
          </a:prstGeom>
          <a:ln w="12700">
            <a:miter lim="400000"/>
          </a:ln>
        </p:spPr>
      </p:pic>
      <p:pic>
        <p:nvPicPr>
          <p:cNvPr id="53" name="Image 5" descr="Image 5"/>
          <p:cNvPicPr>
            <a:picLocks noChangeAspect="1"/>
          </p:cNvPicPr>
          <p:nvPr/>
        </p:nvPicPr>
        <p:blipFill>
          <a:blip r:embed="rId4"/>
          <a:stretch>
            <a:fillRect/>
          </a:stretch>
        </p:blipFill>
        <p:spPr>
          <a:xfrm>
            <a:off x="8722407" y="457535"/>
            <a:ext cx="120477" cy="107274"/>
          </a:xfrm>
          <a:prstGeom prst="rect">
            <a:avLst/>
          </a:prstGeom>
          <a:ln w="12700">
            <a:miter lim="400000"/>
          </a:ln>
        </p:spPr>
      </p:pic>
      <p:pic>
        <p:nvPicPr>
          <p:cNvPr id="54" name="Image 6" descr="Image 6"/>
          <p:cNvPicPr>
            <a:picLocks noChangeAspect="1"/>
          </p:cNvPicPr>
          <p:nvPr/>
        </p:nvPicPr>
        <p:blipFill>
          <a:blip r:embed="rId3"/>
          <a:stretch>
            <a:fillRect/>
          </a:stretch>
        </p:blipFill>
        <p:spPr>
          <a:xfrm>
            <a:off x="8777529" y="457535"/>
            <a:ext cx="120477" cy="107274"/>
          </a:xfrm>
          <a:prstGeom prst="rect">
            <a:avLst/>
          </a:prstGeom>
          <a:ln w="12700">
            <a:miter lim="400000"/>
          </a:ln>
        </p:spPr>
      </p:pic>
      <p:pic>
        <p:nvPicPr>
          <p:cNvPr id="55" name="Image 7" descr="Image 7"/>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56" name="Image 8" descr="Image 8"/>
          <p:cNvPicPr>
            <a:picLocks noChangeAspect="1"/>
          </p:cNvPicPr>
          <p:nvPr/>
        </p:nvPicPr>
        <p:blipFill>
          <a:blip r:embed="rId4"/>
          <a:stretch>
            <a:fillRect/>
          </a:stretch>
        </p:blipFill>
        <p:spPr>
          <a:xfrm>
            <a:off x="8833125" y="457535"/>
            <a:ext cx="120477" cy="107274"/>
          </a:xfrm>
          <a:prstGeom prst="rect">
            <a:avLst/>
          </a:prstGeom>
          <a:ln w="12700">
            <a:miter lim="400000"/>
          </a:ln>
        </p:spPr>
      </p:pic>
      <p:pic>
        <p:nvPicPr>
          <p:cNvPr id="57" name="hardhat-header.png" descr="hardhat-header.png"/>
          <p:cNvPicPr>
            <a:picLocks noChangeAspect="1"/>
          </p:cNvPicPr>
          <p:nvPr/>
        </p:nvPicPr>
        <p:blipFill>
          <a:blip r:embed="rId6"/>
          <a:stretch>
            <a:fillRect/>
          </a:stretch>
        </p:blipFill>
        <p:spPr>
          <a:xfrm>
            <a:off x="0" y="705520"/>
            <a:ext cx="9144001" cy="4575572"/>
          </a:xfrm>
          <a:prstGeom prst="rect">
            <a:avLst/>
          </a:prstGeom>
          <a:ln w="12700">
            <a:miter lim="400000"/>
          </a:ln>
        </p:spPr>
      </p:pic>
      <p:sp>
        <p:nvSpPr>
          <p:cNvPr id="58" name="Text 3"/>
          <p:cNvSpPr txBox="1"/>
          <p:nvPr/>
        </p:nvSpPr>
        <p:spPr>
          <a:xfrm>
            <a:off x="315714" y="233692"/>
            <a:ext cx="1318261" cy="2527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r>
              <a:rPr dirty="0"/>
              <a:t> </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sp>
        <p:nvSpPr>
          <p:cNvPr id="62" name="Shape 0"/>
          <p:cNvSpPr/>
          <p:nvPr/>
        </p:nvSpPr>
        <p:spPr>
          <a:xfrm flipH="1">
            <a:off x="4572635" y="635"/>
            <a:ext cx="1" cy="5143501"/>
          </a:xfrm>
          <a:prstGeom prst="line">
            <a:avLst/>
          </a:prstGeom>
          <a:ln w="12700">
            <a:solidFill>
              <a:srgbClr val="2B247C">
                <a:alpha val="20000"/>
              </a:srgbClr>
            </a:solidFill>
          </a:ln>
        </p:spPr>
        <p:txBody>
          <a:bodyPr lIns="45719" rIns="45719"/>
          <a:lstStyle/>
          <a:p>
            <a:endParaRPr/>
          </a:p>
        </p:txBody>
      </p:sp>
      <p:sp>
        <p:nvSpPr>
          <p:cNvPr id="63" name="Shape 1"/>
          <p:cNvSpPr/>
          <p:nvPr/>
        </p:nvSpPr>
        <p:spPr>
          <a:xfrm flipH="1">
            <a:off x="4572635" y="635"/>
            <a:ext cx="1" cy="5143501"/>
          </a:xfrm>
          <a:prstGeom prst="line">
            <a:avLst/>
          </a:prstGeom>
          <a:ln w="12700">
            <a:solidFill>
              <a:srgbClr val="D2D2FF">
                <a:alpha val="20000"/>
              </a:srgbClr>
            </a:solidFill>
          </a:ln>
        </p:spPr>
        <p:txBody>
          <a:bodyPr lIns="45719" rIns="45719"/>
          <a:lstStyle/>
          <a:p>
            <a:endParaRPr/>
          </a:p>
        </p:txBody>
      </p:sp>
      <p:pic>
        <p:nvPicPr>
          <p:cNvPr id="64" name="Image 0" descr="Image 0"/>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65" name="Image 1" descr="Image 1"/>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66" name="Image 2" descr="Image 2"/>
          <p:cNvPicPr>
            <a:picLocks noChangeAspect="1"/>
          </p:cNvPicPr>
          <p:nvPr/>
        </p:nvPicPr>
        <p:blipFill>
          <a:blip r:embed="rId5"/>
          <a:stretch>
            <a:fillRect/>
          </a:stretch>
        </p:blipFill>
        <p:spPr>
          <a:xfrm>
            <a:off x="8721128" y="307298"/>
            <a:ext cx="120477" cy="105516"/>
          </a:xfrm>
          <a:prstGeom prst="rect">
            <a:avLst/>
          </a:prstGeom>
          <a:ln w="12700">
            <a:miter lim="400000"/>
          </a:ln>
        </p:spPr>
      </p:pic>
      <p:pic>
        <p:nvPicPr>
          <p:cNvPr id="67" name="Image 3" descr="Image 3"/>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68" name="Image 4" descr="Image 4"/>
          <p:cNvPicPr>
            <a:picLocks noChangeAspect="1"/>
          </p:cNvPicPr>
          <p:nvPr/>
        </p:nvPicPr>
        <p:blipFill>
          <a:blip r:embed="rId4"/>
          <a:stretch>
            <a:fillRect/>
          </a:stretch>
        </p:blipFill>
        <p:spPr>
          <a:xfrm>
            <a:off x="8722417" y="457535"/>
            <a:ext cx="120477" cy="107274"/>
          </a:xfrm>
          <a:prstGeom prst="rect">
            <a:avLst/>
          </a:prstGeom>
          <a:ln w="12700">
            <a:miter lim="400000"/>
          </a:ln>
        </p:spPr>
      </p:pic>
      <p:pic>
        <p:nvPicPr>
          <p:cNvPr id="69" name="Image 5" descr="Image 5"/>
          <p:cNvPicPr>
            <a:picLocks noChangeAspect="1"/>
          </p:cNvPicPr>
          <p:nvPr/>
        </p:nvPicPr>
        <p:blipFill>
          <a:blip r:embed="rId3"/>
          <a:stretch>
            <a:fillRect/>
          </a:stretch>
        </p:blipFill>
        <p:spPr>
          <a:xfrm>
            <a:off x="8777538" y="457535"/>
            <a:ext cx="120477" cy="107274"/>
          </a:xfrm>
          <a:prstGeom prst="rect">
            <a:avLst/>
          </a:prstGeom>
          <a:ln w="12700">
            <a:miter lim="400000"/>
          </a:ln>
        </p:spPr>
      </p:pic>
      <p:pic>
        <p:nvPicPr>
          <p:cNvPr id="70" name="Image 6" descr="Image 6"/>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71" name="Image 7" descr="Image 7"/>
          <p:cNvPicPr>
            <a:picLocks noChangeAspect="1"/>
          </p:cNvPicPr>
          <p:nvPr/>
        </p:nvPicPr>
        <p:blipFill>
          <a:blip r:embed="rId4"/>
          <a:stretch>
            <a:fillRect/>
          </a:stretch>
        </p:blipFill>
        <p:spPr>
          <a:xfrm>
            <a:off x="8833131" y="457535"/>
            <a:ext cx="120477" cy="107274"/>
          </a:xfrm>
          <a:prstGeom prst="rect">
            <a:avLst/>
          </a:prstGeom>
          <a:ln w="12700">
            <a:miter lim="400000"/>
          </a:ln>
        </p:spPr>
      </p:pic>
      <p:sp>
        <p:nvSpPr>
          <p:cNvPr id="72" name="Text 3"/>
          <p:cNvSpPr txBox="1"/>
          <p:nvPr/>
        </p:nvSpPr>
        <p:spPr>
          <a:xfrm>
            <a:off x="521969" y="337980"/>
            <a:ext cx="3794761"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endParaRPr dirty="0"/>
          </a:p>
        </p:txBody>
      </p:sp>
      <p:sp>
        <p:nvSpPr>
          <p:cNvPr id="73" name="Text 4"/>
          <p:cNvSpPr txBox="1"/>
          <p:nvPr/>
        </p:nvSpPr>
        <p:spPr>
          <a:xfrm>
            <a:off x="331469" y="2396280"/>
            <a:ext cx="3985261" cy="5665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3100"/>
              </a:lnSpc>
              <a:defRPr sz="5200" spc="-114">
                <a:solidFill>
                  <a:srgbClr val="FFFFFF">
                    <a:alpha val="99000"/>
                  </a:srgbClr>
                </a:solidFill>
                <a:latin typeface="Overpass Mono"/>
                <a:ea typeface="Overpass Mono"/>
                <a:cs typeface="Overpass Mono"/>
                <a:sym typeface="Overpass Mono"/>
              </a:defRPr>
            </a:lvl1pPr>
          </a:lstStyle>
          <a:p>
            <a:pPr algn="ctr"/>
            <a:r>
              <a:rPr dirty="0"/>
              <a:t>Principles</a:t>
            </a:r>
          </a:p>
        </p:txBody>
      </p:sp>
      <p:sp>
        <p:nvSpPr>
          <p:cNvPr id="74" name="Text 5"/>
          <p:cNvSpPr txBox="1"/>
          <p:nvPr/>
        </p:nvSpPr>
        <p:spPr>
          <a:xfrm>
            <a:off x="5411651" y="1630679"/>
            <a:ext cx="3937635" cy="18821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marL="342899" indent="-342899">
              <a:buSzPct val="100000"/>
              <a:buAutoNum type="arabicPeriod"/>
              <a:defRPr sz="3900">
                <a:solidFill>
                  <a:srgbClr val="F8F8FF">
                    <a:alpha val="99000"/>
                  </a:srgbClr>
                </a:solidFill>
                <a:latin typeface="Overpass"/>
                <a:ea typeface="Overpass"/>
                <a:cs typeface="Overpass"/>
                <a:sym typeface="Overpass"/>
              </a:defRPr>
            </a:pPr>
            <a:r>
              <a:rPr dirty="0"/>
              <a:t> Extensibility</a:t>
            </a:r>
          </a:p>
          <a:p>
            <a:pPr marL="342899" indent="-342899">
              <a:buSzPct val="100000"/>
              <a:buAutoNum type="arabicPeriod"/>
              <a:defRPr sz="3900">
                <a:solidFill>
                  <a:srgbClr val="F8F8FF">
                    <a:alpha val="99000"/>
                  </a:srgbClr>
                </a:solidFill>
                <a:latin typeface="Overpass"/>
                <a:ea typeface="Overpass"/>
                <a:cs typeface="Overpass"/>
                <a:sym typeface="Overpass"/>
              </a:defRPr>
            </a:pPr>
            <a:r>
              <a:rPr dirty="0"/>
              <a:t> Ease of use</a:t>
            </a:r>
          </a:p>
          <a:p>
            <a:pPr marL="342899" indent="-342899">
              <a:buSzPct val="100000"/>
              <a:buAutoNum type="arabicPeriod"/>
              <a:defRPr sz="3900">
                <a:solidFill>
                  <a:srgbClr val="F8F8FF">
                    <a:alpha val="99000"/>
                  </a:srgbClr>
                </a:solidFill>
                <a:latin typeface="Overpass"/>
                <a:ea typeface="Overpass"/>
                <a:cs typeface="Overpass"/>
                <a:sym typeface="Overpass"/>
              </a:defRPr>
            </a:pPr>
            <a:r>
              <a:rPr dirty="0"/>
              <a:t> Reliability</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a:extLst>
            <a:ext uri="{FF2B5EF4-FFF2-40B4-BE49-F238E27FC236}">
              <a16:creationId xmlns:a16="http://schemas.microsoft.com/office/drawing/2014/main" id="{D989B668-4090-8606-0D34-7EA7D3E47AE8}"/>
            </a:ext>
          </a:extLst>
        </p:cNvPr>
        <p:cNvGrpSpPr/>
        <p:nvPr/>
      </p:nvGrpSpPr>
      <p:grpSpPr>
        <a:xfrm>
          <a:off x="0" y="0"/>
          <a:ext cx="0" cy="0"/>
          <a:chOff x="0" y="0"/>
          <a:chExt cx="0" cy="0"/>
        </a:xfrm>
      </p:grpSpPr>
      <p:sp>
        <p:nvSpPr>
          <p:cNvPr id="62" name="Shape 0">
            <a:extLst>
              <a:ext uri="{FF2B5EF4-FFF2-40B4-BE49-F238E27FC236}">
                <a16:creationId xmlns:a16="http://schemas.microsoft.com/office/drawing/2014/main" id="{4C4B775D-EBCC-C640-7084-93580297DF7E}"/>
              </a:ext>
            </a:extLst>
          </p:cNvPr>
          <p:cNvSpPr/>
          <p:nvPr/>
        </p:nvSpPr>
        <p:spPr>
          <a:xfrm flipH="1">
            <a:off x="4572635" y="635"/>
            <a:ext cx="1" cy="5143501"/>
          </a:xfrm>
          <a:prstGeom prst="line">
            <a:avLst/>
          </a:prstGeom>
          <a:ln w="12700">
            <a:solidFill>
              <a:srgbClr val="2B247C">
                <a:alpha val="20000"/>
              </a:srgbClr>
            </a:solidFill>
          </a:ln>
        </p:spPr>
        <p:txBody>
          <a:bodyPr lIns="45719" rIns="45719"/>
          <a:lstStyle/>
          <a:p>
            <a:endParaRPr/>
          </a:p>
        </p:txBody>
      </p:sp>
      <p:sp>
        <p:nvSpPr>
          <p:cNvPr id="63" name="Shape 1">
            <a:extLst>
              <a:ext uri="{FF2B5EF4-FFF2-40B4-BE49-F238E27FC236}">
                <a16:creationId xmlns:a16="http://schemas.microsoft.com/office/drawing/2014/main" id="{8DD803C0-F705-CCC4-D0B1-54C37F08D38C}"/>
              </a:ext>
            </a:extLst>
          </p:cNvPr>
          <p:cNvSpPr/>
          <p:nvPr/>
        </p:nvSpPr>
        <p:spPr>
          <a:xfrm flipH="1">
            <a:off x="4572635" y="635"/>
            <a:ext cx="1" cy="5143501"/>
          </a:xfrm>
          <a:prstGeom prst="line">
            <a:avLst/>
          </a:prstGeom>
          <a:ln w="12700">
            <a:solidFill>
              <a:srgbClr val="D2D2FF">
                <a:alpha val="20000"/>
              </a:srgbClr>
            </a:solidFill>
          </a:ln>
        </p:spPr>
        <p:txBody>
          <a:bodyPr lIns="45719" rIns="45719"/>
          <a:lstStyle/>
          <a:p>
            <a:endParaRPr/>
          </a:p>
        </p:txBody>
      </p:sp>
      <p:pic>
        <p:nvPicPr>
          <p:cNvPr id="64" name="Image 0" descr="Image 0">
            <a:extLst>
              <a:ext uri="{FF2B5EF4-FFF2-40B4-BE49-F238E27FC236}">
                <a16:creationId xmlns:a16="http://schemas.microsoft.com/office/drawing/2014/main" id="{BBF04C6B-59B5-9E8C-7C1E-5682470AAE67}"/>
              </a:ext>
            </a:extLst>
          </p:cNvPr>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65" name="Image 1" descr="Image 1">
            <a:extLst>
              <a:ext uri="{FF2B5EF4-FFF2-40B4-BE49-F238E27FC236}">
                <a16:creationId xmlns:a16="http://schemas.microsoft.com/office/drawing/2014/main" id="{D4EA416A-4EDA-FB25-A033-1E0E94B97110}"/>
              </a:ext>
            </a:extLst>
          </p:cNvPr>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66" name="Image 2" descr="Image 2">
            <a:extLst>
              <a:ext uri="{FF2B5EF4-FFF2-40B4-BE49-F238E27FC236}">
                <a16:creationId xmlns:a16="http://schemas.microsoft.com/office/drawing/2014/main" id="{FDBFBCE5-7B72-8C32-1E9A-FE57E94FDE10}"/>
              </a:ext>
            </a:extLst>
          </p:cNvPr>
          <p:cNvPicPr>
            <a:picLocks noChangeAspect="1"/>
          </p:cNvPicPr>
          <p:nvPr/>
        </p:nvPicPr>
        <p:blipFill>
          <a:blip r:embed="rId5"/>
          <a:stretch>
            <a:fillRect/>
          </a:stretch>
        </p:blipFill>
        <p:spPr>
          <a:xfrm>
            <a:off x="8721128" y="307298"/>
            <a:ext cx="120477" cy="105516"/>
          </a:xfrm>
          <a:prstGeom prst="rect">
            <a:avLst/>
          </a:prstGeom>
          <a:ln w="12700">
            <a:miter lim="400000"/>
          </a:ln>
        </p:spPr>
      </p:pic>
      <p:pic>
        <p:nvPicPr>
          <p:cNvPr id="67" name="Image 3" descr="Image 3">
            <a:extLst>
              <a:ext uri="{FF2B5EF4-FFF2-40B4-BE49-F238E27FC236}">
                <a16:creationId xmlns:a16="http://schemas.microsoft.com/office/drawing/2014/main" id="{DB57FD27-D154-FB84-C0F9-8A34B93E541D}"/>
              </a:ext>
            </a:extLst>
          </p:cNvPr>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68" name="Image 4" descr="Image 4">
            <a:extLst>
              <a:ext uri="{FF2B5EF4-FFF2-40B4-BE49-F238E27FC236}">
                <a16:creationId xmlns:a16="http://schemas.microsoft.com/office/drawing/2014/main" id="{EE41B84A-A0AB-EFA3-FC09-E02608E9E287}"/>
              </a:ext>
            </a:extLst>
          </p:cNvPr>
          <p:cNvPicPr>
            <a:picLocks noChangeAspect="1"/>
          </p:cNvPicPr>
          <p:nvPr/>
        </p:nvPicPr>
        <p:blipFill>
          <a:blip r:embed="rId4"/>
          <a:stretch>
            <a:fillRect/>
          </a:stretch>
        </p:blipFill>
        <p:spPr>
          <a:xfrm>
            <a:off x="8722417" y="457535"/>
            <a:ext cx="120477" cy="107274"/>
          </a:xfrm>
          <a:prstGeom prst="rect">
            <a:avLst/>
          </a:prstGeom>
          <a:ln w="12700">
            <a:miter lim="400000"/>
          </a:ln>
        </p:spPr>
      </p:pic>
      <p:pic>
        <p:nvPicPr>
          <p:cNvPr id="69" name="Image 5" descr="Image 5">
            <a:extLst>
              <a:ext uri="{FF2B5EF4-FFF2-40B4-BE49-F238E27FC236}">
                <a16:creationId xmlns:a16="http://schemas.microsoft.com/office/drawing/2014/main" id="{2F4074E8-3CD2-B0BB-2605-79CC616694D8}"/>
              </a:ext>
            </a:extLst>
          </p:cNvPr>
          <p:cNvPicPr>
            <a:picLocks noChangeAspect="1"/>
          </p:cNvPicPr>
          <p:nvPr/>
        </p:nvPicPr>
        <p:blipFill>
          <a:blip r:embed="rId3"/>
          <a:stretch>
            <a:fillRect/>
          </a:stretch>
        </p:blipFill>
        <p:spPr>
          <a:xfrm>
            <a:off x="8777538" y="457535"/>
            <a:ext cx="120477" cy="107274"/>
          </a:xfrm>
          <a:prstGeom prst="rect">
            <a:avLst/>
          </a:prstGeom>
          <a:ln w="12700">
            <a:miter lim="400000"/>
          </a:ln>
        </p:spPr>
      </p:pic>
      <p:pic>
        <p:nvPicPr>
          <p:cNvPr id="70" name="Image 6" descr="Image 6">
            <a:extLst>
              <a:ext uri="{FF2B5EF4-FFF2-40B4-BE49-F238E27FC236}">
                <a16:creationId xmlns:a16="http://schemas.microsoft.com/office/drawing/2014/main" id="{3A068997-5FF8-0DDB-E21A-DBB1624A4F31}"/>
              </a:ext>
            </a:extLst>
          </p:cNvPr>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71" name="Image 7" descr="Image 7">
            <a:extLst>
              <a:ext uri="{FF2B5EF4-FFF2-40B4-BE49-F238E27FC236}">
                <a16:creationId xmlns:a16="http://schemas.microsoft.com/office/drawing/2014/main" id="{48832661-526F-06D6-C265-F344522CDC34}"/>
              </a:ext>
            </a:extLst>
          </p:cNvPr>
          <p:cNvPicPr>
            <a:picLocks noChangeAspect="1"/>
          </p:cNvPicPr>
          <p:nvPr/>
        </p:nvPicPr>
        <p:blipFill>
          <a:blip r:embed="rId4"/>
          <a:stretch>
            <a:fillRect/>
          </a:stretch>
        </p:blipFill>
        <p:spPr>
          <a:xfrm>
            <a:off x="8833131" y="457535"/>
            <a:ext cx="120477" cy="107274"/>
          </a:xfrm>
          <a:prstGeom prst="rect">
            <a:avLst/>
          </a:prstGeom>
          <a:ln w="12700">
            <a:miter lim="400000"/>
          </a:ln>
        </p:spPr>
      </p:pic>
      <p:sp>
        <p:nvSpPr>
          <p:cNvPr id="72" name="Text 3">
            <a:extLst>
              <a:ext uri="{FF2B5EF4-FFF2-40B4-BE49-F238E27FC236}">
                <a16:creationId xmlns:a16="http://schemas.microsoft.com/office/drawing/2014/main" id="{148CB49A-1B4C-B59C-4476-383229761996}"/>
              </a:ext>
            </a:extLst>
          </p:cNvPr>
          <p:cNvSpPr txBox="1"/>
          <p:nvPr/>
        </p:nvSpPr>
        <p:spPr>
          <a:xfrm>
            <a:off x="521969" y="337980"/>
            <a:ext cx="3794761" cy="2527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endParaRPr dirty="0"/>
          </a:p>
        </p:txBody>
      </p:sp>
      <p:sp>
        <p:nvSpPr>
          <p:cNvPr id="73" name="Text 4">
            <a:extLst>
              <a:ext uri="{FF2B5EF4-FFF2-40B4-BE49-F238E27FC236}">
                <a16:creationId xmlns:a16="http://schemas.microsoft.com/office/drawing/2014/main" id="{396B4BAD-75D5-FCD6-9E0F-98D3BF828700}"/>
              </a:ext>
            </a:extLst>
          </p:cNvPr>
          <p:cNvSpPr txBox="1"/>
          <p:nvPr/>
        </p:nvSpPr>
        <p:spPr>
          <a:xfrm>
            <a:off x="331469" y="2396280"/>
            <a:ext cx="3985261" cy="5665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nSpc>
                <a:spcPts val="3100"/>
              </a:lnSpc>
              <a:defRPr sz="5200" spc="-114">
                <a:solidFill>
                  <a:srgbClr val="FFFFFF">
                    <a:alpha val="99000"/>
                  </a:srgbClr>
                </a:solidFill>
                <a:latin typeface="Overpass Mono"/>
                <a:ea typeface="Overpass Mono"/>
                <a:cs typeface="Overpass Mono"/>
                <a:sym typeface="Overpass Mono"/>
              </a:defRPr>
            </a:lvl1pPr>
          </a:lstStyle>
          <a:p>
            <a:pPr algn="ctr"/>
            <a:r>
              <a:rPr lang="en-GB" dirty="0"/>
              <a:t>Changes</a:t>
            </a:r>
            <a:endParaRPr dirty="0"/>
          </a:p>
        </p:txBody>
      </p:sp>
      <p:sp>
        <p:nvSpPr>
          <p:cNvPr id="74" name="Text 5">
            <a:extLst>
              <a:ext uri="{FF2B5EF4-FFF2-40B4-BE49-F238E27FC236}">
                <a16:creationId xmlns:a16="http://schemas.microsoft.com/office/drawing/2014/main" id="{F062B872-F080-1451-C0ED-E06E83038234}"/>
              </a:ext>
            </a:extLst>
          </p:cNvPr>
          <p:cNvSpPr txBox="1"/>
          <p:nvPr/>
        </p:nvSpPr>
        <p:spPr>
          <a:xfrm>
            <a:off x="5063589" y="1625337"/>
            <a:ext cx="3937635" cy="18928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p>
            <a:pPr marL="342899" indent="-342899">
              <a:buSzPct val="100000"/>
              <a:buAutoNum type="arabicPeriod"/>
              <a:defRPr sz="3900">
                <a:solidFill>
                  <a:srgbClr val="F8F8FF">
                    <a:alpha val="99000"/>
                  </a:srgbClr>
                </a:solidFill>
                <a:latin typeface="Overpass"/>
                <a:ea typeface="Overpass"/>
                <a:cs typeface="Overpass"/>
                <a:sym typeface="Overpass"/>
              </a:defRPr>
            </a:pPr>
            <a:r>
              <a:rPr dirty="0"/>
              <a:t> </a:t>
            </a:r>
            <a:r>
              <a:rPr lang="en-GB" dirty="0"/>
              <a:t>Ethereum</a:t>
            </a:r>
            <a:endParaRPr dirty="0"/>
          </a:p>
          <a:p>
            <a:pPr marL="342899" indent="-342899">
              <a:buSzPct val="100000"/>
              <a:buAutoNum type="arabicPeriod"/>
              <a:defRPr sz="3900">
                <a:solidFill>
                  <a:srgbClr val="F8F8FF">
                    <a:alpha val="99000"/>
                  </a:srgbClr>
                </a:solidFill>
                <a:latin typeface="Overpass"/>
                <a:ea typeface="Overpass"/>
                <a:cs typeface="Overpass"/>
                <a:sym typeface="Overpass"/>
              </a:defRPr>
            </a:pPr>
            <a:r>
              <a:rPr dirty="0"/>
              <a:t> </a:t>
            </a:r>
            <a:r>
              <a:rPr lang="en-GB" dirty="0"/>
              <a:t>Node</a:t>
            </a:r>
            <a:endParaRPr dirty="0"/>
          </a:p>
          <a:p>
            <a:pPr marL="342899" indent="-342899">
              <a:buSzPct val="100000"/>
              <a:buAutoNum type="arabicPeriod"/>
              <a:defRPr sz="3900">
                <a:solidFill>
                  <a:srgbClr val="F8F8FF">
                    <a:alpha val="99000"/>
                  </a:srgbClr>
                </a:solidFill>
                <a:latin typeface="Overpass"/>
                <a:ea typeface="Overpass"/>
                <a:cs typeface="Overpass"/>
                <a:sym typeface="Overpass"/>
              </a:defRPr>
            </a:pPr>
            <a:r>
              <a:rPr dirty="0"/>
              <a:t> </a:t>
            </a:r>
            <a:r>
              <a:rPr lang="en-GB" dirty="0"/>
              <a:t>Solidity tooling</a:t>
            </a:r>
            <a:endParaRPr dirty="0"/>
          </a:p>
        </p:txBody>
      </p:sp>
    </p:spTree>
    <p:extLst>
      <p:ext uri="{BB962C8B-B14F-4D97-AF65-F5344CB8AC3E}">
        <p14:creationId xmlns:p14="http://schemas.microsoft.com/office/powerpoint/2010/main" val="120833584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93" name="Image 1" descr="Image 1"/>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94" name="Image 2" descr="Image 2"/>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95" name="Image 3" descr="Image 3"/>
          <p:cNvPicPr>
            <a:picLocks noChangeAspect="1"/>
          </p:cNvPicPr>
          <p:nvPr/>
        </p:nvPicPr>
        <p:blipFill>
          <a:blip r:embed="rId5"/>
          <a:stretch>
            <a:fillRect/>
          </a:stretch>
        </p:blipFill>
        <p:spPr>
          <a:xfrm>
            <a:off x="8721131" y="307298"/>
            <a:ext cx="120477" cy="105516"/>
          </a:xfrm>
          <a:prstGeom prst="rect">
            <a:avLst/>
          </a:prstGeom>
          <a:ln w="12700">
            <a:miter lim="400000"/>
          </a:ln>
        </p:spPr>
      </p:pic>
      <p:pic>
        <p:nvPicPr>
          <p:cNvPr id="96" name="Image 4" descr="Image 4"/>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97" name="Image 5" descr="Image 5"/>
          <p:cNvPicPr>
            <a:picLocks noChangeAspect="1"/>
          </p:cNvPicPr>
          <p:nvPr/>
        </p:nvPicPr>
        <p:blipFill>
          <a:blip r:embed="rId4"/>
          <a:stretch>
            <a:fillRect/>
          </a:stretch>
        </p:blipFill>
        <p:spPr>
          <a:xfrm>
            <a:off x="8722414" y="457535"/>
            <a:ext cx="120477" cy="107274"/>
          </a:xfrm>
          <a:prstGeom prst="rect">
            <a:avLst/>
          </a:prstGeom>
          <a:ln w="12700">
            <a:miter lim="400000"/>
          </a:ln>
        </p:spPr>
      </p:pic>
      <p:pic>
        <p:nvPicPr>
          <p:cNvPr id="98" name="Image 6" descr="Image 6"/>
          <p:cNvPicPr>
            <a:picLocks noChangeAspect="1"/>
          </p:cNvPicPr>
          <p:nvPr/>
        </p:nvPicPr>
        <p:blipFill>
          <a:blip r:embed="rId3"/>
          <a:stretch>
            <a:fillRect/>
          </a:stretch>
        </p:blipFill>
        <p:spPr>
          <a:xfrm>
            <a:off x="8777536" y="457535"/>
            <a:ext cx="120477" cy="107274"/>
          </a:xfrm>
          <a:prstGeom prst="rect">
            <a:avLst/>
          </a:prstGeom>
          <a:ln w="12700">
            <a:miter lim="400000"/>
          </a:ln>
        </p:spPr>
      </p:pic>
      <p:pic>
        <p:nvPicPr>
          <p:cNvPr id="99" name="Image 7" descr="Image 7"/>
          <p:cNvPicPr>
            <a:picLocks noChangeAspect="1"/>
          </p:cNvPicPr>
          <p:nvPr/>
        </p:nvPicPr>
        <p:blipFill>
          <a:blip r:embed="rId3"/>
          <a:stretch>
            <a:fillRect/>
          </a:stretch>
        </p:blipFill>
        <p:spPr>
          <a:xfrm>
            <a:off x="8833128" y="359787"/>
            <a:ext cx="120477" cy="107273"/>
          </a:xfrm>
          <a:prstGeom prst="rect">
            <a:avLst/>
          </a:prstGeom>
          <a:ln w="12700">
            <a:miter lim="400000"/>
          </a:ln>
        </p:spPr>
      </p:pic>
      <p:pic>
        <p:nvPicPr>
          <p:cNvPr id="100" name="Image 8" descr="Image 8"/>
          <p:cNvPicPr>
            <a:picLocks noChangeAspect="1"/>
          </p:cNvPicPr>
          <p:nvPr/>
        </p:nvPicPr>
        <p:blipFill>
          <a:blip r:embed="rId4"/>
          <a:stretch>
            <a:fillRect/>
          </a:stretch>
        </p:blipFill>
        <p:spPr>
          <a:xfrm>
            <a:off x="8833129" y="457535"/>
            <a:ext cx="120477" cy="107274"/>
          </a:xfrm>
          <a:prstGeom prst="rect">
            <a:avLst/>
          </a:prstGeom>
          <a:ln w="12700">
            <a:miter lim="400000"/>
          </a:ln>
        </p:spPr>
      </p:pic>
      <p:sp>
        <p:nvSpPr>
          <p:cNvPr id="102" name="Text 3"/>
          <p:cNvSpPr txBox="1"/>
          <p:nvPr/>
        </p:nvSpPr>
        <p:spPr>
          <a:xfrm>
            <a:off x="432102" y="1007540"/>
            <a:ext cx="6571299" cy="883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6300"/>
              </a:lnSpc>
              <a:defRPr sz="5200">
                <a:solidFill>
                  <a:srgbClr val="F8F8FF">
                    <a:alpha val="99000"/>
                  </a:srgbClr>
                </a:solidFill>
                <a:latin typeface="Overpass Mono"/>
                <a:ea typeface="Overpass Mono"/>
                <a:cs typeface="Overpass Mono"/>
                <a:sym typeface="Overpass Mono"/>
              </a:defRPr>
            </a:lvl1pPr>
          </a:lstStyle>
          <a:p>
            <a:r>
              <a:rPr dirty="0"/>
              <a:t>Why Hardhat 3?</a:t>
            </a:r>
          </a:p>
        </p:txBody>
      </p:sp>
      <p:pic>
        <p:nvPicPr>
          <p:cNvPr id="103" name="hardhat_helmet_colour.png" descr="hardhat_helmet_colour.png"/>
          <p:cNvPicPr>
            <a:picLocks noChangeAspect="1"/>
          </p:cNvPicPr>
          <p:nvPr/>
        </p:nvPicPr>
        <p:blipFill>
          <a:blip r:embed="rId6"/>
          <a:stretch>
            <a:fillRect/>
          </a:stretch>
        </p:blipFill>
        <p:spPr>
          <a:xfrm>
            <a:off x="5291722" y="2542840"/>
            <a:ext cx="3390056" cy="2378689"/>
          </a:xfrm>
          <a:prstGeom prst="rect">
            <a:avLst/>
          </a:prstGeom>
          <a:ln w="12700">
            <a:miter lim="400000"/>
          </a:ln>
        </p:spPr>
      </p:pic>
      <p:sp>
        <p:nvSpPr>
          <p:cNvPr id="104" name="Text 5"/>
          <p:cNvSpPr txBox="1"/>
          <p:nvPr/>
        </p:nvSpPr>
        <p:spPr>
          <a:xfrm>
            <a:off x="514908" y="2023450"/>
            <a:ext cx="6079589" cy="22529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marL="250657" indent="-250657">
              <a:lnSpc>
                <a:spcPct val="120000"/>
              </a:lnSpc>
              <a:buSzPct val="100000"/>
              <a:buChar char="•"/>
              <a:defRPr sz="3100">
                <a:solidFill>
                  <a:srgbClr val="F8F8FF">
                    <a:alpha val="99000"/>
                  </a:srgbClr>
                </a:solidFill>
                <a:latin typeface="Overpass"/>
                <a:ea typeface="Overpass"/>
                <a:cs typeface="Overpass"/>
                <a:sym typeface="Overpass"/>
              </a:defRPr>
            </a:pPr>
            <a:r>
              <a:rPr dirty="0"/>
              <a:t>Comprehensive Testing Support</a:t>
            </a:r>
          </a:p>
          <a:p>
            <a:pPr marL="250657" indent="-250657">
              <a:lnSpc>
                <a:spcPct val="120000"/>
              </a:lnSpc>
              <a:buSzPct val="100000"/>
              <a:buChar char="•"/>
              <a:defRPr sz="3100">
                <a:solidFill>
                  <a:srgbClr val="F8F8FF">
                    <a:alpha val="99000"/>
                  </a:srgbClr>
                </a:solidFill>
                <a:latin typeface="Overpass"/>
                <a:ea typeface="Overpass"/>
                <a:cs typeface="Overpass"/>
                <a:sym typeface="Overpass"/>
              </a:defRPr>
            </a:pPr>
            <a:r>
              <a:rPr dirty="0"/>
              <a:t>Highly performant</a:t>
            </a:r>
          </a:p>
          <a:p>
            <a:pPr marL="250657" indent="-250657">
              <a:lnSpc>
                <a:spcPct val="120000"/>
              </a:lnSpc>
              <a:buSzPct val="100000"/>
              <a:buChar char="•"/>
              <a:defRPr sz="3100">
                <a:solidFill>
                  <a:srgbClr val="F8F8FF">
                    <a:alpha val="99000"/>
                  </a:srgbClr>
                </a:solidFill>
                <a:latin typeface="Overpass"/>
                <a:ea typeface="Overpass"/>
                <a:cs typeface="Overpass"/>
                <a:sym typeface="Overpass"/>
              </a:defRPr>
            </a:pPr>
            <a:r>
              <a:rPr dirty="0"/>
              <a:t>Multi-chain support</a:t>
            </a:r>
          </a:p>
          <a:p>
            <a:pPr marL="250657" indent="-250657">
              <a:lnSpc>
                <a:spcPct val="120000"/>
              </a:lnSpc>
              <a:buSzPct val="100000"/>
              <a:buChar char="•"/>
              <a:defRPr sz="3100">
                <a:solidFill>
                  <a:srgbClr val="F8F8FF">
                    <a:alpha val="99000"/>
                  </a:srgbClr>
                </a:solidFill>
                <a:latin typeface="Overpass"/>
                <a:ea typeface="Overpass"/>
                <a:cs typeface="Overpass"/>
                <a:sym typeface="Overpass"/>
              </a:defRPr>
            </a:pPr>
            <a:r>
              <a:rPr dirty="0"/>
              <a:t>Easy deployments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a:extLst>
            <a:ext uri="{FF2B5EF4-FFF2-40B4-BE49-F238E27FC236}">
              <a16:creationId xmlns:a16="http://schemas.microsoft.com/office/drawing/2014/main" id="{8C854E02-8155-4945-DDDD-378524ADDF49}"/>
            </a:ext>
          </a:extLst>
        </p:cNvPr>
        <p:cNvGrpSpPr/>
        <p:nvPr/>
      </p:nvGrpSpPr>
      <p:grpSpPr>
        <a:xfrm>
          <a:off x="0" y="0"/>
          <a:ext cx="0" cy="0"/>
          <a:chOff x="0" y="0"/>
          <a:chExt cx="0" cy="0"/>
        </a:xfrm>
      </p:grpSpPr>
      <p:sp>
        <p:nvSpPr>
          <p:cNvPr id="108" name="Shape 1">
            <a:extLst>
              <a:ext uri="{FF2B5EF4-FFF2-40B4-BE49-F238E27FC236}">
                <a16:creationId xmlns:a16="http://schemas.microsoft.com/office/drawing/2014/main" id="{BDE4CB84-DB6C-2B15-EEFF-D13EBBA8D383}"/>
              </a:ext>
            </a:extLst>
          </p:cNvPr>
          <p:cNvSpPr/>
          <p:nvPr/>
        </p:nvSpPr>
        <p:spPr>
          <a:xfrm>
            <a:off x="0" y="881062"/>
            <a:ext cx="9144000" cy="1"/>
          </a:xfrm>
          <a:prstGeom prst="line">
            <a:avLst/>
          </a:prstGeom>
          <a:ln w="12700">
            <a:solidFill>
              <a:srgbClr val="D2D2FF">
                <a:alpha val="20000"/>
              </a:srgbClr>
            </a:solidFill>
          </a:ln>
        </p:spPr>
        <p:txBody>
          <a:bodyPr lIns="45719" rIns="45719"/>
          <a:lstStyle/>
          <a:p>
            <a:endParaRPr/>
          </a:p>
        </p:txBody>
      </p:sp>
      <p:pic>
        <p:nvPicPr>
          <p:cNvPr id="109" name="Image 1" descr="Image 1">
            <a:extLst>
              <a:ext uri="{FF2B5EF4-FFF2-40B4-BE49-F238E27FC236}">
                <a16:creationId xmlns:a16="http://schemas.microsoft.com/office/drawing/2014/main" id="{E981B241-C97A-F48D-3D73-926E0E92C06C}"/>
              </a:ext>
            </a:extLst>
          </p:cNvPr>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110" name="Image 2" descr="Image 2">
            <a:extLst>
              <a:ext uri="{FF2B5EF4-FFF2-40B4-BE49-F238E27FC236}">
                <a16:creationId xmlns:a16="http://schemas.microsoft.com/office/drawing/2014/main" id="{36BB236B-106B-AF75-C3C1-A974C24ED1AC}"/>
              </a:ext>
            </a:extLst>
          </p:cNvPr>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111" name="Image 3" descr="Image 3">
            <a:extLst>
              <a:ext uri="{FF2B5EF4-FFF2-40B4-BE49-F238E27FC236}">
                <a16:creationId xmlns:a16="http://schemas.microsoft.com/office/drawing/2014/main" id="{6542D60C-1A5B-11E8-6F87-2682A3E1EFC2}"/>
              </a:ext>
            </a:extLst>
          </p:cNvPr>
          <p:cNvPicPr>
            <a:picLocks noChangeAspect="1"/>
          </p:cNvPicPr>
          <p:nvPr/>
        </p:nvPicPr>
        <p:blipFill>
          <a:blip r:embed="rId5"/>
          <a:stretch>
            <a:fillRect/>
          </a:stretch>
        </p:blipFill>
        <p:spPr>
          <a:xfrm>
            <a:off x="8721124" y="307298"/>
            <a:ext cx="120477" cy="105516"/>
          </a:xfrm>
          <a:prstGeom prst="rect">
            <a:avLst/>
          </a:prstGeom>
          <a:ln w="12700">
            <a:miter lim="400000"/>
          </a:ln>
        </p:spPr>
      </p:pic>
      <p:pic>
        <p:nvPicPr>
          <p:cNvPr id="112" name="Image 4" descr="Image 4">
            <a:extLst>
              <a:ext uri="{FF2B5EF4-FFF2-40B4-BE49-F238E27FC236}">
                <a16:creationId xmlns:a16="http://schemas.microsoft.com/office/drawing/2014/main" id="{C6DDD461-17B4-E0DA-2C08-E237C3D687B2}"/>
              </a:ext>
            </a:extLst>
          </p:cNvPr>
          <p:cNvPicPr>
            <a:picLocks noChangeAspect="1"/>
          </p:cNvPicPr>
          <p:nvPr/>
        </p:nvPicPr>
        <p:blipFill>
          <a:blip r:embed="rId3"/>
          <a:stretch>
            <a:fillRect/>
          </a:stretch>
        </p:blipFill>
        <p:spPr>
          <a:xfrm>
            <a:off x="8721122" y="209550"/>
            <a:ext cx="120477" cy="107273"/>
          </a:xfrm>
          <a:prstGeom prst="rect">
            <a:avLst/>
          </a:prstGeom>
          <a:ln w="12700">
            <a:miter lim="400000"/>
          </a:ln>
        </p:spPr>
      </p:pic>
      <p:pic>
        <p:nvPicPr>
          <p:cNvPr id="113" name="Image 5" descr="Image 5">
            <a:extLst>
              <a:ext uri="{FF2B5EF4-FFF2-40B4-BE49-F238E27FC236}">
                <a16:creationId xmlns:a16="http://schemas.microsoft.com/office/drawing/2014/main" id="{D70A56B2-3DFF-C4D6-65D2-277085689545}"/>
              </a:ext>
            </a:extLst>
          </p:cNvPr>
          <p:cNvPicPr>
            <a:picLocks noChangeAspect="1"/>
          </p:cNvPicPr>
          <p:nvPr/>
        </p:nvPicPr>
        <p:blipFill>
          <a:blip r:embed="rId4"/>
          <a:stretch>
            <a:fillRect/>
          </a:stretch>
        </p:blipFill>
        <p:spPr>
          <a:xfrm>
            <a:off x="8722407" y="457535"/>
            <a:ext cx="120477" cy="107274"/>
          </a:xfrm>
          <a:prstGeom prst="rect">
            <a:avLst/>
          </a:prstGeom>
          <a:ln w="12700">
            <a:miter lim="400000"/>
          </a:ln>
        </p:spPr>
      </p:pic>
      <p:pic>
        <p:nvPicPr>
          <p:cNvPr id="114" name="Image 6" descr="Image 6">
            <a:extLst>
              <a:ext uri="{FF2B5EF4-FFF2-40B4-BE49-F238E27FC236}">
                <a16:creationId xmlns:a16="http://schemas.microsoft.com/office/drawing/2014/main" id="{E5673CB4-C68F-371D-71FB-2CCD6E5428C3}"/>
              </a:ext>
            </a:extLst>
          </p:cNvPr>
          <p:cNvPicPr>
            <a:picLocks noChangeAspect="1"/>
          </p:cNvPicPr>
          <p:nvPr/>
        </p:nvPicPr>
        <p:blipFill>
          <a:blip r:embed="rId3"/>
          <a:stretch>
            <a:fillRect/>
          </a:stretch>
        </p:blipFill>
        <p:spPr>
          <a:xfrm>
            <a:off x="8777529" y="457535"/>
            <a:ext cx="120477" cy="107274"/>
          </a:xfrm>
          <a:prstGeom prst="rect">
            <a:avLst/>
          </a:prstGeom>
          <a:ln w="12700">
            <a:miter lim="400000"/>
          </a:ln>
        </p:spPr>
      </p:pic>
      <p:pic>
        <p:nvPicPr>
          <p:cNvPr id="115" name="Image 7" descr="Image 7">
            <a:extLst>
              <a:ext uri="{FF2B5EF4-FFF2-40B4-BE49-F238E27FC236}">
                <a16:creationId xmlns:a16="http://schemas.microsoft.com/office/drawing/2014/main" id="{601C545A-8806-695E-2817-2E838E3DEDF6}"/>
              </a:ext>
            </a:extLst>
          </p:cNvPr>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116" name="Image 8" descr="Image 8">
            <a:extLst>
              <a:ext uri="{FF2B5EF4-FFF2-40B4-BE49-F238E27FC236}">
                <a16:creationId xmlns:a16="http://schemas.microsoft.com/office/drawing/2014/main" id="{B96E7C5C-0AB5-A6EB-EA5F-FF05EA56033E}"/>
              </a:ext>
            </a:extLst>
          </p:cNvPr>
          <p:cNvPicPr>
            <a:picLocks noChangeAspect="1"/>
          </p:cNvPicPr>
          <p:nvPr/>
        </p:nvPicPr>
        <p:blipFill>
          <a:blip r:embed="rId4"/>
          <a:stretch>
            <a:fillRect/>
          </a:stretch>
        </p:blipFill>
        <p:spPr>
          <a:xfrm>
            <a:off x="8833125" y="457535"/>
            <a:ext cx="120477" cy="107274"/>
          </a:xfrm>
          <a:prstGeom prst="rect">
            <a:avLst/>
          </a:prstGeom>
          <a:ln w="12700">
            <a:miter lim="400000"/>
          </a:ln>
        </p:spPr>
      </p:pic>
      <p:sp>
        <p:nvSpPr>
          <p:cNvPr id="117" name="Text 3">
            <a:extLst>
              <a:ext uri="{FF2B5EF4-FFF2-40B4-BE49-F238E27FC236}">
                <a16:creationId xmlns:a16="http://schemas.microsoft.com/office/drawing/2014/main" id="{3CFF762C-9132-6ABE-E3C2-CEEBA416A2C9}"/>
              </a:ext>
            </a:extLst>
          </p:cNvPr>
          <p:cNvSpPr txBox="1"/>
          <p:nvPr/>
        </p:nvSpPr>
        <p:spPr>
          <a:xfrm>
            <a:off x="426961" y="202734"/>
            <a:ext cx="2189357"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2400">
                <a:solidFill>
                  <a:srgbClr val="F8F8FF">
                    <a:alpha val="99000"/>
                  </a:srgbClr>
                </a:solidFill>
                <a:latin typeface="Overpass"/>
                <a:ea typeface="Overpass"/>
                <a:cs typeface="Overpass"/>
                <a:sym typeface="Overpass"/>
              </a:defRPr>
            </a:lvl1pPr>
          </a:lstStyle>
          <a:p>
            <a:r>
              <a:rPr sz="2800" dirty="0"/>
              <a:t>Solidity Tests</a:t>
            </a:r>
          </a:p>
        </p:txBody>
      </p:sp>
      <p:pic>
        <p:nvPicPr>
          <p:cNvPr id="9" name="Picture 8" descr="A screen shot of a computer code&#10;&#10;AI-generated content may be incorrect.">
            <a:extLst>
              <a:ext uri="{FF2B5EF4-FFF2-40B4-BE49-F238E27FC236}">
                <a16:creationId xmlns:a16="http://schemas.microsoft.com/office/drawing/2014/main" id="{BF05F04B-3AB2-21F6-9EEA-D0ED59C5AA1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7438" y="662557"/>
            <a:ext cx="8609123" cy="4640452"/>
          </a:xfrm>
          <a:prstGeom prst="rect">
            <a:avLst/>
          </a:prstGeom>
        </p:spPr>
      </p:pic>
    </p:spTree>
    <p:extLst>
      <p:ext uri="{BB962C8B-B14F-4D97-AF65-F5344CB8AC3E}">
        <p14:creationId xmlns:p14="http://schemas.microsoft.com/office/powerpoint/2010/main" val="69437540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5" name="Picture 4" descr="A computer screen shot of a program code&#10;&#10;AI-generated content may be incorrect.">
            <a:extLst>
              <a:ext uri="{FF2B5EF4-FFF2-40B4-BE49-F238E27FC236}">
                <a16:creationId xmlns:a16="http://schemas.microsoft.com/office/drawing/2014/main" id="{7C2FE5F3-9744-1B46-EFC1-D81253BA41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707" y="412814"/>
            <a:ext cx="6818586" cy="5143500"/>
          </a:xfrm>
          <a:prstGeom prst="rect">
            <a:avLst/>
          </a:prstGeom>
        </p:spPr>
      </p:pic>
      <p:sp>
        <p:nvSpPr>
          <p:cNvPr id="123" name="Shape 1"/>
          <p:cNvSpPr/>
          <p:nvPr/>
        </p:nvSpPr>
        <p:spPr>
          <a:xfrm>
            <a:off x="0" y="881062"/>
            <a:ext cx="9144000" cy="1"/>
          </a:xfrm>
          <a:prstGeom prst="line">
            <a:avLst/>
          </a:prstGeom>
          <a:ln w="12700">
            <a:solidFill>
              <a:srgbClr val="D2D2FF">
                <a:alpha val="20000"/>
              </a:srgbClr>
            </a:solidFill>
          </a:ln>
        </p:spPr>
        <p:txBody>
          <a:bodyPr lIns="45719" rIns="45719"/>
          <a:lstStyle/>
          <a:p>
            <a:endParaRPr/>
          </a:p>
        </p:txBody>
      </p:sp>
      <p:pic>
        <p:nvPicPr>
          <p:cNvPr id="124" name="Image 1" descr="Image 1"/>
          <p:cNvPicPr>
            <a:picLocks noChangeAspect="1"/>
          </p:cNvPicPr>
          <p:nvPr/>
        </p:nvPicPr>
        <p:blipFill>
          <a:blip r:embed="rId4"/>
          <a:stretch>
            <a:fillRect/>
          </a:stretch>
        </p:blipFill>
        <p:spPr>
          <a:xfrm>
            <a:off x="8831842" y="209550"/>
            <a:ext cx="120477" cy="107273"/>
          </a:xfrm>
          <a:prstGeom prst="rect">
            <a:avLst/>
          </a:prstGeom>
          <a:ln w="12700">
            <a:miter lim="400000"/>
          </a:ln>
        </p:spPr>
      </p:pic>
      <p:pic>
        <p:nvPicPr>
          <p:cNvPr id="125" name="Image 2" descr="Image 2"/>
          <p:cNvPicPr>
            <a:picLocks noChangeAspect="1"/>
          </p:cNvPicPr>
          <p:nvPr/>
        </p:nvPicPr>
        <p:blipFill>
          <a:blip r:embed="rId5"/>
          <a:stretch>
            <a:fillRect/>
          </a:stretch>
        </p:blipFill>
        <p:spPr>
          <a:xfrm>
            <a:off x="8776720" y="209550"/>
            <a:ext cx="120477" cy="107273"/>
          </a:xfrm>
          <a:prstGeom prst="rect">
            <a:avLst/>
          </a:prstGeom>
          <a:ln w="12700">
            <a:miter lim="400000"/>
          </a:ln>
        </p:spPr>
      </p:pic>
      <p:pic>
        <p:nvPicPr>
          <p:cNvPr id="126" name="Image 3" descr="Image 3"/>
          <p:cNvPicPr>
            <a:picLocks noChangeAspect="1"/>
          </p:cNvPicPr>
          <p:nvPr/>
        </p:nvPicPr>
        <p:blipFill>
          <a:blip r:embed="rId6"/>
          <a:stretch>
            <a:fillRect/>
          </a:stretch>
        </p:blipFill>
        <p:spPr>
          <a:xfrm>
            <a:off x="8721124" y="307298"/>
            <a:ext cx="120477" cy="105516"/>
          </a:xfrm>
          <a:prstGeom prst="rect">
            <a:avLst/>
          </a:prstGeom>
          <a:ln w="12700">
            <a:miter lim="400000"/>
          </a:ln>
        </p:spPr>
      </p:pic>
      <p:pic>
        <p:nvPicPr>
          <p:cNvPr id="127" name="Image 4" descr="Image 4"/>
          <p:cNvPicPr>
            <a:picLocks noChangeAspect="1"/>
          </p:cNvPicPr>
          <p:nvPr/>
        </p:nvPicPr>
        <p:blipFill>
          <a:blip r:embed="rId4"/>
          <a:stretch>
            <a:fillRect/>
          </a:stretch>
        </p:blipFill>
        <p:spPr>
          <a:xfrm>
            <a:off x="8721122" y="209550"/>
            <a:ext cx="120477" cy="107273"/>
          </a:xfrm>
          <a:prstGeom prst="rect">
            <a:avLst/>
          </a:prstGeom>
          <a:ln w="12700">
            <a:miter lim="400000"/>
          </a:ln>
        </p:spPr>
      </p:pic>
      <p:pic>
        <p:nvPicPr>
          <p:cNvPr id="128" name="Image 5" descr="Image 5"/>
          <p:cNvPicPr>
            <a:picLocks noChangeAspect="1"/>
          </p:cNvPicPr>
          <p:nvPr/>
        </p:nvPicPr>
        <p:blipFill>
          <a:blip r:embed="rId5"/>
          <a:stretch>
            <a:fillRect/>
          </a:stretch>
        </p:blipFill>
        <p:spPr>
          <a:xfrm>
            <a:off x="8722407" y="457535"/>
            <a:ext cx="120477" cy="107274"/>
          </a:xfrm>
          <a:prstGeom prst="rect">
            <a:avLst/>
          </a:prstGeom>
          <a:ln w="12700">
            <a:miter lim="400000"/>
          </a:ln>
        </p:spPr>
      </p:pic>
      <p:pic>
        <p:nvPicPr>
          <p:cNvPr id="129" name="Image 6" descr="Image 6"/>
          <p:cNvPicPr>
            <a:picLocks noChangeAspect="1"/>
          </p:cNvPicPr>
          <p:nvPr/>
        </p:nvPicPr>
        <p:blipFill>
          <a:blip r:embed="rId4"/>
          <a:stretch>
            <a:fillRect/>
          </a:stretch>
        </p:blipFill>
        <p:spPr>
          <a:xfrm>
            <a:off x="8777529" y="457535"/>
            <a:ext cx="120477" cy="107274"/>
          </a:xfrm>
          <a:prstGeom prst="rect">
            <a:avLst/>
          </a:prstGeom>
          <a:ln w="12700">
            <a:miter lim="400000"/>
          </a:ln>
        </p:spPr>
      </p:pic>
      <p:pic>
        <p:nvPicPr>
          <p:cNvPr id="130" name="Image 7" descr="Image 7"/>
          <p:cNvPicPr>
            <a:picLocks noChangeAspect="1"/>
          </p:cNvPicPr>
          <p:nvPr/>
        </p:nvPicPr>
        <p:blipFill>
          <a:blip r:embed="rId4"/>
          <a:stretch>
            <a:fillRect/>
          </a:stretch>
        </p:blipFill>
        <p:spPr>
          <a:xfrm>
            <a:off x="8833125" y="359787"/>
            <a:ext cx="120477" cy="107273"/>
          </a:xfrm>
          <a:prstGeom prst="rect">
            <a:avLst/>
          </a:prstGeom>
          <a:ln w="12700">
            <a:miter lim="400000"/>
          </a:ln>
        </p:spPr>
      </p:pic>
      <p:pic>
        <p:nvPicPr>
          <p:cNvPr id="131" name="Image 8" descr="Image 8"/>
          <p:cNvPicPr>
            <a:picLocks noChangeAspect="1"/>
          </p:cNvPicPr>
          <p:nvPr/>
        </p:nvPicPr>
        <p:blipFill>
          <a:blip r:embed="rId5"/>
          <a:stretch>
            <a:fillRect/>
          </a:stretch>
        </p:blipFill>
        <p:spPr>
          <a:xfrm>
            <a:off x="8833125" y="457535"/>
            <a:ext cx="120477" cy="107274"/>
          </a:xfrm>
          <a:prstGeom prst="rect">
            <a:avLst/>
          </a:prstGeom>
          <a:ln w="12700">
            <a:miter lim="400000"/>
          </a:ln>
        </p:spPr>
      </p:pic>
      <p:sp>
        <p:nvSpPr>
          <p:cNvPr id="132" name="Text 3"/>
          <p:cNvSpPr txBox="1"/>
          <p:nvPr/>
        </p:nvSpPr>
        <p:spPr>
          <a:xfrm>
            <a:off x="394550" y="409992"/>
            <a:ext cx="4640160" cy="3121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2600">
                <a:solidFill>
                  <a:srgbClr val="F8F8FF">
                    <a:alpha val="99000"/>
                  </a:srgbClr>
                </a:solidFill>
                <a:latin typeface="Overpass"/>
                <a:ea typeface="Overpass"/>
                <a:cs typeface="Overpass"/>
                <a:sym typeface="Overpass"/>
              </a:defRPr>
            </a:lvl1pPr>
          </a:lstStyle>
          <a:p>
            <a:r>
              <a:rPr sz="2800" dirty="0"/>
              <a:t>Multi-chain support</a:t>
            </a:r>
          </a:p>
        </p:txBody>
      </p:sp>
      <p:pic>
        <p:nvPicPr>
          <p:cNvPr id="133" name="optimism-ethereum-op-logo.png" descr="optimism-ethereum-op-logo.png"/>
          <p:cNvPicPr>
            <a:picLocks noChangeAspect="1"/>
          </p:cNvPicPr>
          <p:nvPr/>
        </p:nvPicPr>
        <p:blipFill>
          <a:blip r:embed="rId7"/>
          <a:stretch>
            <a:fillRect/>
          </a:stretch>
        </p:blipFill>
        <p:spPr>
          <a:xfrm>
            <a:off x="6680206" y="359787"/>
            <a:ext cx="1477836" cy="1477836"/>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sp>
        <p:nvSpPr>
          <p:cNvPr id="137" name="Shape 0"/>
          <p:cNvSpPr/>
          <p:nvPr/>
        </p:nvSpPr>
        <p:spPr>
          <a:xfrm>
            <a:off x="0" y="881063"/>
            <a:ext cx="9144000" cy="4262438"/>
          </a:xfrm>
          <a:prstGeom prst="rect">
            <a:avLst/>
          </a:prstGeom>
          <a:solidFill>
            <a:srgbClr val="1C1C5D"/>
          </a:solidFill>
          <a:ln w="12700">
            <a:miter lim="400000"/>
          </a:ln>
        </p:spPr>
        <p:txBody>
          <a:bodyPr lIns="45719" rIns="45719"/>
          <a:lstStyle/>
          <a:p>
            <a:endParaRPr/>
          </a:p>
        </p:txBody>
      </p:sp>
      <p:sp>
        <p:nvSpPr>
          <p:cNvPr id="138" name="Shape 1"/>
          <p:cNvSpPr/>
          <p:nvPr/>
        </p:nvSpPr>
        <p:spPr>
          <a:xfrm>
            <a:off x="0" y="881062"/>
            <a:ext cx="9144000" cy="1"/>
          </a:xfrm>
          <a:prstGeom prst="line">
            <a:avLst/>
          </a:prstGeom>
          <a:ln w="12700">
            <a:solidFill>
              <a:srgbClr val="D2D2FF">
                <a:alpha val="20000"/>
              </a:srgbClr>
            </a:solidFill>
          </a:ln>
        </p:spPr>
        <p:txBody>
          <a:bodyPr lIns="45719" rIns="45719"/>
          <a:lstStyle/>
          <a:p>
            <a:endParaRPr/>
          </a:p>
        </p:txBody>
      </p:sp>
      <p:pic>
        <p:nvPicPr>
          <p:cNvPr id="139" name="Image 1" descr="Image 1"/>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140" name="Image 2" descr="Image 2"/>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141" name="Image 3" descr="Image 3"/>
          <p:cNvPicPr>
            <a:picLocks noChangeAspect="1"/>
          </p:cNvPicPr>
          <p:nvPr/>
        </p:nvPicPr>
        <p:blipFill>
          <a:blip r:embed="rId5"/>
          <a:stretch>
            <a:fillRect/>
          </a:stretch>
        </p:blipFill>
        <p:spPr>
          <a:xfrm>
            <a:off x="8721124" y="307298"/>
            <a:ext cx="120477" cy="105516"/>
          </a:xfrm>
          <a:prstGeom prst="rect">
            <a:avLst/>
          </a:prstGeom>
          <a:ln w="12700">
            <a:miter lim="400000"/>
          </a:ln>
        </p:spPr>
      </p:pic>
      <p:pic>
        <p:nvPicPr>
          <p:cNvPr id="142" name="Image 4" descr="Image 4"/>
          <p:cNvPicPr>
            <a:picLocks noChangeAspect="1"/>
          </p:cNvPicPr>
          <p:nvPr/>
        </p:nvPicPr>
        <p:blipFill>
          <a:blip r:embed="rId3"/>
          <a:stretch>
            <a:fillRect/>
          </a:stretch>
        </p:blipFill>
        <p:spPr>
          <a:xfrm>
            <a:off x="8721122" y="209550"/>
            <a:ext cx="120477" cy="107273"/>
          </a:xfrm>
          <a:prstGeom prst="rect">
            <a:avLst/>
          </a:prstGeom>
          <a:ln w="12700">
            <a:miter lim="400000"/>
          </a:ln>
        </p:spPr>
      </p:pic>
      <p:pic>
        <p:nvPicPr>
          <p:cNvPr id="143" name="Image 5" descr="Image 5"/>
          <p:cNvPicPr>
            <a:picLocks noChangeAspect="1"/>
          </p:cNvPicPr>
          <p:nvPr/>
        </p:nvPicPr>
        <p:blipFill>
          <a:blip r:embed="rId4"/>
          <a:stretch>
            <a:fillRect/>
          </a:stretch>
        </p:blipFill>
        <p:spPr>
          <a:xfrm>
            <a:off x="8722407" y="457535"/>
            <a:ext cx="120477" cy="107274"/>
          </a:xfrm>
          <a:prstGeom prst="rect">
            <a:avLst/>
          </a:prstGeom>
          <a:ln w="12700">
            <a:miter lim="400000"/>
          </a:ln>
        </p:spPr>
      </p:pic>
      <p:pic>
        <p:nvPicPr>
          <p:cNvPr id="144" name="Image 6" descr="Image 6"/>
          <p:cNvPicPr>
            <a:picLocks noChangeAspect="1"/>
          </p:cNvPicPr>
          <p:nvPr/>
        </p:nvPicPr>
        <p:blipFill>
          <a:blip r:embed="rId3"/>
          <a:stretch>
            <a:fillRect/>
          </a:stretch>
        </p:blipFill>
        <p:spPr>
          <a:xfrm>
            <a:off x="8777529" y="457535"/>
            <a:ext cx="120477" cy="107274"/>
          </a:xfrm>
          <a:prstGeom prst="rect">
            <a:avLst/>
          </a:prstGeom>
          <a:ln w="12700">
            <a:miter lim="400000"/>
          </a:ln>
        </p:spPr>
      </p:pic>
      <p:pic>
        <p:nvPicPr>
          <p:cNvPr id="145" name="Image 7" descr="Image 7"/>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146" name="Image 8" descr="Image 8"/>
          <p:cNvPicPr>
            <a:picLocks noChangeAspect="1"/>
          </p:cNvPicPr>
          <p:nvPr/>
        </p:nvPicPr>
        <p:blipFill>
          <a:blip r:embed="rId4"/>
          <a:stretch>
            <a:fillRect/>
          </a:stretch>
        </p:blipFill>
        <p:spPr>
          <a:xfrm>
            <a:off x="8833125" y="457535"/>
            <a:ext cx="120477" cy="107274"/>
          </a:xfrm>
          <a:prstGeom prst="rect">
            <a:avLst/>
          </a:prstGeom>
          <a:ln w="12700">
            <a:miter lim="400000"/>
          </a:ln>
        </p:spPr>
      </p:pic>
      <p:sp>
        <p:nvSpPr>
          <p:cNvPr id="147" name="Text 3"/>
          <p:cNvSpPr txBox="1"/>
          <p:nvPr/>
        </p:nvSpPr>
        <p:spPr>
          <a:xfrm>
            <a:off x="396160" y="198707"/>
            <a:ext cx="5398998" cy="5232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ctr">
            <a:spAutoFit/>
          </a:bodyPr>
          <a:lstStyle>
            <a:lvl1pPr>
              <a:defRPr sz="3200">
                <a:solidFill>
                  <a:srgbClr val="F8F8FF">
                    <a:alpha val="99000"/>
                  </a:srgbClr>
                </a:solidFill>
                <a:latin typeface="Overpass"/>
                <a:ea typeface="Overpass"/>
                <a:cs typeface="Overpass"/>
                <a:sym typeface="Overpass"/>
              </a:defRPr>
            </a:lvl1pPr>
          </a:lstStyle>
          <a:p>
            <a:r>
              <a:rPr lang="en-GB" sz="2800" dirty="0"/>
              <a:t>Simultaneous network connections</a:t>
            </a:r>
            <a:endParaRPr sz="2800" dirty="0"/>
          </a:p>
        </p:txBody>
      </p:sp>
      <p:pic>
        <p:nvPicPr>
          <p:cNvPr id="5" name="Picture 4" descr="A screen shot of a computer program&#10;&#10;AI-generated content may be incorrect.">
            <a:extLst>
              <a:ext uri="{FF2B5EF4-FFF2-40B4-BE49-F238E27FC236}">
                <a16:creationId xmlns:a16="http://schemas.microsoft.com/office/drawing/2014/main" id="{6D8F1B2F-DABC-723F-005F-32381B9D66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9609" y="440532"/>
            <a:ext cx="7364781" cy="5143500"/>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sp>
        <p:nvSpPr>
          <p:cNvPr id="152" name="Shape 0"/>
          <p:cNvSpPr/>
          <p:nvPr/>
        </p:nvSpPr>
        <p:spPr>
          <a:xfrm>
            <a:off x="0" y="881063"/>
            <a:ext cx="9144000" cy="4262438"/>
          </a:xfrm>
          <a:prstGeom prst="rect">
            <a:avLst/>
          </a:prstGeom>
          <a:solidFill>
            <a:srgbClr val="1C1C5D"/>
          </a:solidFill>
          <a:ln w="12700">
            <a:miter lim="400000"/>
          </a:ln>
        </p:spPr>
        <p:txBody>
          <a:bodyPr lIns="45719" rIns="45719"/>
          <a:lstStyle/>
          <a:p>
            <a:endParaRPr/>
          </a:p>
        </p:txBody>
      </p:sp>
      <p:sp>
        <p:nvSpPr>
          <p:cNvPr id="153" name="Shape 1"/>
          <p:cNvSpPr/>
          <p:nvPr/>
        </p:nvSpPr>
        <p:spPr>
          <a:xfrm>
            <a:off x="0" y="881062"/>
            <a:ext cx="9144000" cy="1"/>
          </a:xfrm>
          <a:prstGeom prst="line">
            <a:avLst/>
          </a:prstGeom>
          <a:ln w="12700">
            <a:solidFill>
              <a:srgbClr val="D2D2FF">
                <a:alpha val="20000"/>
              </a:srgbClr>
            </a:solidFill>
          </a:ln>
        </p:spPr>
        <p:txBody>
          <a:bodyPr lIns="45719" rIns="45719"/>
          <a:lstStyle/>
          <a:p>
            <a:endParaRPr/>
          </a:p>
        </p:txBody>
      </p:sp>
      <p:pic>
        <p:nvPicPr>
          <p:cNvPr id="154" name="Image 0" descr="Image 0"/>
          <p:cNvPicPr>
            <a:picLocks noChangeAspect="1"/>
          </p:cNvPicPr>
          <p:nvPr/>
        </p:nvPicPr>
        <p:blipFill>
          <a:blip r:embed="rId3"/>
          <a:stretch>
            <a:fillRect/>
          </a:stretch>
        </p:blipFill>
        <p:spPr>
          <a:xfrm>
            <a:off x="3681412" y="1681163"/>
            <a:ext cx="1781176" cy="1781176"/>
          </a:xfrm>
          <a:prstGeom prst="rect">
            <a:avLst/>
          </a:prstGeom>
          <a:ln w="12700">
            <a:miter lim="400000"/>
          </a:ln>
        </p:spPr>
      </p:pic>
      <p:pic>
        <p:nvPicPr>
          <p:cNvPr id="155" name="Image 1" descr="Image 1"/>
          <p:cNvPicPr>
            <a:picLocks noChangeAspect="1"/>
          </p:cNvPicPr>
          <p:nvPr/>
        </p:nvPicPr>
        <p:blipFill>
          <a:blip r:embed="rId4"/>
          <a:stretch>
            <a:fillRect/>
          </a:stretch>
        </p:blipFill>
        <p:spPr>
          <a:xfrm>
            <a:off x="8831842" y="209550"/>
            <a:ext cx="120477" cy="107273"/>
          </a:xfrm>
          <a:prstGeom prst="rect">
            <a:avLst/>
          </a:prstGeom>
          <a:ln w="12700">
            <a:miter lim="400000"/>
          </a:ln>
        </p:spPr>
      </p:pic>
      <p:pic>
        <p:nvPicPr>
          <p:cNvPr id="156" name="Image 2" descr="Image 2"/>
          <p:cNvPicPr>
            <a:picLocks noChangeAspect="1"/>
          </p:cNvPicPr>
          <p:nvPr/>
        </p:nvPicPr>
        <p:blipFill>
          <a:blip r:embed="rId5"/>
          <a:stretch>
            <a:fillRect/>
          </a:stretch>
        </p:blipFill>
        <p:spPr>
          <a:xfrm>
            <a:off x="8776720" y="209550"/>
            <a:ext cx="120477" cy="107273"/>
          </a:xfrm>
          <a:prstGeom prst="rect">
            <a:avLst/>
          </a:prstGeom>
          <a:ln w="12700">
            <a:miter lim="400000"/>
          </a:ln>
        </p:spPr>
      </p:pic>
      <p:pic>
        <p:nvPicPr>
          <p:cNvPr id="157" name="Image 3" descr="Image 3"/>
          <p:cNvPicPr>
            <a:picLocks noChangeAspect="1"/>
          </p:cNvPicPr>
          <p:nvPr/>
        </p:nvPicPr>
        <p:blipFill>
          <a:blip r:embed="rId6"/>
          <a:stretch>
            <a:fillRect/>
          </a:stretch>
        </p:blipFill>
        <p:spPr>
          <a:xfrm>
            <a:off x="8721124" y="307298"/>
            <a:ext cx="120477" cy="105516"/>
          </a:xfrm>
          <a:prstGeom prst="rect">
            <a:avLst/>
          </a:prstGeom>
          <a:ln w="12700">
            <a:miter lim="400000"/>
          </a:ln>
        </p:spPr>
      </p:pic>
      <p:pic>
        <p:nvPicPr>
          <p:cNvPr id="158" name="Image 4" descr="Image 4"/>
          <p:cNvPicPr>
            <a:picLocks noChangeAspect="1"/>
          </p:cNvPicPr>
          <p:nvPr/>
        </p:nvPicPr>
        <p:blipFill>
          <a:blip r:embed="rId4"/>
          <a:stretch>
            <a:fillRect/>
          </a:stretch>
        </p:blipFill>
        <p:spPr>
          <a:xfrm>
            <a:off x="8721122" y="209550"/>
            <a:ext cx="120477" cy="107273"/>
          </a:xfrm>
          <a:prstGeom prst="rect">
            <a:avLst/>
          </a:prstGeom>
          <a:ln w="12700">
            <a:miter lim="400000"/>
          </a:ln>
        </p:spPr>
      </p:pic>
      <p:pic>
        <p:nvPicPr>
          <p:cNvPr id="159" name="Image 5" descr="Image 5"/>
          <p:cNvPicPr>
            <a:picLocks noChangeAspect="1"/>
          </p:cNvPicPr>
          <p:nvPr/>
        </p:nvPicPr>
        <p:blipFill>
          <a:blip r:embed="rId5"/>
          <a:stretch>
            <a:fillRect/>
          </a:stretch>
        </p:blipFill>
        <p:spPr>
          <a:xfrm>
            <a:off x="8722407" y="457535"/>
            <a:ext cx="120477" cy="107274"/>
          </a:xfrm>
          <a:prstGeom prst="rect">
            <a:avLst/>
          </a:prstGeom>
          <a:ln w="12700">
            <a:miter lim="400000"/>
          </a:ln>
        </p:spPr>
      </p:pic>
      <p:pic>
        <p:nvPicPr>
          <p:cNvPr id="160" name="Image 6" descr="Image 6"/>
          <p:cNvPicPr>
            <a:picLocks noChangeAspect="1"/>
          </p:cNvPicPr>
          <p:nvPr/>
        </p:nvPicPr>
        <p:blipFill>
          <a:blip r:embed="rId4"/>
          <a:stretch>
            <a:fillRect/>
          </a:stretch>
        </p:blipFill>
        <p:spPr>
          <a:xfrm>
            <a:off x="8777529" y="457535"/>
            <a:ext cx="120477" cy="107274"/>
          </a:xfrm>
          <a:prstGeom prst="rect">
            <a:avLst/>
          </a:prstGeom>
          <a:ln w="12700">
            <a:miter lim="400000"/>
          </a:ln>
        </p:spPr>
      </p:pic>
      <p:pic>
        <p:nvPicPr>
          <p:cNvPr id="161" name="Image 7" descr="Image 7"/>
          <p:cNvPicPr>
            <a:picLocks noChangeAspect="1"/>
          </p:cNvPicPr>
          <p:nvPr/>
        </p:nvPicPr>
        <p:blipFill>
          <a:blip r:embed="rId4"/>
          <a:stretch>
            <a:fillRect/>
          </a:stretch>
        </p:blipFill>
        <p:spPr>
          <a:xfrm>
            <a:off x="8833125" y="359787"/>
            <a:ext cx="120477" cy="107273"/>
          </a:xfrm>
          <a:prstGeom prst="rect">
            <a:avLst/>
          </a:prstGeom>
          <a:ln w="12700">
            <a:miter lim="400000"/>
          </a:ln>
        </p:spPr>
      </p:pic>
      <p:pic>
        <p:nvPicPr>
          <p:cNvPr id="162" name="Image 8" descr="Image 8"/>
          <p:cNvPicPr>
            <a:picLocks noChangeAspect="1"/>
          </p:cNvPicPr>
          <p:nvPr/>
        </p:nvPicPr>
        <p:blipFill>
          <a:blip r:embed="rId5"/>
          <a:stretch>
            <a:fillRect/>
          </a:stretch>
        </p:blipFill>
        <p:spPr>
          <a:xfrm>
            <a:off x="8833125" y="457535"/>
            <a:ext cx="120477" cy="107274"/>
          </a:xfrm>
          <a:prstGeom prst="rect">
            <a:avLst/>
          </a:prstGeom>
          <a:ln w="12700">
            <a:miter lim="400000"/>
          </a:ln>
        </p:spPr>
      </p:pic>
      <p:sp>
        <p:nvSpPr>
          <p:cNvPr id="163" name="Text 3"/>
          <p:cNvSpPr txBox="1"/>
          <p:nvPr/>
        </p:nvSpPr>
        <p:spPr>
          <a:xfrm>
            <a:off x="391342" y="403282"/>
            <a:ext cx="2304824" cy="3121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2200">
                <a:solidFill>
                  <a:srgbClr val="F8F8FF">
                    <a:alpha val="99000"/>
                  </a:srgbClr>
                </a:solidFill>
                <a:latin typeface="Overpass"/>
                <a:ea typeface="Overpass"/>
                <a:cs typeface="Overpass"/>
                <a:sym typeface="Overpass"/>
              </a:defRPr>
            </a:lvl1pPr>
          </a:lstStyle>
          <a:p>
            <a:r>
              <a:rPr sz="2800" dirty="0"/>
              <a:t>Deployment</a:t>
            </a:r>
          </a:p>
        </p:txBody>
      </p:sp>
      <p:pic>
        <p:nvPicPr>
          <p:cNvPr id="3" name="Picture 2" descr="A silver and purple rocket&#10;&#10;AI-generated content may be incorrect.">
            <a:extLst>
              <a:ext uri="{FF2B5EF4-FFF2-40B4-BE49-F238E27FC236}">
                <a16:creationId xmlns:a16="http://schemas.microsoft.com/office/drawing/2014/main" id="{543E45C4-8A2D-D8B9-230D-F83F1A6431D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4039" y="887804"/>
            <a:ext cx="9472078" cy="4262435"/>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sp>
        <p:nvSpPr>
          <p:cNvPr id="169" name="Shape 1"/>
          <p:cNvSpPr/>
          <p:nvPr/>
        </p:nvSpPr>
        <p:spPr>
          <a:xfrm>
            <a:off x="0" y="881062"/>
            <a:ext cx="9144000" cy="1"/>
          </a:xfrm>
          <a:prstGeom prst="line">
            <a:avLst/>
          </a:prstGeom>
          <a:ln w="12700">
            <a:solidFill>
              <a:srgbClr val="D2D2FF">
                <a:alpha val="20000"/>
              </a:srgbClr>
            </a:solidFill>
          </a:ln>
        </p:spPr>
        <p:txBody>
          <a:bodyPr lIns="45719" rIns="45719"/>
          <a:lstStyle/>
          <a:p>
            <a:endParaRPr/>
          </a:p>
        </p:txBody>
      </p:sp>
      <p:pic>
        <p:nvPicPr>
          <p:cNvPr id="170" name="Image 1" descr="Image 1"/>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171" name="Image 2" descr="Image 2"/>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172" name="Image 3" descr="Image 3"/>
          <p:cNvPicPr>
            <a:picLocks noChangeAspect="1"/>
          </p:cNvPicPr>
          <p:nvPr/>
        </p:nvPicPr>
        <p:blipFill>
          <a:blip r:embed="rId5"/>
          <a:stretch>
            <a:fillRect/>
          </a:stretch>
        </p:blipFill>
        <p:spPr>
          <a:xfrm>
            <a:off x="8721124" y="307298"/>
            <a:ext cx="120477" cy="105516"/>
          </a:xfrm>
          <a:prstGeom prst="rect">
            <a:avLst/>
          </a:prstGeom>
          <a:ln w="12700">
            <a:miter lim="400000"/>
          </a:ln>
        </p:spPr>
      </p:pic>
      <p:pic>
        <p:nvPicPr>
          <p:cNvPr id="173" name="Image 4" descr="Image 4"/>
          <p:cNvPicPr>
            <a:picLocks noChangeAspect="1"/>
          </p:cNvPicPr>
          <p:nvPr/>
        </p:nvPicPr>
        <p:blipFill>
          <a:blip r:embed="rId3"/>
          <a:stretch>
            <a:fillRect/>
          </a:stretch>
        </p:blipFill>
        <p:spPr>
          <a:xfrm>
            <a:off x="8721122" y="209550"/>
            <a:ext cx="120477" cy="107273"/>
          </a:xfrm>
          <a:prstGeom prst="rect">
            <a:avLst/>
          </a:prstGeom>
          <a:ln w="12700">
            <a:miter lim="400000"/>
          </a:ln>
        </p:spPr>
      </p:pic>
      <p:pic>
        <p:nvPicPr>
          <p:cNvPr id="174" name="Image 5" descr="Image 5"/>
          <p:cNvPicPr>
            <a:picLocks noChangeAspect="1"/>
          </p:cNvPicPr>
          <p:nvPr/>
        </p:nvPicPr>
        <p:blipFill>
          <a:blip r:embed="rId4"/>
          <a:stretch>
            <a:fillRect/>
          </a:stretch>
        </p:blipFill>
        <p:spPr>
          <a:xfrm>
            <a:off x="8722407" y="457535"/>
            <a:ext cx="120477" cy="107274"/>
          </a:xfrm>
          <a:prstGeom prst="rect">
            <a:avLst/>
          </a:prstGeom>
          <a:ln w="12700">
            <a:miter lim="400000"/>
          </a:ln>
        </p:spPr>
      </p:pic>
      <p:pic>
        <p:nvPicPr>
          <p:cNvPr id="175" name="Image 6" descr="Image 6"/>
          <p:cNvPicPr>
            <a:picLocks noChangeAspect="1"/>
          </p:cNvPicPr>
          <p:nvPr/>
        </p:nvPicPr>
        <p:blipFill>
          <a:blip r:embed="rId3"/>
          <a:stretch>
            <a:fillRect/>
          </a:stretch>
        </p:blipFill>
        <p:spPr>
          <a:xfrm>
            <a:off x="8777529" y="457535"/>
            <a:ext cx="120477" cy="107274"/>
          </a:xfrm>
          <a:prstGeom prst="rect">
            <a:avLst/>
          </a:prstGeom>
          <a:ln w="12700">
            <a:miter lim="400000"/>
          </a:ln>
        </p:spPr>
      </p:pic>
      <p:pic>
        <p:nvPicPr>
          <p:cNvPr id="176" name="Image 7" descr="Image 7"/>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177" name="Image 8" descr="Image 8"/>
          <p:cNvPicPr>
            <a:picLocks noChangeAspect="1"/>
          </p:cNvPicPr>
          <p:nvPr/>
        </p:nvPicPr>
        <p:blipFill>
          <a:blip r:embed="rId4"/>
          <a:stretch>
            <a:fillRect/>
          </a:stretch>
        </p:blipFill>
        <p:spPr>
          <a:xfrm>
            <a:off x="8833125" y="457535"/>
            <a:ext cx="120477" cy="107274"/>
          </a:xfrm>
          <a:prstGeom prst="rect">
            <a:avLst/>
          </a:prstGeom>
          <a:ln w="12700">
            <a:miter lim="400000"/>
          </a:ln>
        </p:spPr>
      </p:pic>
      <p:sp>
        <p:nvSpPr>
          <p:cNvPr id="178" name="Text 3"/>
          <p:cNvSpPr txBox="1"/>
          <p:nvPr/>
        </p:nvSpPr>
        <p:spPr>
          <a:xfrm>
            <a:off x="403215" y="141266"/>
            <a:ext cx="3157329" cy="574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ct val="120000"/>
              </a:lnSpc>
              <a:defRPr sz="2500">
                <a:solidFill>
                  <a:srgbClr val="F8F8FF">
                    <a:alpha val="99000"/>
                  </a:srgbClr>
                </a:solidFill>
                <a:latin typeface="Overpass"/>
                <a:ea typeface="Overpass"/>
                <a:cs typeface="Overpass"/>
                <a:sym typeface="Overpass"/>
              </a:defRPr>
            </a:lvl1pPr>
          </a:lstStyle>
          <a:p>
            <a:r>
              <a:rPr sz="2800" dirty="0"/>
              <a:t>Ignition Module</a:t>
            </a:r>
          </a:p>
        </p:txBody>
      </p:sp>
      <p:pic>
        <p:nvPicPr>
          <p:cNvPr id="3" name="Picture 2" descr="A screen shot of a computer code&#10;&#10;AI-generated content may be incorrect.">
            <a:extLst>
              <a:ext uri="{FF2B5EF4-FFF2-40B4-BE49-F238E27FC236}">
                <a16:creationId xmlns:a16="http://schemas.microsoft.com/office/drawing/2014/main" id="{A82F496D-89F4-58D7-6F5E-E7AF2053282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881062"/>
            <a:ext cx="9144000" cy="4178710"/>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182" name="Image 0" descr="Image 0"/>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183" name="Image 1" descr="Image 1"/>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184" name="Image 2" descr="Image 2"/>
          <p:cNvPicPr>
            <a:picLocks noChangeAspect="1"/>
          </p:cNvPicPr>
          <p:nvPr/>
        </p:nvPicPr>
        <p:blipFill>
          <a:blip r:embed="rId5"/>
          <a:stretch>
            <a:fillRect/>
          </a:stretch>
        </p:blipFill>
        <p:spPr>
          <a:xfrm>
            <a:off x="8721128" y="307298"/>
            <a:ext cx="120477" cy="105516"/>
          </a:xfrm>
          <a:prstGeom prst="rect">
            <a:avLst/>
          </a:prstGeom>
          <a:ln w="12700">
            <a:miter lim="400000"/>
          </a:ln>
        </p:spPr>
      </p:pic>
      <p:pic>
        <p:nvPicPr>
          <p:cNvPr id="185" name="Image 3" descr="Image 3"/>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186" name="Image 4" descr="Image 4"/>
          <p:cNvPicPr>
            <a:picLocks noChangeAspect="1"/>
          </p:cNvPicPr>
          <p:nvPr/>
        </p:nvPicPr>
        <p:blipFill>
          <a:blip r:embed="rId4"/>
          <a:stretch>
            <a:fillRect/>
          </a:stretch>
        </p:blipFill>
        <p:spPr>
          <a:xfrm>
            <a:off x="8722417" y="457535"/>
            <a:ext cx="120477" cy="107274"/>
          </a:xfrm>
          <a:prstGeom prst="rect">
            <a:avLst/>
          </a:prstGeom>
          <a:ln w="12700">
            <a:miter lim="400000"/>
          </a:ln>
        </p:spPr>
      </p:pic>
      <p:pic>
        <p:nvPicPr>
          <p:cNvPr id="187" name="Image 5" descr="Image 5"/>
          <p:cNvPicPr>
            <a:picLocks noChangeAspect="1"/>
          </p:cNvPicPr>
          <p:nvPr/>
        </p:nvPicPr>
        <p:blipFill>
          <a:blip r:embed="rId3"/>
          <a:stretch>
            <a:fillRect/>
          </a:stretch>
        </p:blipFill>
        <p:spPr>
          <a:xfrm>
            <a:off x="8777538" y="457535"/>
            <a:ext cx="120477" cy="107274"/>
          </a:xfrm>
          <a:prstGeom prst="rect">
            <a:avLst/>
          </a:prstGeom>
          <a:ln w="12700">
            <a:miter lim="400000"/>
          </a:ln>
        </p:spPr>
      </p:pic>
      <p:pic>
        <p:nvPicPr>
          <p:cNvPr id="188" name="Image 6" descr="Image 6"/>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189" name="Image 7" descr="Image 7"/>
          <p:cNvPicPr>
            <a:picLocks noChangeAspect="1"/>
          </p:cNvPicPr>
          <p:nvPr/>
        </p:nvPicPr>
        <p:blipFill>
          <a:blip r:embed="rId4"/>
          <a:stretch>
            <a:fillRect/>
          </a:stretch>
        </p:blipFill>
        <p:spPr>
          <a:xfrm>
            <a:off x="8833131" y="457535"/>
            <a:ext cx="120477" cy="107274"/>
          </a:xfrm>
          <a:prstGeom prst="rect">
            <a:avLst/>
          </a:prstGeom>
          <a:ln w="12700">
            <a:miter lim="400000"/>
          </a:ln>
        </p:spPr>
      </p:pic>
      <p:sp>
        <p:nvSpPr>
          <p:cNvPr id="190" name="Text 4"/>
          <p:cNvSpPr txBox="1"/>
          <p:nvPr/>
        </p:nvSpPr>
        <p:spPr>
          <a:xfrm>
            <a:off x="521969" y="337980"/>
            <a:ext cx="3794761"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r>
              <a:t>Batteries included</a:t>
            </a:r>
          </a:p>
        </p:txBody>
      </p:sp>
      <p:sp>
        <p:nvSpPr>
          <p:cNvPr id="191" name="Text 5"/>
          <p:cNvSpPr txBox="1"/>
          <p:nvPr/>
        </p:nvSpPr>
        <p:spPr>
          <a:xfrm>
            <a:off x="510736" y="616405"/>
            <a:ext cx="3985261" cy="4898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3100"/>
              </a:lnSpc>
              <a:defRPr sz="2400" spc="-52">
                <a:solidFill>
                  <a:srgbClr val="FFFFFF">
                    <a:alpha val="99000"/>
                  </a:srgbClr>
                </a:solidFill>
                <a:latin typeface="Overpass Mono"/>
                <a:ea typeface="Overpass Mono"/>
                <a:cs typeface="Overpass Mono"/>
                <a:sym typeface="Overpass Mono"/>
              </a:defRPr>
            </a:lvl1pPr>
          </a:lstStyle>
          <a:p>
            <a:r>
              <a:rPr sz="2800" dirty="0"/>
              <a:t>Code Coverage</a:t>
            </a:r>
          </a:p>
        </p:txBody>
      </p:sp>
      <p:pic>
        <p:nvPicPr>
          <p:cNvPr id="3" name="Picture 2" descr="A screenshot of a computer&#10;&#10;AI-generated content may be incorrect.">
            <a:extLst>
              <a:ext uri="{FF2B5EF4-FFF2-40B4-BE49-F238E27FC236}">
                <a16:creationId xmlns:a16="http://schemas.microsoft.com/office/drawing/2014/main" id="{00C482B6-E78F-94B6-C7F8-73213C99BB1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1087722"/>
            <a:ext cx="9144000" cy="3225101"/>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a:extLst>
            <a:ext uri="{FF2B5EF4-FFF2-40B4-BE49-F238E27FC236}">
              <a16:creationId xmlns:a16="http://schemas.microsoft.com/office/drawing/2014/main" id="{034CA37B-A5C4-8648-3D4E-488E2F35B29E}"/>
            </a:ext>
          </a:extLst>
        </p:cNvPr>
        <p:cNvGrpSpPr/>
        <p:nvPr/>
      </p:nvGrpSpPr>
      <p:grpSpPr>
        <a:xfrm>
          <a:off x="0" y="0"/>
          <a:ext cx="0" cy="0"/>
          <a:chOff x="0" y="0"/>
          <a:chExt cx="0" cy="0"/>
        </a:xfrm>
      </p:grpSpPr>
      <p:pic>
        <p:nvPicPr>
          <p:cNvPr id="182" name="Image 0" descr="Image 0">
            <a:extLst>
              <a:ext uri="{FF2B5EF4-FFF2-40B4-BE49-F238E27FC236}">
                <a16:creationId xmlns:a16="http://schemas.microsoft.com/office/drawing/2014/main" id="{E1AFB39A-8459-CD6F-5CA0-299A697D0B47}"/>
              </a:ext>
            </a:extLst>
          </p:cNvPr>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183" name="Image 1" descr="Image 1">
            <a:extLst>
              <a:ext uri="{FF2B5EF4-FFF2-40B4-BE49-F238E27FC236}">
                <a16:creationId xmlns:a16="http://schemas.microsoft.com/office/drawing/2014/main" id="{F2483C8B-5D35-85FE-9EB8-6C70394FA4CB}"/>
              </a:ext>
            </a:extLst>
          </p:cNvPr>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184" name="Image 2" descr="Image 2">
            <a:extLst>
              <a:ext uri="{FF2B5EF4-FFF2-40B4-BE49-F238E27FC236}">
                <a16:creationId xmlns:a16="http://schemas.microsoft.com/office/drawing/2014/main" id="{E552493B-8C86-F1DC-AC81-C37ACDE95223}"/>
              </a:ext>
            </a:extLst>
          </p:cNvPr>
          <p:cNvPicPr>
            <a:picLocks noChangeAspect="1"/>
          </p:cNvPicPr>
          <p:nvPr/>
        </p:nvPicPr>
        <p:blipFill>
          <a:blip r:embed="rId5"/>
          <a:stretch>
            <a:fillRect/>
          </a:stretch>
        </p:blipFill>
        <p:spPr>
          <a:xfrm>
            <a:off x="8721128" y="307298"/>
            <a:ext cx="120477" cy="105516"/>
          </a:xfrm>
          <a:prstGeom prst="rect">
            <a:avLst/>
          </a:prstGeom>
          <a:ln w="12700">
            <a:miter lim="400000"/>
          </a:ln>
        </p:spPr>
      </p:pic>
      <p:pic>
        <p:nvPicPr>
          <p:cNvPr id="185" name="Image 3" descr="Image 3">
            <a:extLst>
              <a:ext uri="{FF2B5EF4-FFF2-40B4-BE49-F238E27FC236}">
                <a16:creationId xmlns:a16="http://schemas.microsoft.com/office/drawing/2014/main" id="{B4A8546F-B933-8979-3A71-D0042B204B58}"/>
              </a:ext>
            </a:extLst>
          </p:cNvPr>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186" name="Image 4" descr="Image 4">
            <a:extLst>
              <a:ext uri="{FF2B5EF4-FFF2-40B4-BE49-F238E27FC236}">
                <a16:creationId xmlns:a16="http://schemas.microsoft.com/office/drawing/2014/main" id="{CE8295F4-FA22-2B50-1A86-D5C1ECC8F5FE}"/>
              </a:ext>
            </a:extLst>
          </p:cNvPr>
          <p:cNvPicPr>
            <a:picLocks noChangeAspect="1"/>
          </p:cNvPicPr>
          <p:nvPr/>
        </p:nvPicPr>
        <p:blipFill>
          <a:blip r:embed="rId4"/>
          <a:stretch>
            <a:fillRect/>
          </a:stretch>
        </p:blipFill>
        <p:spPr>
          <a:xfrm>
            <a:off x="8722417" y="457535"/>
            <a:ext cx="120477" cy="107274"/>
          </a:xfrm>
          <a:prstGeom prst="rect">
            <a:avLst/>
          </a:prstGeom>
          <a:ln w="12700">
            <a:miter lim="400000"/>
          </a:ln>
        </p:spPr>
      </p:pic>
      <p:pic>
        <p:nvPicPr>
          <p:cNvPr id="187" name="Image 5" descr="Image 5">
            <a:extLst>
              <a:ext uri="{FF2B5EF4-FFF2-40B4-BE49-F238E27FC236}">
                <a16:creationId xmlns:a16="http://schemas.microsoft.com/office/drawing/2014/main" id="{07D1AF19-4568-3758-06BB-2E9C07B3932C}"/>
              </a:ext>
            </a:extLst>
          </p:cNvPr>
          <p:cNvPicPr>
            <a:picLocks noChangeAspect="1"/>
          </p:cNvPicPr>
          <p:nvPr/>
        </p:nvPicPr>
        <p:blipFill>
          <a:blip r:embed="rId3"/>
          <a:stretch>
            <a:fillRect/>
          </a:stretch>
        </p:blipFill>
        <p:spPr>
          <a:xfrm>
            <a:off x="8777538" y="457535"/>
            <a:ext cx="120477" cy="107274"/>
          </a:xfrm>
          <a:prstGeom prst="rect">
            <a:avLst/>
          </a:prstGeom>
          <a:ln w="12700">
            <a:miter lim="400000"/>
          </a:ln>
        </p:spPr>
      </p:pic>
      <p:pic>
        <p:nvPicPr>
          <p:cNvPr id="188" name="Image 6" descr="Image 6">
            <a:extLst>
              <a:ext uri="{FF2B5EF4-FFF2-40B4-BE49-F238E27FC236}">
                <a16:creationId xmlns:a16="http://schemas.microsoft.com/office/drawing/2014/main" id="{A21F8A57-D4FF-E9F9-739C-43FAFE143943}"/>
              </a:ext>
            </a:extLst>
          </p:cNvPr>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189" name="Image 7" descr="Image 7">
            <a:extLst>
              <a:ext uri="{FF2B5EF4-FFF2-40B4-BE49-F238E27FC236}">
                <a16:creationId xmlns:a16="http://schemas.microsoft.com/office/drawing/2014/main" id="{B5A5C212-732E-D5CA-5DE7-949FF00B8344}"/>
              </a:ext>
            </a:extLst>
          </p:cNvPr>
          <p:cNvPicPr>
            <a:picLocks noChangeAspect="1"/>
          </p:cNvPicPr>
          <p:nvPr/>
        </p:nvPicPr>
        <p:blipFill>
          <a:blip r:embed="rId4"/>
          <a:stretch>
            <a:fillRect/>
          </a:stretch>
        </p:blipFill>
        <p:spPr>
          <a:xfrm>
            <a:off x="8833131" y="457535"/>
            <a:ext cx="120477" cy="107274"/>
          </a:xfrm>
          <a:prstGeom prst="rect">
            <a:avLst/>
          </a:prstGeom>
          <a:ln w="12700">
            <a:miter lim="400000"/>
          </a:ln>
        </p:spPr>
      </p:pic>
      <p:sp>
        <p:nvSpPr>
          <p:cNvPr id="190" name="Text 4">
            <a:extLst>
              <a:ext uri="{FF2B5EF4-FFF2-40B4-BE49-F238E27FC236}">
                <a16:creationId xmlns:a16="http://schemas.microsoft.com/office/drawing/2014/main" id="{E91FF25B-40A3-0AFD-4881-24A113EDB80C}"/>
              </a:ext>
            </a:extLst>
          </p:cNvPr>
          <p:cNvSpPr txBox="1"/>
          <p:nvPr/>
        </p:nvSpPr>
        <p:spPr>
          <a:xfrm>
            <a:off x="521969" y="337980"/>
            <a:ext cx="3794761" cy="2527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r>
              <a:rPr dirty="0"/>
              <a:t>Batteries included</a:t>
            </a:r>
          </a:p>
        </p:txBody>
      </p:sp>
      <p:sp>
        <p:nvSpPr>
          <p:cNvPr id="191" name="Text 5">
            <a:extLst>
              <a:ext uri="{FF2B5EF4-FFF2-40B4-BE49-F238E27FC236}">
                <a16:creationId xmlns:a16="http://schemas.microsoft.com/office/drawing/2014/main" id="{C8078D39-B9F9-4112-F5C0-A988E773EF46}"/>
              </a:ext>
            </a:extLst>
          </p:cNvPr>
          <p:cNvSpPr txBox="1"/>
          <p:nvPr/>
        </p:nvSpPr>
        <p:spPr>
          <a:xfrm>
            <a:off x="510736" y="610469"/>
            <a:ext cx="3985261" cy="4898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nSpc>
                <a:spcPts val="3100"/>
              </a:lnSpc>
              <a:defRPr sz="2400" spc="-52">
                <a:solidFill>
                  <a:srgbClr val="FFFFFF">
                    <a:alpha val="99000"/>
                  </a:srgbClr>
                </a:solidFill>
                <a:latin typeface="Overpass Mono"/>
                <a:ea typeface="Overpass Mono"/>
                <a:cs typeface="Overpass Mono"/>
                <a:sym typeface="Overpass Mono"/>
              </a:defRPr>
            </a:lvl1pPr>
          </a:lstStyle>
          <a:p>
            <a:r>
              <a:rPr lang="en-GB" sz="2800" dirty="0"/>
              <a:t>Gas Statistics</a:t>
            </a:r>
          </a:p>
        </p:txBody>
      </p:sp>
      <p:pic>
        <p:nvPicPr>
          <p:cNvPr id="4" name="Picture 3" descr="A screenshot of a computer&#10;&#10;AI-generated content may be incorrect.">
            <a:extLst>
              <a:ext uri="{FF2B5EF4-FFF2-40B4-BE49-F238E27FC236}">
                <a16:creationId xmlns:a16="http://schemas.microsoft.com/office/drawing/2014/main" id="{222B495D-007A-AF82-C8B7-F1FE3192679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43447" y="691643"/>
            <a:ext cx="6905099" cy="4651766"/>
          </a:xfrm>
          <a:prstGeom prst="rect">
            <a:avLst/>
          </a:prstGeom>
        </p:spPr>
      </p:pic>
    </p:spTree>
    <p:extLst>
      <p:ext uri="{BB962C8B-B14F-4D97-AF65-F5344CB8AC3E}">
        <p14:creationId xmlns:p14="http://schemas.microsoft.com/office/powerpoint/2010/main" val="163328197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a:extLst>
            <a:ext uri="{FF2B5EF4-FFF2-40B4-BE49-F238E27FC236}">
              <a16:creationId xmlns:a16="http://schemas.microsoft.com/office/drawing/2014/main" id="{7CCC1832-91E9-0808-CE66-6291B77EEA84}"/>
            </a:ext>
          </a:extLst>
        </p:cNvPr>
        <p:cNvGrpSpPr/>
        <p:nvPr/>
      </p:nvGrpSpPr>
      <p:grpSpPr>
        <a:xfrm>
          <a:off x="0" y="0"/>
          <a:ext cx="0" cy="0"/>
          <a:chOff x="0" y="0"/>
          <a:chExt cx="0" cy="0"/>
        </a:xfrm>
      </p:grpSpPr>
      <p:sp>
        <p:nvSpPr>
          <p:cNvPr id="62" name="Shape 0">
            <a:extLst>
              <a:ext uri="{FF2B5EF4-FFF2-40B4-BE49-F238E27FC236}">
                <a16:creationId xmlns:a16="http://schemas.microsoft.com/office/drawing/2014/main" id="{78AE70B5-0CF6-836F-F784-FE1218A8DD19}"/>
              </a:ext>
            </a:extLst>
          </p:cNvPr>
          <p:cNvSpPr/>
          <p:nvPr/>
        </p:nvSpPr>
        <p:spPr>
          <a:xfrm flipH="1">
            <a:off x="4572635" y="635"/>
            <a:ext cx="1" cy="5143501"/>
          </a:xfrm>
          <a:prstGeom prst="line">
            <a:avLst/>
          </a:prstGeom>
          <a:ln w="12700">
            <a:solidFill>
              <a:srgbClr val="2B247C">
                <a:alpha val="20000"/>
              </a:srgbClr>
            </a:solidFill>
          </a:ln>
        </p:spPr>
        <p:txBody>
          <a:bodyPr lIns="45719" rIns="45719"/>
          <a:lstStyle/>
          <a:p>
            <a:endParaRPr/>
          </a:p>
        </p:txBody>
      </p:sp>
      <p:pic>
        <p:nvPicPr>
          <p:cNvPr id="64" name="Image 0" descr="Image 0">
            <a:extLst>
              <a:ext uri="{FF2B5EF4-FFF2-40B4-BE49-F238E27FC236}">
                <a16:creationId xmlns:a16="http://schemas.microsoft.com/office/drawing/2014/main" id="{83F08B81-4DBB-AD42-4981-44230DBAC44C}"/>
              </a:ext>
            </a:extLst>
          </p:cNvPr>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65" name="Image 1" descr="Image 1">
            <a:extLst>
              <a:ext uri="{FF2B5EF4-FFF2-40B4-BE49-F238E27FC236}">
                <a16:creationId xmlns:a16="http://schemas.microsoft.com/office/drawing/2014/main" id="{D90A520D-A949-2E43-0B38-6845EB886CBE}"/>
              </a:ext>
            </a:extLst>
          </p:cNvPr>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66" name="Image 2" descr="Image 2">
            <a:extLst>
              <a:ext uri="{FF2B5EF4-FFF2-40B4-BE49-F238E27FC236}">
                <a16:creationId xmlns:a16="http://schemas.microsoft.com/office/drawing/2014/main" id="{0443C2E1-2B91-ABDA-6912-547965E8DFF4}"/>
              </a:ext>
            </a:extLst>
          </p:cNvPr>
          <p:cNvPicPr>
            <a:picLocks noChangeAspect="1"/>
          </p:cNvPicPr>
          <p:nvPr/>
        </p:nvPicPr>
        <p:blipFill>
          <a:blip r:embed="rId5"/>
          <a:stretch>
            <a:fillRect/>
          </a:stretch>
        </p:blipFill>
        <p:spPr>
          <a:xfrm>
            <a:off x="8721128" y="307298"/>
            <a:ext cx="120477" cy="105516"/>
          </a:xfrm>
          <a:prstGeom prst="rect">
            <a:avLst/>
          </a:prstGeom>
          <a:ln w="12700">
            <a:miter lim="400000"/>
          </a:ln>
        </p:spPr>
      </p:pic>
      <p:pic>
        <p:nvPicPr>
          <p:cNvPr id="67" name="Image 3" descr="Image 3">
            <a:extLst>
              <a:ext uri="{FF2B5EF4-FFF2-40B4-BE49-F238E27FC236}">
                <a16:creationId xmlns:a16="http://schemas.microsoft.com/office/drawing/2014/main" id="{7BFF0E8A-97F4-CF2F-0507-092115882558}"/>
              </a:ext>
            </a:extLst>
          </p:cNvPr>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68" name="Image 4" descr="Image 4">
            <a:extLst>
              <a:ext uri="{FF2B5EF4-FFF2-40B4-BE49-F238E27FC236}">
                <a16:creationId xmlns:a16="http://schemas.microsoft.com/office/drawing/2014/main" id="{68C4DE65-AA3F-895E-75F6-8B4329FD34B6}"/>
              </a:ext>
            </a:extLst>
          </p:cNvPr>
          <p:cNvPicPr>
            <a:picLocks noChangeAspect="1"/>
          </p:cNvPicPr>
          <p:nvPr/>
        </p:nvPicPr>
        <p:blipFill>
          <a:blip r:embed="rId4"/>
          <a:stretch>
            <a:fillRect/>
          </a:stretch>
        </p:blipFill>
        <p:spPr>
          <a:xfrm>
            <a:off x="8722417" y="457535"/>
            <a:ext cx="120477" cy="107274"/>
          </a:xfrm>
          <a:prstGeom prst="rect">
            <a:avLst/>
          </a:prstGeom>
          <a:ln w="12700">
            <a:miter lim="400000"/>
          </a:ln>
        </p:spPr>
      </p:pic>
      <p:pic>
        <p:nvPicPr>
          <p:cNvPr id="69" name="Image 5" descr="Image 5">
            <a:extLst>
              <a:ext uri="{FF2B5EF4-FFF2-40B4-BE49-F238E27FC236}">
                <a16:creationId xmlns:a16="http://schemas.microsoft.com/office/drawing/2014/main" id="{9794276A-9AF0-DC54-1B5E-E0993FFEC021}"/>
              </a:ext>
            </a:extLst>
          </p:cNvPr>
          <p:cNvPicPr>
            <a:picLocks noChangeAspect="1"/>
          </p:cNvPicPr>
          <p:nvPr/>
        </p:nvPicPr>
        <p:blipFill>
          <a:blip r:embed="rId3"/>
          <a:stretch>
            <a:fillRect/>
          </a:stretch>
        </p:blipFill>
        <p:spPr>
          <a:xfrm>
            <a:off x="8777538" y="457535"/>
            <a:ext cx="120477" cy="107274"/>
          </a:xfrm>
          <a:prstGeom prst="rect">
            <a:avLst/>
          </a:prstGeom>
          <a:ln w="12700">
            <a:miter lim="400000"/>
          </a:ln>
        </p:spPr>
      </p:pic>
      <p:pic>
        <p:nvPicPr>
          <p:cNvPr id="70" name="Image 6" descr="Image 6">
            <a:extLst>
              <a:ext uri="{FF2B5EF4-FFF2-40B4-BE49-F238E27FC236}">
                <a16:creationId xmlns:a16="http://schemas.microsoft.com/office/drawing/2014/main" id="{05D0C64F-C680-0F57-F11D-25943261E8C0}"/>
              </a:ext>
            </a:extLst>
          </p:cNvPr>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71" name="Image 7" descr="Image 7">
            <a:extLst>
              <a:ext uri="{FF2B5EF4-FFF2-40B4-BE49-F238E27FC236}">
                <a16:creationId xmlns:a16="http://schemas.microsoft.com/office/drawing/2014/main" id="{920936F2-6A1A-C6F9-31D6-9626EA194A42}"/>
              </a:ext>
            </a:extLst>
          </p:cNvPr>
          <p:cNvPicPr>
            <a:picLocks noChangeAspect="1"/>
          </p:cNvPicPr>
          <p:nvPr/>
        </p:nvPicPr>
        <p:blipFill>
          <a:blip r:embed="rId4"/>
          <a:stretch>
            <a:fillRect/>
          </a:stretch>
        </p:blipFill>
        <p:spPr>
          <a:xfrm>
            <a:off x="8833131" y="457535"/>
            <a:ext cx="120477" cy="107274"/>
          </a:xfrm>
          <a:prstGeom prst="rect">
            <a:avLst/>
          </a:prstGeom>
          <a:ln w="12700">
            <a:miter lim="400000"/>
          </a:ln>
        </p:spPr>
      </p:pic>
      <p:sp>
        <p:nvSpPr>
          <p:cNvPr id="72" name="Text 3">
            <a:extLst>
              <a:ext uri="{FF2B5EF4-FFF2-40B4-BE49-F238E27FC236}">
                <a16:creationId xmlns:a16="http://schemas.microsoft.com/office/drawing/2014/main" id="{344F1531-41CE-C9F1-9946-CB510FFE2C8D}"/>
              </a:ext>
            </a:extLst>
          </p:cNvPr>
          <p:cNvSpPr txBox="1"/>
          <p:nvPr/>
        </p:nvSpPr>
        <p:spPr>
          <a:xfrm>
            <a:off x="521969" y="337980"/>
            <a:ext cx="3794761" cy="2527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endParaRPr dirty="0"/>
          </a:p>
        </p:txBody>
      </p:sp>
      <p:sp>
        <p:nvSpPr>
          <p:cNvPr id="74" name="Text 5">
            <a:extLst>
              <a:ext uri="{FF2B5EF4-FFF2-40B4-BE49-F238E27FC236}">
                <a16:creationId xmlns:a16="http://schemas.microsoft.com/office/drawing/2014/main" id="{A5CF1F8E-1FC6-B3AF-0736-2DCD922B7AFA}"/>
              </a:ext>
            </a:extLst>
          </p:cNvPr>
          <p:cNvSpPr txBox="1"/>
          <p:nvPr/>
        </p:nvSpPr>
        <p:spPr>
          <a:xfrm>
            <a:off x="2419349" y="1509921"/>
            <a:ext cx="4824881" cy="21236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p>
            <a:pPr>
              <a:buSzPct val="100000"/>
              <a:defRPr sz="3900">
                <a:solidFill>
                  <a:srgbClr val="F8F8FF">
                    <a:alpha val="99000"/>
                  </a:srgbClr>
                </a:solidFill>
                <a:latin typeface="Overpass"/>
                <a:ea typeface="Overpass"/>
                <a:cs typeface="Overpass"/>
                <a:sym typeface="Overpass"/>
              </a:defRPr>
            </a:pPr>
            <a:r>
              <a:rPr lang="en-GB" sz="4800" dirty="0"/>
              <a:t>Keystore</a:t>
            </a:r>
          </a:p>
          <a:p>
            <a:pPr>
              <a:buSzPct val="100000"/>
              <a:defRPr sz="3900">
                <a:solidFill>
                  <a:srgbClr val="F8F8FF">
                    <a:alpha val="99000"/>
                  </a:srgbClr>
                </a:solidFill>
                <a:latin typeface="Overpass"/>
                <a:ea typeface="Overpass"/>
                <a:cs typeface="Overpass"/>
                <a:sym typeface="Overpass"/>
              </a:defRPr>
            </a:pPr>
            <a:endParaRPr lang="en-GB" sz="2800" dirty="0"/>
          </a:p>
          <a:p>
            <a:pPr marL="457200" indent="-457200">
              <a:buSzPct val="100000"/>
              <a:buFont typeface="Arial" panose="020B0604020202020204" pitchFamily="34" charset="0"/>
              <a:buChar char="•"/>
              <a:defRPr sz="3900">
                <a:solidFill>
                  <a:srgbClr val="F8F8FF">
                    <a:alpha val="99000"/>
                  </a:srgbClr>
                </a:solidFill>
                <a:latin typeface="Overpass"/>
                <a:ea typeface="Overpass"/>
                <a:cs typeface="Overpass"/>
                <a:sym typeface="Overpass"/>
              </a:defRPr>
            </a:pPr>
            <a:r>
              <a:rPr lang="en-GB" sz="2800" dirty="0"/>
              <a:t>Encrypted secrets by default</a:t>
            </a:r>
            <a:r>
              <a:rPr sz="2800" dirty="0"/>
              <a:t> </a:t>
            </a:r>
            <a:endParaRPr lang="en-GB" sz="2800" dirty="0"/>
          </a:p>
          <a:p>
            <a:pPr marL="457200" indent="-457200">
              <a:buSzPct val="100000"/>
              <a:buFont typeface="Arial" panose="020B0604020202020204" pitchFamily="34" charset="0"/>
              <a:buChar char="•"/>
              <a:defRPr sz="3900">
                <a:solidFill>
                  <a:srgbClr val="F8F8FF">
                    <a:alpha val="99000"/>
                  </a:srgbClr>
                </a:solidFill>
                <a:latin typeface="Overpass"/>
                <a:ea typeface="Overpass"/>
                <a:cs typeface="Overpass"/>
                <a:sym typeface="Overpass"/>
              </a:defRPr>
            </a:pPr>
            <a:r>
              <a:rPr lang="en-GB" sz="2800" dirty="0"/>
              <a:t>No need for .env files</a:t>
            </a:r>
          </a:p>
        </p:txBody>
      </p:sp>
    </p:spTree>
    <p:extLst>
      <p:ext uri="{BB962C8B-B14F-4D97-AF65-F5344CB8AC3E}">
        <p14:creationId xmlns:p14="http://schemas.microsoft.com/office/powerpoint/2010/main" val="42408586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226" name="Image 0" descr="Image 0"/>
          <p:cNvPicPr>
            <a:picLocks noChangeAspect="1"/>
          </p:cNvPicPr>
          <p:nvPr/>
        </p:nvPicPr>
        <p:blipFill>
          <a:blip r:embed="rId3"/>
          <a:stretch>
            <a:fillRect/>
          </a:stretch>
        </p:blipFill>
        <p:spPr>
          <a:xfrm>
            <a:off x="8831833" y="209550"/>
            <a:ext cx="120477" cy="107273"/>
          </a:xfrm>
          <a:prstGeom prst="rect">
            <a:avLst/>
          </a:prstGeom>
          <a:ln w="12700">
            <a:miter lim="400000"/>
          </a:ln>
        </p:spPr>
      </p:pic>
      <p:pic>
        <p:nvPicPr>
          <p:cNvPr id="227" name="Image 1" descr="Image 1"/>
          <p:cNvPicPr>
            <a:picLocks noChangeAspect="1"/>
          </p:cNvPicPr>
          <p:nvPr/>
        </p:nvPicPr>
        <p:blipFill>
          <a:blip r:embed="rId4"/>
          <a:stretch>
            <a:fillRect/>
          </a:stretch>
        </p:blipFill>
        <p:spPr>
          <a:xfrm>
            <a:off x="8776710" y="209550"/>
            <a:ext cx="120477" cy="107273"/>
          </a:xfrm>
          <a:prstGeom prst="rect">
            <a:avLst/>
          </a:prstGeom>
          <a:ln w="12700">
            <a:miter lim="400000"/>
          </a:ln>
        </p:spPr>
      </p:pic>
      <p:pic>
        <p:nvPicPr>
          <p:cNvPr id="228" name="Image 2" descr="Image 2"/>
          <p:cNvPicPr>
            <a:picLocks noChangeAspect="1"/>
          </p:cNvPicPr>
          <p:nvPr/>
        </p:nvPicPr>
        <p:blipFill>
          <a:blip r:embed="rId5"/>
          <a:stretch>
            <a:fillRect/>
          </a:stretch>
        </p:blipFill>
        <p:spPr>
          <a:xfrm>
            <a:off x="8721124" y="307298"/>
            <a:ext cx="120477" cy="105516"/>
          </a:xfrm>
          <a:prstGeom prst="rect">
            <a:avLst/>
          </a:prstGeom>
          <a:ln w="12700">
            <a:miter lim="400000"/>
          </a:ln>
        </p:spPr>
      </p:pic>
      <p:pic>
        <p:nvPicPr>
          <p:cNvPr id="229" name="Image 3" descr="Image 3"/>
          <p:cNvPicPr>
            <a:picLocks noChangeAspect="1"/>
          </p:cNvPicPr>
          <p:nvPr/>
        </p:nvPicPr>
        <p:blipFill>
          <a:blip r:embed="rId6"/>
          <a:stretch>
            <a:fillRect/>
          </a:stretch>
        </p:blipFill>
        <p:spPr>
          <a:xfrm>
            <a:off x="8721122" y="209550"/>
            <a:ext cx="120477" cy="107273"/>
          </a:xfrm>
          <a:prstGeom prst="rect">
            <a:avLst/>
          </a:prstGeom>
          <a:ln w="12700">
            <a:miter lim="400000"/>
          </a:ln>
        </p:spPr>
      </p:pic>
      <p:pic>
        <p:nvPicPr>
          <p:cNvPr id="230" name="Image 4" descr="Image 4"/>
          <p:cNvPicPr>
            <a:picLocks noChangeAspect="1"/>
          </p:cNvPicPr>
          <p:nvPr/>
        </p:nvPicPr>
        <p:blipFill>
          <a:blip r:embed="rId4"/>
          <a:stretch>
            <a:fillRect/>
          </a:stretch>
        </p:blipFill>
        <p:spPr>
          <a:xfrm>
            <a:off x="8722407" y="457535"/>
            <a:ext cx="120477" cy="107274"/>
          </a:xfrm>
          <a:prstGeom prst="rect">
            <a:avLst/>
          </a:prstGeom>
          <a:ln w="12700">
            <a:miter lim="400000"/>
          </a:ln>
        </p:spPr>
      </p:pic>
      <p:pic>
        <p:nvPicPr>
          <p:cNvPr id="231" name="Image 5" descr="Image 5"/>
          <p:cNvPicPr>
            <a:picLocks noChangeAspect="1"/>
          </p:cNvPicPr>
          <p:nvPr/>
        </p:nvPicPr>
        <p:blipFill>
          <a:blip r:embed="rId3"/>
          <a:stretch>
            <a:fillRect/>
          </a:stretch>
        </p:blipFill>
        <p:spPr>
          <a:xfrm>
            <a:off x="8777529" y="457535"/>
            <a:ext cx="120477" cy="107274"/>
          </a:xfrm>
          <a:prstGeom prst="rect">
            <a:avLst/>
          </a:prstGeom>
          <a:ln w="12700">
            <a:miter lim="400000"/>
          </a:ln>
        </p:spPr>
      </p:pic>
      <p:pic>
        <p:nvPicPr>
          <p:cNvPr id="232" name="Image 6" descr="Image 6"/>
          <p:cNvPicPr>
            <a:picLocks noChangeAspect="1"/>
          </p:cNvPicPr>
          <p:nvPr/>
        </p:nvPicPr>
        <p:blipFill>
          <a:blip r:embed="rId6"/>
          <a:stretch>
            <a:fillRect/>
          </a:stretch>
        </p:blipFill>
        <p:spPr>
          <a:xfrm>
            <a:off x="8833116" y="359787"/>
            <a:ext cx="120477" cy="107273"/>
          </a:xfrm>
          <a:prstGeom prst="rect">
            <a:avLst/>
          </a:prstGeom>
          <a:ln w="12700">
            <a:miter lim="400000"/>
          </a:ln>
        </p:spPr>
      </p:pic>
      <p:pic>
        <p:nvPicPr>
          <p:cNvPr id="233" name="Image 7" descr="Image 7"/>
          <p:cNvPicPr>
            <a:picLocks noChangeAspect="1"/>
          </p:cNvPicPr>
          <p:nvPr/>
        </p:nvPicPr>
        <p:blipFill>
          <a:blip r:embed="rId7"/>
          <a:stretch>
            <a:fillRect/>
          </a:stretch>
        </p:blipFill>
        <p:spPr>
          <a:xfrm>
            <a:off x="8833116" y="457535"/>
            <a:ext cx="120477" cy="107274"/>
          </a:xfrm>
          <a:prstGeom prst="rect">
            <a:avLst/>
          </a:prstGeom>
          <a:ln w="12700">
            <a:miter lim="400000"/>
          </a:ln>
        </p:spPr>
      </p:pic>
      <p:sp>
        <p:nvSpPr>
          <p:cNvPr id="234" name="Text 14"/>
          <p:cNvSpPr txBox="1"/>
          <p:nvPr/>
        </p:nvSpPr>
        <p:spPr>
          <a:xfrm>
            <a:off x="1303742" y="2208530"/>
            <a:ext cx="6536516" cy="7264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gn="ctr">
              <a:defRPr sz="4200" spc="-92">
                <a:solidFill>
                  <a:srgbClr val="FFFFFF">
                    <a:alpha val="99000"/>
                  </a:srgbClr>
                </a:solidFill>
                <a:latin typeface="Overpass Mono"/>
                <a:ea typeface="Overpass Mono"/>
                <a:cs typeface="Overpass Mono"/>
                <a:sym typeface="Overpass Mono"/>
              </a:defRPr>
            </a:lvl1pPr>
          </a:lstStyle>
          <a:p>
            <a:r>
              <a:t>Improved Performance</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238" name="Image 0" descr="Image 0"/>
          <p:cNvPicPr>
            <a:picLocks noChangeAspect="1"/>
          </p:cNvPicPr>
          <p:nvPr/>
        </p:nvPicPr>
        <p:blipFill>
          <a:blip r:embed="rId3"/>
          <a:stretch>
            <a:fillRect/>
          </a:stretch>
        </p:blipFill>
        <p:spPr>
          <a:xfrm>
            <a:off x="5595937" y="0"/>
            <a:ext cx="2252664" cy="1681164"/>
          </a:xfrm>
          <a:prstGeom prst="rect">
            <a:avLst/>
          </a:prstGeom>
          <a:ln w="12700">
            <a:miter lim="400000"/>
          </a:ln>
        </p:spPr>
      </p:pic>
      <p:pic>
        <p:nvPicPr>
          <p:cNvPr id="239" name="Image 1" descr="Image 1"/>
          <p:cNvPicPr>
            <a:picLocks noChangeAspect="1"/>
          </p:cNvPicPr>
          <p:nvPr/>
        </p:nvPicPr>
        <p:blipFill>
          <a:blip r:embed="rId4"/>
          <a:stretch>
            <a:fillRect/>
          </a:stretch>
        </p:blipFill>
        <p:spPr>
          <a:xfrm>
            <a:off x="8831842" y="209550"/>
            <a:ext cx="120477" cy="107273"/>
          </a:xfrm>
          <a:prstGeom prst="rect">
            <a:avLst/>
          </a:prstGeom>
          <a:ln w="12700">
            <a:miter lim="400000"/>
          </a:ln>
        </p:spPr>
      </p:pic>
      <p:pic>
        <p:nvPicPr>
          <p:cNvPr id="240" name="Image 2" descr="Image 2"/>
          <p:cNvPicPr>
            <a:picLocks noChangeAspect="1"/>
          </p:cNvPicPr>
          <p:nvPr/>
        </p:nvPicPr>
        <p:blipFill>
          <a:blip r:embed="rId5"/>
          <a:stretch>
            <a:fillRect/>
          </a:stretch>
        </p:blipFill>
        <p:spPr>
          <a:xfrm>
            <a:off x="8776720" y="209550"/>
            <a:ext cx="120477" cy="107273"/>
          </a:xfrm>
          <a:prstGeom prst="rect">
            <a:avLst/>
          </a:prstGeom>
          <a:ln w="12700">
            <a:miter lim="400000"/>
          </a:ln>
        </p:spPr>
      </p:pic>
      <p:pic>
        <p:nvPicPr>
          <p:cNvPr id="241" name="Image 3" descr="Image 3"/>
          <p:cNvPicPr>
            <a:picLocks noChangeAspect="1"/>
          </p:cNvPicPr>
          <p:nvPr/>
        </p:nvPicPr>
        <p:blipFill>
          <a:blip r:embed="rId6"/>
          <a:stretch>
            <a:fillRect/>
          </a:stretch>
        </p:blipFill>
        <p:spPr>
          <a:xfrm>
            <a:off x="8721131" y="307298"/>
            <a:ext cx="120477" cy="105516"/>
          </a:xfrm>
          <a:prstGeom prst="rect">
            <a:avLst/>
          </a:prstGeom>
          <a:ln w="12700">
            <a:miter lim="400000"/>
          </a:ln>
        </p:spPr>
      </p:pic>
      <p:pic>
        <p:nvPicPr>
          <p:cNvPr id="242" name="Image 4" descr="Image 4"/>
          <p:cNvPicPr>
            <a:picLocks noChangeAspect="1"/>
          </p:cNvPicPr>
          <p:nvPr/>
        </p:nvPicPr>
        <p:blipFill>
          <a:blip r:embed="rId4"/>
          <a:stretch>
            <a:fillRect/>
          </a:stretch>
        </p:blipFill>
        <p:spPr>
          <a:xfrm>
            <a:off x="8721128" y="209550"/>
            <a:ext cx="120477" cy="107273"/>
          </a:xfrm>
          <a:prstGeom prst="rect">
            <a:avLst/>
          </a:prstGeom>
          <a:ln w="12700">
            <a:miter lim="400000"/>
          </a:ln>
        </p:spPr>
      </p:pic>
      <p:pic>
        <p:nvPicPr>
          <p:cNvPr id="243" name="Image 5" descr="Image 5"/>
          <p:cNvPicPr>
            <a:picLocks noChangeAspect="1"/>
          </p:cNvPicPr>
          <p:nvPr/>
        </p:nvPicPr>
        <p:blipFill>
          <a:blip r:embed="rId5"/>
          <a:stretch>
            <a:fillRect/>
          </a:stretch>
        </p:blipFill>
        <p:spPr>
          <a:xfrm>
            <a:off x="8722414" y="457535"/>
            <a:ext cx="120477" cy="107274"/>
          </a:xfrm>
          <a:prstGeom prst="rect">
            <a:avLst/>
          </a:prstGeom>
          <a:ln w="12700">
            <a:miter lim="400000"/>
          </a:ln>
        </p:spPr>
      </p:pic>
      <p:pic>
        <p:nvPicPr>
          <p:cNvPr id="244" name="Image 6" descr="Image 6"/>
          <p:cNvPicPr>
            <a:picLocks noChangeAspect="1"/>
          </p:cNvPicPr>
          <p:nvPr/>
        </p:nvPicPr>
        <p:blipFill>
          <a:blip r:embed="rId4"/>
          <a:stretch>
            <a:fillRect/>
          </a:stretch>
        </p:blipFill>
        <p:spPr>
          <a:xfrm>
            <a:off x="8777536" y="457535"/>
            <a:ext cx="120477" cy="107274"/>
          </a:xfrm>
          <a:prstGeom prst="rect">
            <a:avLst/>
          </a:prstGeom>
          <a:ln w="12700">
            <a:miter lim="400000"/>
          </a:ln>
        </p:spPr>
      </p:pic>
      <p:pic>
        <p:nvPicPr>
          <p:cNvPr id="245" name="Image 7" descr="Image 7"/>
          <p:cNvPicPr>
            <a:picLocks noChangeAspect="1"/>
          </p:cNvPicPr>
          <p:nvPr/>
        </p:nvPicPr>
        <p:blipFill>
          <a:blip r:embed="rId4"/>
          <a:stretch>
            <a:fillRect/>
          </a:stretch>
        </p:blipFill>
        <p:spPr>
          <a:xfrm>
            <a:off x="8833128" y="359787"/>
            <a:ext cx="120477" cy="107273"/>
          </a:xfrm>
          <a:prstGeom prst="rect">
            <a:avLst/>
          </a:prstGeom>
          <a:ln w="12700">
            <a:miter lim="400000"/>
          </a:ln>
        </p:spPr>
      </p:pic>
      <p:pic>
        <p:nvPicPr>
          <p:cNvPr id="246" name="Image 8" descr="Image 8"/>
          <p:cNvPicPr>
            <a:picLocks noChangeAspect="1"/>
          </p:cNvPicPr>
          <p:nvPr/>
        </p:nvPicPr>
        <p:blipFill>
          <a:blip r:embed="rId5"/>
          <a:stretch>
            <a:fillRect/>
          </a:stretch>
        </p:blipFill>
        <p:spPr>
          <a:xfrm>
            <a:off x="8833129" y="457535"/>
            <a:ext cx="120477" cy="107274"/>
          </a:xfrm>
          <a:prstGeom prst="rect">
            <a:avLst/>
          </a:prstGeom>
          <a:ln w="12700">
            <a:miter lim="400000"/>
          </a:ln>
        </p:spPr>
      </p:pic>
      <p:sp>
        <p:nvSpPr>
          <p:cNvPr id="248" name="Text 2"/>
          <p:cNvSpPr txBox="1"/>
          <p:nvPr/>
        </p:nvSpPr>
        <p:spPr>
          <a:xfrm>
            <a:off x="1286351" y="2025446"/>
            <a:ext cx="6571298" cy="109260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a:defRPr sz="6500" spc="-143">
                <a:solidFill>
                  <a:srgbClr val="D2D2FF">
                    <a:alpha val="99000"/>
                  </a:srgbClr>
                </a:solidFill>
                <a:latin typeface="Overpass Mono"/>
                <a:ea typeface="Overpass Mono"/>
                <a:cs typeface="Overpass Mono"/>
                <a:sym typeface="Overpass Mono"/>
              </a:defRPr>
            </a:pPr>
            <a:r>
              <a:rPr lang="en-GB" dirty="0"/>
              <a:t>Production ready</a:t>
            </a:r>
            <a:endParaRPr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326" name="Image 1" descr="Image 1"/>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327" name="Image 2" descr="Image 2"/>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328" name="Image 3" descr="Image 3"/>
          <p:cNvPicPr>
            <a:picLocks noChangeAspect="1"/>
          </p:cNvPicPr>
          <p:nvPr/>
        </p:nvPicPr>
        <p:blipFill>
          <a:blip r:embed="rId5"/>
          <a:stretch>
            <a:fillRect/>
          </a:stretch>
        </p:blipFill>
        <p:spPr>
          <a:xfrm>
            <a:off x="8721131" y="307298"/>
            <a:ext cx="120477" cy="105516"/>
          </a:xfrm>
          <a:prstGeom prst="rect">
            <a:avLst/>
          </a:prstGeom>
          <a:ln w="12700">
            <a:miter lim="400000"/>
          </a:ln>
        </p:spPr>
      </p:pic>
      <p:pic>
        <p:nvPicPr>
          <p:cNvPr id="329" name="Image 4" descr="Image 4"/>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330" name="Image 5" descr="Image 5"/>
          <p:cNvPicPr>
            <a:picLocks noChangeAspect="1"/>
          </p:cNvPicPr>
          <p:nvPr/>
        </p:nvPicPr>
        <p:blipFill>
          <a:blip r:embed="rId4"/>
          <a:stretch>
            <a:fillRect/>
          </a:stretch>
        </p:blipFill>
        <p:spPr>
          <a:xfrm>
            <a:off x="8722414" y="457535"/>
            <a:ext cx="120477" cy="107274"/>
          </a:xfrm>
          <a:prstGeom prst="rect">
            <a:avLst/>
          </a:prstGeom>
          <a:ln w="12700">
            <a:miter lim="400000"/>
          </a:ln>
        </p:spPr>
      </p:pic>
      <p:pic>
        <p:nvPicPr>
          <p:cNvPr id="331" name="Image 6" descr="Image 6"/>
          <p:cNvPicPr>
            <a:picLocks noChangeAspect="1"/>
          </p:cNvPicPr>
          <p:nvPr/>
        </p:nvPicPr>
        <p:blipFill>
          <a:blip r:embed="rId3"/>
          <a:stretch>
            <a:fillRect/>
          </a:stretch>
        </p:blipFill>
        <p:spPr>
          <a:xfrm>
            <a:off x="8777536" y="457535"/>
            <a:ext cx="120477" cy="107274"/>
          </a:xfrm>
          <a:prstGeom prst="rect">
            <a:avLst/>
          </a:prstGeom>
          <a:ln w="12700">
            <a:miter lim="400000"/>
          </a:ln>
        </p:spPr>
      </p:pic>
      <p:pic>
        <p:nvPicPr>
          <p:cNvPr id="332" name="Image 7" descr="Image 7"/>
          <p:cNvPicPr>
            <a:picLocks noChangeAspect="1"/>
          </p:cNvPicPr>
          <p:nvPr/>
        </p:nvPicPr>
        <p:blipFill>
          <a:blip r:embed="rId3"/>
          <a:stretch>
            <a:fillRect/>
          </a:stretch>
        </p:blipFill>
        <p:spPr>
          <a:xfrm>
            <a:off x="8833128" y="359787"/>
            <a:ext cx="120477" cy="107273"/>
          </a:xfrm>
          <a:prstGeom prst="rect">
            <a:avLst/>
          </a:prstGeom>
          <a:ln w="12700">
            <a:miter lim="400000"/>
          </a:ln>
        </p:spPr>
      </p:pic>
      <p:pic>
        <p:nvPicPr>
          <p:cNvPr id="333" name="Image 8" descr="Image 8"/>
          <p:cNvPicPr>
            <a:picLocks noChangeAspect="1"/>
          </p:cNvPicPr>
          <p:nvPr/>
        </p:nvPicPr>
        <p:blipFill>
          <a:blip r:embed="rId4"/>
          <a:stretch>
            <a:fillRect/>
          </a:stretch>
        </p:blipFill>
        <p:spPr>
          <a:xfrm>
            <a:off x="8833129" y="457535"/>
            <a:ext cx="120477" cy="107274"/>
          </a:xfrm>
          <a:prstGeom prst="rect">
            <a:avLst/>
          </a:prstGeom>
          <a:ln w="12700">
            <a:miter lim="400000"/>
          </a:ln>
        </p:spPr>
      </p:pic>
      <p:sp>
        <p:nvSpPr>
          <p:cNvPr id="335" name="Text 3"/>
          <p:cNvSpPr txBox="1"/>
          <p:nvPr/>
        </p:nvSpPr>
        <p:spPr>
          <a:xfrm>
            <a:off x="2139581" y="1400709"/>
            <a:ext cx="6571299" cy="8834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6300"/>
              </a:lnSpc>
              <a:defRPr sz="5200">
                <a:solidFill>
                  <a:srgbClr val="F8F8FF">
                    <a:alpha val="99000"/>
                  </a:srgbClr>
                </a:solidFill>
                <a:latin typeface="Overpass Mono"/>
                <a:ea typeface="Overpass Mono"/>
                <a:cs typeface="Overpass Mono"/>
                <a:sym typeface="Overpass Mono"/>
              </a:defRPr>
            </a:lvl1pPr>
          </a:lstStyle>
          <a:p>
            <a:r>
              <a:t>Migrating your Project</a:t>
            </a:r>
          </a:p>
        </p:txBody>
      </p:sp>
      <p:pic>
        <p:nvPicPr>
          <p:cNvPr id="336" name="hardhat_helmet_colour.png" descr="hardhat_helmet_colour.png"/>
          <p:cNvPicPr>
            <a:picLocks noChangeAspect="1"/>
          </p:cNvPicPr>
          <p:nvPr/>
        </p:nvPicPr>
        <p:blipFill>
          <a:blip r:embed="rId6"/>
          <a:stretch>
            <a:fillRect/>
          </a:stretch>
        </p:blipFill>
        <p:spPr>
          <a:xfrm>
            <a:off x="374438" y="2638897"/>
            <a:ext cx="3217295" cy="2257468"/>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355" name="Image 0" descr="Image 0"/>
          <p:cNvPicPr>
            <a:picLocks noChangeAspect="1"/>
          </p:cNvPicPr>
          <p:nvPr/>
        </p:nvPicPr>
        <p:blipFill>
          <a:blip r:embed="rId3"/>
          <a:stretch>
            <a:fillRect/>
          </a:stretch>
        </p:blipFill>
        <p:spPr>
          <a:xfrm>
            <a:off x="6243637" y="1804988"/>
            <a:ext cx="1781176" cy="1781176"/>
          </a:xfrm>
          <a:prstGeom prst="rect">
            <a:avLst/>
          </a:prstGeom>
          <a:ln w="12700">
            <a:miter lim="400000"/>
          </a:ln>
        </p:spPr>
      </p:pic>
      <p:pic>
        <p:nvPicPr>
          <p:cNvPr id="356" name="Image 1" descr="Image 1"/>
          <p:cNvPicPr>
            <a:picLocks noChangeAspect="1"/>
          </p:cNvPicPr>
          <p:nvPr/>
        </p:nvPicPr>
        <p:blipFill>
          <a:blip r:embed="rId4"/>
          <a:stretch>
            <a:fillRect/>
          </a:stretch>
        </p:blipFill>
        <p:spPr>
          <a:xfrm>
            <a:off x="8831842" y="209550"/>
            <a:ext cx="120477" cy="107273"/>
          </a:xfrm>
          <a:prstGeom prst="rect">
            <a:avLst/>
          </a:prstGeom>
          <a:ln w="12700">
            <a:miter lim="400000"/>
          </a:ln>
        </p:spPr>
      </p:pic>
      <p:pic>
        <p:nvPicPr>
          <p:cNvPr id="357" name="Image 2" descr="Image 2"/>
          <p:cNvPicPr>
            <a:picLocks noChangeAspect="1"/>
          </p:cNvPicPr>
          <p:nvPr/>
        </p:nvPicPr>
        <p:blipFill>
          <a:blip r:embed="rId5"/>
          <a:stretch>
            <a:fillRect/>
          </a:stretch>
        </p:blipFill>
        <p:spPr>
          <a:xfrm>
            <a:off x="8776720" y="209550"/>
            <a:ext cx="120477" cy="107273"/>
          </a:xfrm>
          <a:prstGeom prst="rect">
            <a:avLst/>
          </a:prstGeom>
          <a:ln w="12700">
            <a:miter lim="400000"/>
          </a:ln>
        </p:spPr>
      </p:pic>
      <p:pic>
        <p:nvPicPr>
          <p:cNvPr id="358" name="Image 3" descr="Image 3"/>
          <p:cNvPicPr>
            <a:picLocks noChangeAspect="1"/>
          </p:cNvPicPr>
          <p:nvPr/>
        </p:nvPicPr>
        <p:blipFill>
          <a:blip r:embed="rId6"/>
          <a:stretch>
            <a:fillRect/>
          </a:stretch>
        </p:blipFill>
        <p:spPr>
          <a:xfrm>
            <a:off x="8721124" y="307298"/>
            <a:ext cx="120477" cy="105516"/>
          </a:xfrm>
          <a:prstGeom prst="rect">
            <a:avLst/>
          </a:prstGeom>
          <a:ln w="12700">
            <a:miter lim="400000"/>
          </a:ln>
        </p:spPr>
      </p:pic>
      <p:pic>
        <p:nvPicPr>
          <p:cNvPr id="359" name="Image 4" descr="Image 4"/>
          <p:cNvPicPr>
            <a:picLocks noChangeAspect="1"/>
          </p:cNvPicPr>
          <p:nvPr/>
        </p:nvPicPr>
        <p:blipFill>
          <a:blip r:embed="rId4"/>
          <a:stretch>
            <a:fillRect/>
          </a:stretch>
        </p:blipFill>
        <p:spPr>
          <a:xfrm>
            <a:off x="8721122" y="209550"/>
            <a:ext cx="120477" cy="107273"/>
          </a:xfrm>
          <a:prstGeom prst="rect">
            <a:avLst/>
          </a:prstGeom>
          <a:ln w="12700">
            <a:miter lim="400000"/>
          </a:ln>
        </p:spPr>
      </p:pic>
      <p:pic>
        <p:nvPicPr>
          <p:cNvPr id="360" name="Image 5" descr="Image 5"/>
          <p:cNvPicPr>
            <a:picLocks noChangeAspect="1"/>
          </p:cNvPicPr>
          <p:nvPr/>
        </p:nvPicPr>
        <p:blipFill>
          <a:blip r:embed="rId5"/>
          <a:stretch>
            <a:fillRect/>
          </a:stretch>
        </p:blipFill>
        <p:spPr>
          <a:xfrm>
            <a:off x="8722407" y="457535"/>
            <a:ext cx="120477" cy="107274"/>
          </a:xfrm>
          <a:prstGeom prst="rect">
            <a:avLst/>
          </a:prstGeom>
          <a:ln w="12700">
            <a:miter lim="400000"/>
          </a:ln>
        </p:spPr>
      </p:pic>
      <p:pic>
        <p:nvPicPr>
          <p:cNvPr id="361" name="Image 6" descr="Image 6"/>
          <p:cNvPicPr>
            <a:picLocks noChangeAspect="1"/>
          </p:cNvPicPr>
          <p:nvPr/>
        </p:nvPicPr>
        <p:blipFill>
          <a:blip r:embed="rId4"/>
          <a:stretch>
            <a:fillRect/>
          </a:stretch>
        </p:blipFill>
        <p:spPr>
          <a:xfrm>
            <a:off x="8777529" y="457535"/>
            <a:ext cx="120477" cy="107274"/>
          </a:xfrm>
          <a:prstGeom prst="rect">
            <a:avLst/>
          </a:prstGeom>
          <a:ln w="12700">
            <a:miter lim="400000"/>
          </a:ln>
        </p:spPr>
      </p:pic>
      <p:pic>
        <p:nvPicPr>
          <p:cNvPr id="362" name="Image 7" descr="Image 7"/>
          <p:cNvPicPr>
            <a:picLocks noChangeAspect="1"/>
          </p:cNvPicPr>
          <p:nvPr/>
        </p:nvPicPr>
        <p:blipFill>
          <a:blip r:embed="rId4"/>
          <a:stretch>
            <a:fillRect/>
          </a:stretch>
        </p:blipFill>
        <p:spPr>
          <a:xfrm>
            <a:off x="8833125" y="359787"/>
            <a:ext cx="120477" cy="107273"/>
          </a:xfrm>
          <a:prstGeom prst="rect">
            <a:avLst/>
          </a:prstGeom>
          <a:ln w="12700">
            <a:miter lim="400000"/>
          </a:ln>
        </p:spPr>
      </p:pic>
      <p:pic>
        <p:nvPicPr>
          <p:cNvPr id="363" name="Image 8" descr="Image 8"/>
          <p:cNvPicPr>
            <a:picLocks noChangeAspect="1"/>
          </p:cNvPicPr>
          <p:nvPr/>
        </p:nvPicPr>
        <p:blipFill>
          <a:blip r:embed="rId5"/>
          <a:stretch>
            <a:fillRect/>
          </a:stretch>
        </p:blipFill>
        <p:spPr>
          <a:xfrm>
            <a:off x="8833125" y="457535"/>
            <a:ext cx="120477" cy="107274"/>
          </a:xfrm>
          <a:prstGeom prst="rect">
            <a:avLst/>
          </a:prstGeom>
          <a:ln w="12700">
            <a:miter lim="400000"/>
          </a:ln>
        </p:spPr>
      </p:pic>
      <p:sp>
        <p:nvSpPr>
          <p:cNvPr id="364" name="Text 4"/>
          <p:cNvSpPr txBox="1"/>
          <p:nvPr/>
        </p:nvSpPr>
        <p:spPr>
          <a:xfrm>
            <a:off x="521969" y="337980"/>
            <a:ext cx="3794761"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r>
              <a:rPr lang="en-GB" dirty="0"/>
              <a:t>MIGRATION</a:t>
            </a:r>
            <a:endParaRPr dirty="0"/>
          </a:p>
        </p:txBody>
      </p:sp>
      <p:sp>
        <p:nvSpPr>
          <p:cNvPr id="365" name="Text 5"/>
          <p:cNvSpPr txBox="1"/>
          <p:nvPr/>
        </p:nvSpPr>
        <p:spPr>
          <a:xfrm>
            <a:off x="521969" y="592823"/>
            <a:ext cx="5510696" cy="4898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nchor="ctr">
            <a:spAutoFit/>
          </a:bodyPr>
          <a:lstStyle/>
          <a:p>
            <a:pPr>
              <a:lnSpc>
                <a:spcPts val="3100"/>
              </a:lnSpc>
              <a:defRPr sz="2400" spc="-52">
                <a:solidFill>
                  <a:srgbClr val="FFFFFF">
                    <a:alpha val="99000"/>
                  </a:srgbClr>
                </a:solidFill>
                <a:latin typeface="Overpass Mono"/>
                <a:ea typeface="Overpass Mono"/>
                <a:cs typeface="Overpass Mono"/>
                <a:sym typeface="Overpass Mono"/>
              </a:defRPr>
            </a:pPr>
            <a:r>
              <a:rPr sz="2800" dirty="0"/>
              <a:t>Adapt your </a:t>
            </a:r>
            <a:r>
              <a:rPr sz="2800" b="1" dirty="0" err="1"/>
              <a:t>hardhat.config.ts</a:t>
            </a:r>
            <a:endParaRPr sz="2800" b="1" dirty="0"/>
          </a:p>
        </p:txBody>
      </p:sp>
      <p:pic>
        <p:nvPicPr>
          <p:cNvPr id="4" name="Picture 3" descr="A screen shot of a computer code&#10;&#10;AI-generated content may be incorrect.">
            <a:extLst>
              <a:ext uri="{FF2B5EF4-FFF2-40B4-BE49-F238E27FC236}">
                <a16:creationId xmlns:a16="http://schemas.microsoft.com/office/drawing/2014/main" id="{599EAD5F-C74A-4930-7DB0-F86DE01E608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1050771"/>
            <a:ext cx="9144000" cy="3289610"/>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a:extLst>
            <a:ext uri="{FF2B5EF4-FFF2-40B4-BE49-F238E27FC236}">
              <a16:creationId xmlns:a16="http://schemas.microsoft.com/office/drawing/2014/main" id="{EB85C411-B9B0-9C7C-74C6-B62F5F16D498}"/>
            </a:ext>
          </a:extLst>
        </p:cNvPr>
        <p:cNvGrpSpPr/>
        <p:nvPr/>
      </p:nvGrpSpPr>
      <p:grpSpPr>
        <a:xfrm>
          <a:off x="0" y="0"/>
          <a:ext cx="0" cy="0"/>
          <a:chOff x="0" y="0"/>
          <a:chExt cx="0" cy="0"/>
        </a:xfrm>
      </p:grpSpPr>
      <p:pic>
        <p:nvPicPr>
          <p:cNvPr id="355" name="Image 0" descr="Image 0">
            <a:extLst>
              <a:ext uri="{FF2B5EF4-FFF2-40B4-BE49-F238E27FC236}">
                <a16:creationId xmlns:a16="http://schemas.microsoft.com/office/drawing/2014/main" id="{F927CBBA-D4CD-A956-9723-330FFA121CF7}"/>
              </a:ext>
            </a:extLst>
          </p:cNvPr>
          <p:cNvPicPr>
            <a:picLocks noChangeAspect="1"/>
          </p:cNvPicPr>
          <p:nvPr/>
        </p:nvPicPr>
        <p:blipFill>
          <a:blip r:embed="rId3"/>
          <a:stretch>
            <a:fillRect/>
          </a:stretch>
        </p:blipFill>
        <p:spPr>
          <a:xfrm>
            <a:off x="6243637" y="1804988"/>
            <a:ext cx="1781176" cy="1781176"/>
          </a:xfrm>
          <a:prstGeom prst="rect">
            <a:avLst/>
          </a:prstGeom>
          <a:ln w="12700">
            <a:miter lim="400000"/>
          </a:ln>
        </p:spPr>
      </p:pic>
      <p:pic>
        <p:nvPicPr>
          <p:cNvPr id="356" name="Image 1" descr="Image 1">
            <a:extLst>
              <a:ext uri="{FF2B5EF4-FFF2-40B4-BE49-F238E27FC236}">
                <a16:creationId xmlns:a16="http://schemas.microsoft.com/office/drawing/2014/main" id="{A9672B09-2CDE-C3C4-5E56-984142305FA8}"/>
              </a:ext>
            </a:extLst>
          </p:cNvPr>
          <p:cNvPicPr>
            <a:picLocks noChangeAspect="1"/>
          </p:cNvPicPr>
          <p:nvPr/>
        </p:nvPicPr>
        <p:blipFill>
          <a:blip r:embed="rId4"/>
          <a:stretch>
            <a:fillRect/>
          </a:stretch>
        </p:blipFill>
        <p:spPr>
          <a:xfrm>
            <a:off x="8831842" y="209550"/>
            <a:ext cx="120477" cy="107273"/>
          </a:xfrm>
          <a:prstGeom prst="rect">
            <a:avLst/>
          </a:prstGeom>
          <a:ln w="12700">
            <a:miter lim="400000"/>
          </a:ln>
        </p:spPr>
      </p:pic>
      <p:pic>
        <p:nvPicPr>
          <p:cNvPr id="357" name="Image 2" descr="Image 2">
            <a:extLst>
              <a:ext uri="{FF2B5EF4-FFF2-40B4-BE49-F238E27FC236}">
                <a16:creationId xmlns:a16="http://schemas.microsoft.com/office/drawing/2014/main" id="{E1C9B8F1-76EE-5253-24D3-0C7D5D458570}"/>
              </a:ext>
            </a:extLst>
          </p:cNvPr>
          <p:cNvPicPr>
            <a:picLocks noChangeAspect="1"/>
          </p:cNvPicPr>
          <p:nvPr/>
        </p:nvPicPr>
        <p:blipFill>
          <a:blip r:embed="rId5"/>
          <a:stretch>
            <a:fillRect/>
          </a:stretch>
        </p:blipFill>
        <p:spPr>
          <a:xfrm>
            <a:off x="8776720" y="209550"/>
            <a:ext cx="120477" cy="107273"/>
          </a:xfrm>
          <a:prstGeom prst="rect">
            <a:avLst/>
          </a:prstGeom>
          <a:ln w="12700">
            <a:miter lim="400000"/>
          </a:ln>
        </p:spPr>
      </p:pic>
      <p:pic>
        <p:nvPicPr>
          <p:cNvPr id="358" name="Image 3" descr="Image 3">
            <a:extLst>
              <a:ext uri="{FF2B5EF4-FFF2-40B4-BE49-F238E27FC236}">
                <a16:creationId xmlns:a16="http://schemas.microsoft.com/office/drawing/2014/main" id="{F8FF0723-B9CE-DBBA-568F-B7E3A48DE32F}"/>
              </a:ext>
            </a:extLst>
          </p:cNvPr>
          <p:cNvPicPr>
            <a:picLocks noChangeAspect="1"/>
          </p:cNvPicPr>
          <p:nvPr/>
        </p:nvPicPr>
        <p:blipFill>
          <a:blip r:embed="rId6"/>
          <a:stretch>
            <a:fillRect/>
          </a:stretch>
        </p:blipFill>
        <p:spPr>
          <a:xfrm>
            <a:off x="8721124" y="307298"/>
            <a:ext cx="120477" cy="105516"/>
          </a:xfrm>
          <a:prstGeom prst="rect">
            <a:avLst/>
          </a:prstGeom>
          <a:ln w="12700">
            <a:miter lim="400000"/>
          </a:ln>
        </p:spPr>
      </p:pic>
      <p:pic>
        <p:nvPicPr>
          <p:cNvPr id="359" name="Image 4" descr="Image 4">
            <a:extLst>
              <a:ext uri="{FF2B5EF4-FFF2-40B4-BE49-F238E27FC236}">
                <a16:creationId xmlns:a16="http://schemas.microsoft.com/office/drawing/2014/main" id="{6DBA7E31-8AAC-C5EE-8F80-ACDE31D1736C}"/>
              </a:ext>
            </a:extLst>
          </p:cNvPr>
          <p:cNvPicPr>
            <a:picLocks noChangeAspect="1"/>
          </p:cNvPicPr>
          <p:nvPr/>
        </p:nvPicPr>
        <p:blipFill>
          <a:blip r:embed="rId4"/>
          <a:stretch>
            <a:fillRect/>
          </a:stretch>
        </p:blipFill>
        <p:spPr>
          <a:xfrm>
            <a:off x="8721122" y="209550"/>
            <a:ext cx="120477" cy="107273"/>
          </a:xfrm>
          <a:prstGeom prst="rect">
            <a:avLst/>
          </a:prstGeom>
          <a:ln w="12700">
            <a:miter lim="400000"/>
          </a:ln>
        </p:spPr>
      </p:pic>
      <p:pic>
        <p:nvPicPr>
          <p:cNvPr id="360" name="Image 5" descr="Image 5">
            <a:extLst>
              <a:ext uri="{FF2B5EF4-FFF2-40B4-BE49-F238E27FC236}">
                <a16:creationId xmlns:a16="http://schemas.microsoft.com/office/drawing/2014/main" id="{30E42393-22D8-06CF-4FB7-B455BE05A210}"/>
              </a:ext>
            </a:extLst>
          </p:cNvPr>
          <p:cNvPicPr>
            <a:picLocks noChangeAspect="1"/>
          </p:cNvPicPr>
          <p:nvPr/>
        </p:nvPicPr>
        <p:blipFill>
          <a:blip r:embed="rId5"/>
          <a:stretch>
            <a:fillRect/>
          </a:stretch>
        </p:blipFill>
        <p:spPr>
          <a:xfrm>
            <a:off x="8722407" y="457535"/>
            <a:ext cx="120477" cy="107274"/>
          </a:xfrm>
          <a:prstGeom prst="rect">
            <a:avLst/>
          </a:prstGeom>
          <a:ln w="12700">
            <a:miter lim="400000"/>
          </a:ln>
        </p:spPr>
      </p:pic>
      <p:pic>
        <p:nvPicPr>
          <p:cNvPr id="361" name="Image 6" descr="Image 6">
            <a:extLst>
              <a:ext uri="{FF2B5EF4-FFF2-40B4-BE49-F238E27FC236}">
                <a16:creationId xmlns:a16="http://schemas.microsoft.com/office/drawing/2014/main" id="{3F8DBAEA-7B5E-0617-74C0-06CDF1380075}"/>
              </a:ext>
            </a:extLst>
          </p:cNvPr>
          <p:cNvPicPr>
            <a:picLocks noChangeAspect="1"/>
          </p:cNvPicPr>
          <p:nvPr/>
        </p:nvPicPr>
        <p:blipFill>
          <a:blip r:embed="rId4"/>
          <a:stretch>
            <a:fillRect/>
          </a:stretch>
        </p:blipFill>
        <p:spPr>
          <a:xfrm>
            <a:off x="8777529" y="457535"/>
            <a:ext cx="120477" cy="107274"/>
          </a:xfrm>
          <a:prstGeom prst="rect">
            <a:avLst/>
          </a:prstGeom>
          <a:ln w="12700">
            <a:miter lim="400000"/>
          </a:ln>
        </p:spPr>
      </p:pic>
      <p:pic>
        <p:nvPicPr>
          <p:cNvPr id="362" name="Image 7" descr="Image 7">
            <a:extLst>
              <a:ext uri="{FF2B5EF4-FFF2-40B4-BE49-F238E27FC236}">
                <a16:creationId xmlns:a16="http://schemas.microsoft.com/office/drawing/2014/main" id="{A3560AB0-426F-1806-F286-DD6CF8E1ECBB}"/>
              </a:ext>
            </a:extLst>
          </p:cNvPr>
          <p:cNvPicPr>
            <a:picLocks noChangeAspect="1"/>
          </p:cNvPicPr>
          <p:nvPr/>
        </p:nvPicPr>
        <p:blipFill>
          <a:blip r:embed="rId4"/>
          <a:stretch>
            <a:fillRect/>
          </a:stretch>
        </p:blipFill>
        <p:spPr>
          <a:xfrm>
            <a:off x="8833125" y="359787"/>
            <a:ext cx="120477" cy="107273"/>
          </a:xfrm>
          <a:prstGeom prst="rect">
            <a:avLst/>
          </a:prstGeom>
          <a:ln w="12700">
            <a:miter lim="400000"/>
          </a:ln>
        </p:spPr>
      </p:pic>
      <p:pic>
        <p:nvPicPr>
          <p:cNvPr id="363" name="Image 8" descr="Image 8">
            <a:extLst>
              <a:ext uri="{FF2B5EF4-FFF2-40B4-BE49-F238E27FC236}">
                <a16:creationId xmlns:a16="http://schemas.microsoft.com/office/drawing/2014/main" id="{79143AC7-6EDE-22EB-E912-ED18CD141384}"/>
              </a:ext>
            </a:extLst>
          </p:cNvPr>
          <p:cNvPicPr>
            <a:picLocks noChangeAspect="1"/>
          </p:cNvPicPr>
          <p:nvPr/>
        </p:nvPicPr>
        <p:blipFill>
          <a:blip r:embed="rId5"/>
          <a:stretch>
            <a:fillRect/>
          </a:stretch>
        </p:blipFill>
        <p:spPr>
          <a:xfrm>
            <a:off x="8833125" y="457535"/>
            <a:ext cx="120477" cy="107274"/>
          </a:xfrm>
          <a:prstGeom prst="rect">
            <a:avLst/>
          </a:prstGeom>
          <a:ln w="12700">
            <a:miter lim="400000"/>
          </a:ln>
        </p:spPr>
      </p:pic>
      <p:sp>
        <p:nvSpPr>
          <p:cNvPr id="364" name="Text 4">
            <a:extLst>
              <a:ext uri="{FF2B5EF4-FFF2-40B4-BE49-F238E27FC236}">
                <a16:creationId xmlns:a16="http://schemas.microsoft.com/office/drawing/2014/main" id="{19C250DE-7953-9C22-E1FA-504655782EBA}"/>
              </a:ext>
            </a:extLst>
          </p:cNvPr>
          <p:cNvSpPr txBox="1"/>
          <p:nvPr/>
        </p:nvSpPr>
        <p:spPr>
          <a:xfrm>
            <a:off x="521969" y="337980"/>
            <a:ext cx="3794761" cy="2527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r>
              <a:rPr lang="en-GB" dirty="0"/>
              <a:t>MIGRATION</a:t>
            </a:r>
            <a:endParaRPr dirty="0"/>
          </a:p>
        </p:txBody>
      </p:sp>
      <p:sp>
        <p:nvSpPr>
          <p:cNvPr id="365" name="Text 5">
            <a:extLst>
              <a:ext uri="{FF2B5EF4-FFF2-40B4-BE49-F238E27FC236}">
                <a16:creationId xmlns:a16="http://schemas.microsoft.com/office/drawing/2014/main" id="{BB11F765-ACB2-4A04-689F-375CB6C0367E}"/>
              </a:ext>
            </a:extLst>
          </p:cNvPr>
          <p:cNvSpPr txBox="1"/>
          <p:nvPr/>
        </p:nvSpPr>
        <p:spPr>
          <a:xfrm>
            <a:off x="521969" y="592818"/>
            <a:ext cx="6359782" cy="4898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nchor="ctr">
            <a:spAutoFit/>
          </a:bodyPr>
          <a:lstStyle/>
          <a:p>
            <a:pPr>
              <a:lnSpc>
                <a:spcPts val="3100"/>
              </a:lnSpc>
              <a:defRPr sz="2400" spc="-52">
                <a:solidFill>
                  <a:srgbClr val="FFFFFF">
                    <a:alpha val="99000"/>
                  </a:srgbClr>
                </a:solidFill>
                <a:latin typeface="Overpass Mono"/>
                <a:ea typeface="Overpass Mono"/>
                <a:cs typeface="Overpass Mono"/>
                <a:sym typeface="Overpass Mono"/>
              </a:defRPr>
            </a:pPr>
            <a:r>
              <a:rPr sz="2800" dirty="0"/>
              <a:t>Adapt your </a:t>
            </a:r>
            <a:r>
              <a:rPr lang="en-GB" sz="2800" b="1" dirty="0"/>
              <a:t>network connections</a:t>
            </a:r>
            <a:endParaRPr sz="2800" b="1" dirty="0"/>
          </a:p>
        </p:txBody>
      </p:sp>
      <p:pic>
        <p:nvPicPr>
          <p:cNvPr id="3" name="Picture 2" descr="A screen shot of a computer code&#10;&#10;AI-generated content may be incorrect.">
            <a:extLst>
              <a:ext uri="{FF2B5EF4-FFF2-40B4-BE49-F238E27FC236}">
                <a16:creationId xmlns:a16="http://schemas.microsoft.com/office/drawing/2014/main" id="{7407A40D-69A5-26E3-DE9A-35F158AA527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507" y="632868"/>
            <a:ext cx="8522445" cy="4823191"/>
          </a:xfrm>
          <a:prstGeom prst="rect">
            <a:avLst/>
          </a:prstGeom>
        </p:spPr>
      </p:pic>
    </p:spTree>
    <p:extLst>
      <p:ext uri="{BB962C8B-B14F-4D97-AF65-F5344CB8AC3E}">
        <p14:creationId xmlns:p14="http://schemas.microsoft.com/office/powerpoint/2010/main" val="26442607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253" name="Image 1" descr="Image 1"/>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254" name="Image 2" descr="Image 2"/>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255" name="Image 3" descr="Image 3"/>
          <p:cNvPicPr>
            <a:picLocks noChangeAspect="1"/>
          </p:cNvPicPr>
          <p:nvPr/>
        </p:nvPicPr>
        <p:blipFill>
          <a:blip r:embed="rId5"/>
          <a:stretch>
            <a:fillRect/>
          </a:stretch>
        </p:blipFill>
        <p:spPr>
          <a:xfrm>
            <a:off x="8721131" y="307298"/>
            <a:ext cx="120477" cy="105516"/>
          </a:xfrm>
          <a:prstGeom prst="rect">
            <a:avLst/>
          </a:prstGeom>
          <a:ln w="12700">
            <a:miter lim="400000"/>
          </a:ln>
        </p:spPr>
      </p:pic>
      <p:pic>
        <p:nvPicPr>
          <p:cNvPr id="256" name="Image 4" descr="Image 4"/>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257" name="Image 5" descr="Image 5"/>
          <p:cNvPicPr>
            <a:picLocks noChangeAspect="1"/>
          </p:cNvPicPr>
          <p:nvPr/>
        </p:nvPicPr>
        <p:blipFill>
          <a:blip r:embed="rId4"/>
          <a:stretch>
            <a:fillRect/>
          </a:stretch>
        </p:blipFill>
        <p:spPr>
          <a:xfrm>
            <a:off x="8722414" y="457535"/>
            <a:ext cx="120477" cy="107274"/>
          </a:xfrm>
          <a:prstGeom prst="rect">
            <a:avLst/>
          </a:prstGeom>
          <a:ln w="12700">
            <a:miter lim="400000"/>
          </a:ln>
        </p:spPr>
      </p:pic>
      <p:pic>
        <p:nvPicPr>
          <p:cNvPr id="258" name="Image 6" descr="Image 6"/>
          <p:cNvPicPr>
            <a:picLocks noChangeAspect="1"/>
          </p:cNvPicPr>
          <p:nvPr/>
        </p:nvPicPr>
        <p:blipFill>
          <a:blip r:embed="rId3"/>
          <a:stretch>
            <a:fillRect/>
          </a:stretch>
        </p:blipFill>
        <p:spPr>
          <a:xfrm>
            <a:off x="8777536" y="457535"/>
            <a:ext cx="120477" cy="107274"/>
          </a:xfrm>
          <a:prstGeom prst="rect">
            <a:avLst/>
          </a:prstGeom>
          <a:ln w="12700">
            <a:miter lim="400000"/>
          </a:ln>
        </p:spPr>
      </p:pic>
      <p:pic>
        <p:nvPicPr>
          <p:cNvPr id="259" name="Image 7" descr="Image 7"/>
          <p:cNvPicPr>
            <a:picLocks noChangeAspect="1"/>
          </p:cNvPicPr>
          <p:nvPr/>
        </p:nvPicPr>
        <p:blipFill>
          <a:blip r:embed="rId3"/>
          <a:stretch>
            <a:fillRect/>
          </a:stretch>
        </p:blipFill>
        <p:spPr>
          <a:xfrm>
            <a:off x="8833128" y="359787"/>
            <a:ext cx="120477" cy="107273"/>
          </a:xfrm>
          <a:prstGeom prst="rect">
            <a:avLst/>
          </a:prstGeom>
          <a:ln w="12700">
            <a:miter lim="400000"/>
          </a:ln>
        </p:spPr>
      </p:pic>
      <p:pic>
        <p:nvPicPr>
          <p:cNvPr id="260" name="Image 8" descr="Image 8"/>
          <p:cNvPicPr>
            <a:picLocks noChangeAspect="1"/>
          </p:cNvPicPr>
          <p:nvPr/>
        </p:nvPicPr>
        <p:blipFill>
          <a:blip r:embed="rId4"/>
          <a:stretch>
            <a:fillRect/>
          </a:stretch>
        </p:blipFill>
        <p:spPr>
          <a:xfrm>
            <a:off x="8833129" y="457535"/>
            <a:ext cx="120477" cy="107274"/>
          </a:xfrm>
          <a:prstGeom prst="rect">
            <a:avLst/>
          </a:prstGeom>
          <a:ln w="12700">
            <a:miter lim="400000"/>
          </a:ln>
        </p:spPr>
      </p:pic>
      <p:sp>
        <p:nvSpPr>
          <p:cNvPr id="262" name="Text 3"/>
          <p:cNvSpPr txBox="1"/>
          <p:nvPr/>
        </p:nvSpPr>
        <p:spPr>
          <a:xfrm>
            <a:off x="530397" y="1771371"/>
            <a:ext cx="6571299" cy="883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6300"/>
              </a:lnSpc>
              <a:defRPr sz="5200">
                <a:solidFill>
                  <a:srgbClr val="F8F8FF">
                    <a:alpha val="99000"/>
                  </a:srgbClr>
                </a:solidFill>
                <a:latin typeface="Overpass Mono"/>
                <a:ea typeface="Overpass Mono"/>
                <a:cs typeface="Overpass Mono"/>
                <a:sym typeface="Overpass Mono"/>
              </a:defRPr>
            </a:lvl1pPr>
          </a:lstStyle>
          <a:p>
            <a:r>
              <a:rPr lang="en-GB" dirty="0"/>
              <a:t>What’s next?</a:t>
            </a:r>
            <a:endParaRPr dirty="0"/>
          </a:p>
        </p:txBody>
      </p:sp>
      <p:pic>
        <p:nvPicPr>
          <p:cNvPr id="263" name="hardhat_helmet_colour.png" descr="hardhat_helmet_colour.png"/>
          <p:cNvPicPr>
            <a:picLocks noChangeAspect="1"/>
          </p:cNvPicPr>
          <p:nvPr/>
        </p:nvPicPr>
        <p:blipFill>
          <a:blip r:embed="rId6"/>
          <a:stretch>
            <a:fillRect/>
          </a:stretch>
        </p:blipFill>
        <p:spPr>
          <a:xfrm>
            <a:off x="4249185" y="2022944"/>
            <a:ext cx="3960387" cy="2778872"/>
          </a:xfrm>
          <a:prstGeom prst="rect">
            <a:avLst/>
          </a:prstGeom>
          <a:ln w="12700">
            <a:miter lim="400000"/>
          </a:ln>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267" name="Image 0" descr="Image 0"/>
          <p:cNvPicPr>
            <a:picLocks noChangeAspect="1"/>
          </p:cNvPicPr>
          <p:nvPr/>
        </p:nvPicPr>
        <p:blipFill>
          <a:blip r:embed="rId3"/>
          <a:stretch>
            <a:fillRect/>
          </a:stretch>
        </p:blipFill>
        <p:spPr>
          <a:xfrm>
            <a:off x="6243637" y="309563"/>
            <a:ext cx="1781176" cy="1781176"/>
          </a:xfrm>
          <a:prstGeom prst="rect">
            <a:avLst/>
          </a:prstGeom>
          <a:ln w="12700">
            <a:miter lim="400000"/>
          </a:ln>
        </p:spPr>
      </p:pic>
      <p:pic>
        <p:nvPicPr>
          <p:cNvPr id="268" name="Image 1" descr="Image 1"/>
          <p:cNvPicPr>
            <a:picLocks noChangeAspect="1"/>
          </p:cNvPicPr>
          <p:nvPr/>
        </p:nvPicPr>
        <p:blipFill>
          <a:blip r:embed="rId3"/>
          <a:stretch>
            <a:fillRect/>
          </a:stretch>
        </p:blipFill>
        <p:spPr>
          <a:xfrm>
            <a:off x="6243637" y="2981325"/>
            <a:ext cx="1781176" cy="1781175"/>
          </a:xfrm>
          <a:prstGeom prst="rect">
            <a:avLst/>
          </a:prstGeom>
          <a:ln w="12700">
            <a:miter lim="400000"/>
          </a:ln>
        </p:spPr>
      </p:pic>
      <p:pic>
        <p:nvPicPr>
          <p:cNvPr id="269" name="Image 2" descr="Image 2"/>
          <p:cNvPicPr>
            <a:picLocks noChangeAspect="1"/>
          </p:cNvPicPr>
          <p:nvPr/>
        </p:nvPicPr>
        <p:blipFill>
          <a:blip r:embed="rId4"/>
          <a:stretch>
            <a:fillRect/>
          </a:stretch>
        </p:blipFill>
        <p:spPr>
          <a:xfrm>
            <a:off x="6237135" y="3390900"/>
            <a:ext cx="1794189" cy="1409719"/>
          </a:xfrm>
          <a:prstGeom prst="rect">
            <a:avLst/>
          </a:prstGeom>
          <a:ln w="12700">
            <a:miter lim="400000"/>
          </a:ln>
        </p:spPr>
      </p:pic>
      <p:pic>
        <p:nvPicPr>
          <p:cNvPr id="270" name="Image 4" descr="Image 4"/>
          <p:cNvPicPr>
            <a:picLocks noChangeAspect="1"/>
          </p:cNvPicPr>
          <p:nvPr/>
        </p:nvPicPr>
        <p:blipFill>
          <a:blip r:embed="rId5"/>
          <a:stretch>
            <a:fillRect/>
          </a:stretch>
        </p:blipFill>
        <p:spPr>
          <a:xfrm>
            <a:off x="8831842" y="209550"/>
            <a:ext cx="120477" cy="107273"/>
          </a:xfrm>
          <a:prstGeom prst="rect">
            <a:avLst/>
          </a:prstGeom>
          <a:ln w="12700">
            <a:miter lim="400000"/>
          </a:ln>
        </p:spPr>
      </p:pic>
      <p:pic>
        <p:nvPicPr>
          <p:cNvPr id="271" name="Image 5" descr="Image 5"/>
          <p:cNvPicPr>
            <a:picLocks noChangeAspect="1"/>
          </p:cNvPicPr>
          <p:nvPr/>
        </p:nvPicPr>
        <p:blipFill>
          <a:blip r:embed="rId6"/>
          <a:stretch>
            <a:fillRect/>
          </a:stretch>
        </p:blipFill>
        <p:spPr>
          <a:xfrm>
            <a:off x="8776720" y="209550"/>
            <a:ext cx="120477" cy="107273"/>
          </a:xfrm>
          <a:prstGeom prst="rect">
            <a:avLst/>
          </a:prstGeom>
          <a:ln w="12700">
            <a:miter lim="400000"/>
          </a:ln>
        </p:spPr>
      </p:pic>
      <p:pic>
        <p:nvPicPr>
          <p:cNvPr id="272" name="Image 6" descr="Image 6"/>
          <p:cNvPicPr>
            <a:picLocks noChangeAspect="1"/>
          </p:cNvPicPr>
          <p:nvPr/>
        </p:nvPicPr>
        <p:blipFill>
          <a:blip r:embed="rId7"/>
          <a:stretch>
            <a:fillRect/>
          </a:stretch>
        </p:blipFill>
        <p:spPr>
          <a:xfrm>
            <a:off x="8721124" y="307298"/>
            <a:ext cx="120477" cy="105516"/>
          </a:xfrm>
          <a:prstGeom prst="rect">
            <a:avLst/>
          </a:prstGeom>
          <a:ln w="12700">
            <a:miter lim="400000"/>
          </a:ln>
        </p:spPr>
      </p:pic>
      <p:pic>
        <p:nvPicPr>
          <p:cNvPr id="273" name="Image 7" descr="Image 7"/>
          <p:cNvPicPr>
            <a:picLocks noChangeAspect="1"/>
          </p:cNvPicPr>
          <p:nvPr/>
        </p:nvPicPr>
        <p:blipFill>
          <a:blip r:embed="rId5"/>
          <a:stretch>
            <a:fillRect/>
          </a:stretch>
        </p:blipFill>
        <p:spPr>
          <a:xfrm>
            <a:off x="8721122" y="209550"/>
            <a:ext cx="120477" cy="107273"/>
          </a:xfrm>
          <a:prstGeom prst="rect">
            <a:avLst/>
          </a:prstGeom>
          <a:ln w="12700">
            <a:miter lim="400000"/>
          </a:ln>
        </p:spPr>
      </p:pic>
      <p:pic>
        <p:nvPicPr>
          <p:cNvPr id="274" name="Image 8" descr="Image 8"/>
          <p:cNvPicPr>
            <a:picLocks noChangeAspect="1"/>
          </p:cNvPicPr>
          <p:nvPr/>
        </p:nvPicPr>
        <p:blipFill>
          <a:blip r:embed="rId6"/>
          <a:stretch>
            <a:fillRect/>
          </a:stretch>
        </p:blipFill>
        <p:spPr>
          <a:xfrm>
            <a:off x="8722407" y="457535"/>
            <a:ext cx="120477" cy="107274"/>
          </a:xfrm>
          <a:prstGeom prst="rect">
            <a:avLst/>
          </a:prstGeom>
          <a:ln w="12700">
            <a:miter lim="400000"/>
          </a:ln>
        </p:spPr>
      </p:pic>
      <p:pic>
        <p:nvPicPr>
          <p:cNvPr id="275" name="Image 9" descr="Image 9"/>
          <p:cNvPicPr>
            <a:picLocks noChangeAspect="1"/>
          </p:cNvPicPr>
          <p:nvPr/>
        </p:nvPicPr>
        <p:blipFill>
          <a:blip r:embed="rId5"/>
          <a:stretch>
            <a:fillRect/>
          </a:stretch>
        </p:blipFill>
        <p:spPr>
          <a:xfrm>
            <a:off x="8777529" y="457535"/>
            <a:ext cx="120477" cy="107274"/>
          </a:xfrm>
          <a:prstGeom prst="rect">
            <a:avLst/>
          </a:prstGeom>
          <a:ln w="12700">
            <a:miter lim="400000"/>
          </a:ln>
        </p:spPr>
      </p:pic>
      <p:pic>
        <p:nvPicPr>
          <p:cNvPr id="276" name="Image 10" descr="Image 10"/>
          <p:cNvPicPr>
            <a:picLocks noChangeAspect="1"/>
          </p:cNvPicPr>
          <p:nvPr/>
        </p:nvPicPr>
        <p:blipFill>
          <a:blip r:embed="rId5"/>
          <a:stretch>
            <a:fillRect/>
          </a:stretch>
        </p:blipFill>
        <p:spPr>
          <a:xfrm>
            <a:off x="8833125" y="359787"/>
            <a:ext cx="120477" cy="107273"/>
          </a:xfrm>
          <a:prstGeom prst="rect">
            <a:avLst/>
          </a:prstGeom>
          <a:ln w="12700">
            <a:miter lim="400000"/>
          </a:ln>
        </p:spPr>
      </p:pic>
      <p:pic>
        <p:nvPicPr>
          <p:cNvPr id="277" name="Image 11" descr="Image 11"/>
          <p:cNvPicPr>
            <a:picLocks noChangeAspect="1"/>
          </p:cNvPicPr>
          <p:nvPr/>
        </p:nvPicPr>
        <p:blipFill>
          <a:blip r:embed="rId6"/>
          <a:stretch>
            <a:fillRect/>
          </a:stretch>
        </p:blipFill>
        <p:spPr>
          <a:xfrm>
            <a:off x="8833125" y="457535"/>
            <a:ext cx="120477" cy="107274"/>
          </a:xfrm>
          <a:prstGeom prst="rect">
            <a:avLst/>
          </a:prstGeom>
          <a:ln w="12700">
            <a:miter lim="400000"/>
          </a:ln>
        </p:spPr>
      </p:pic>
      <p:sp>
        <p:nvSpPr>
          <p:cNvPr id="278" name="Text 6"/>
          <p:cNvSpPr txBox="1"/>
          <p:nvPr/>
        </p:nvSpPr>
        <p:spPr>
          <a:xfrm>
            <a:off x="521969" y="337980"/>
            <a:ext cx="3794761"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r>
              <a:t>Roadmap</a:t>
            </a:r>
          </a:p>
        </p:txBody>
      </p:sp>
      <p:sp>
        <p:nvSpPr>
          <p:cNvPr id="279" name="Text 7"/>
          <p:cNvSpPr txBox="1"/>
          <p:nvPr/>
        </p:nvSpPr>
        <p:spPr>
          <a:xfrm>
            <a:off x="521969" y="1451292"/>
            <a:ext cx="7320551" cy="1183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7200" spc="-158">
                <a:solidFill>
                  <a:srgbClr val="FFFFFF">
                    <a:alpha val="99000"/>
                  </a:srgbClr>
                </a:solidFill>
                <a:latin typeface="Overpass Mono"/>
                <a:ea typeface="Overpass Mono"/>
                <a:cs typeface="Overpass Mono"/>
                <a:sym typeface="Overpass Mono"/>
              </a:defRPr>
            </a:lvl1pPr>
          </a:lstStyle>
          <a:p>
            <a:r>
              <a:t>Gas Snapshots</a:t>
            </a:r>
          </a:p>
        </p:txBody>
      </p:sp>
      <p:sp>
        <p:nvSpPr>
          <p:cNvPr id="280" name="Text 8"/>
          <p:cNvSpPr txBox="1"/>
          <p:nvPr/>
        </p:nvSpPr>
        <p:spPr>
          <a:xfrm>
            <a:off x="521969" y="2868646"/>
            <a:ext cx="6996302" cy="7349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marL="120315" indent="-120315">
              <a:lnSpc>
                <a:spcPct val="120000"/>
              </a:lnSpc>
              <a:buSzPct val="100000"/>
              <a:buChar char="•"/>
              <a:defRPr>
                <a:solidFill>
                  <a:srgbClr val="FFFFFF">
                    <a:alpha val="99000"/>
                  </a:srgbClr>
                </a:solidFill>
                <a:latin typeface="Overpass"/>
                <a:ea typeface="Overpass"/>
                <a:cs typeface="Overpass"/>
                <a:sym typeface="Overpass"/>
              </a:defRPr>
            </a:pPr>
            <a:r>
              <a:rPr lang="en-GB" dirty="0"/>
              <a:t> </a:t>
            </a:r>
            <a:r>
              <a:rPr dirty="0"/>
              <a:t>Gas statistics are available today</a:t>
            </a:r>
          </a:p>
          <a:p>
            <a:pPr marL="120315" indent="-120315">
              <a:lnSpc>
                <a:spcPct val="120000"/>
              </a:lnSpc>
              <a:buSzPct val="100000"/>
              <a:buChar char="•"/>
              <a:defRPr>
                <a:solidFill>
                  <a:srgbClr val="FFFFFF">
                    <a:alpha val="99000"/>
                  </a:srgbClr>
                </a:solidFill>
                <a:latin typeface="Overpass"/>
                <a:ea typeface="Overpass"/>
                <a:cs typeface="Overpass"/>
                <a:sym typeface="Overpass"/>
              </a:defRPr>
            </a:pPr>
            <a:r>
              <a:rPr lang="en-GB" dirty="0"/>
              <a:t> Take G</a:t>
            </a:r>
            <a:r>
              <a:rPr dirty="0"/>
              <a:t>as snapshots </a:t>
            </a:r>
            <a:r>
              <a:rPr lang="en-GB" dirty="0"/>
              <a:t>and test gas usage regressions</a:t>
            </a:r>
            <a:endParaRPr dirty="0"/>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sp>
        <p:nvSpPr>
          <p:cNvPr id="282" name="Shape 1"/>
          <p:cNvSpPr/>
          <p:nvPr/>
        </p:nvSpPr>
        <p:spPr>
          <a:xfrm>
            <a:off x="4572000" y="0"/>
            <a:ext cx="4572000" cy="5143500"/>
          </a:xfrm>
          <a:prstGeom prst="rect">
            <a:avLst/>
          </a:prstGeom>
          <a:solidFill>
            <a:srgbClr val="1C1C5D"/>
          </a:solidFill>
          <a:ln w="12700">
            <a:miter lim="400000"/>
          </a:ln>
        </p:spPr>
        <p:txBody>
          <a:bodyPr lIns="45719" rIns="45719"/>
          <a:lstStyle/>
          <a:p>
            <a:endParaRPr/>
          </a:p>
        </p:txBody>
      </p:sp>
      <p:sp>
        <p:nvSpPr>
          <p:cNvPr id="283" name="Shape 2"/>
          <p:cNvSpPr/>
          <p:nvPr/>
        </p:nvSpPr>
        <p:spPr>
          <a:xfrm flipH="1">
            <a:off x="4572635" y="635"/>
            <a:ext cx="1" cy="5143501"/>
          </a:xfrm>
          <a:prstGeom prst="line">
            <a:avLst/>
          </a:prstGeom>
          <a:ln w="12700">
            <a:solidFill>
              <a:srgbClr val="D2D2FF">
                <a:alpha val="20000"/>
              </a:srgbClr>
            </a:solidFill>
          </a:ln>
        </p:spPr>
        <p:txBody>
          <a:bodyPr lIns="45719" rIns="45719"/>
          <a:lstStyle/>
          <a:p>
            <a:endParaRPr/>
          </a:p>
        </p:txBody>
      </p:sp>
      <p:pic>
        <p:nvPicPr>
          <p:cNvPr id="284" name="Image 1" descr="Image 1"/>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285" name="Image 2" descr="Image 2"/>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286" name="Image 3" descr="Image 3"/>
          <p:cNvPicPr>
            <a:picLocks noChangeAspect="1"/>
          </p:cNvPicPr>
          <p:nvPr/>
        </p:nvPicPr>
        <p:blipFill>
          <a:blip r:embed="rId5"/>
          <a:stretch>
            <a:fillRect/>
          </a:stretch>
        </p:blipFill>
        <p:spPr>
          <a:xfrm>
            <a:off x="8721124" y="307298"/>
            <a:ext cx="120477" cy="105516"/>
          </a:xfrm>
          <a:prstGeom prst="rect">
            <a:avLst/>
          </a:prstGeom>
          <a:ln w="12700">
            <a:miter lim="400000"/>
          </a:ln>
        </p:spPr>
      </p:pic>
      <p:pic>
        <p:nvPicPr>
          <p:cNvPr id="287" name="Image 4" descr="Image 4"/>
          <p:cNvPicPr>
            <a:picLocks noChangeAspect="1"/>
          </p:cNvPicPr>
          <p:nvPr/>
        </p:nvPicPr>
        <p:blipFill>
          <a:blip r:embed="rId3"/>
          <a:stretch>
            <a:fillRect/>
          </a:stretch>
        </p:blipFill>
        <p:spPr>
          <a:xfrm>
            <a:off x="8721122" y="209550"/>
            <a:ext cx="120477" cy="107273"/>
          </a:xfrm>
          <a:prstGeom prst="rect">
            <a:avLst/>
          </a:prstGeom>
          <a:ln w="12700">
            <a:miter lim="400000"/>
          </a:ln>
        </p:spPr>
      </p:pic>
      <p:pic>
        <p:nvPicPr>
          <p:cNvPr id="288" name="Image 5" descr="Image 5"/>
          <p:cNvPicPr>
            <a:picLocks noChangeAspect="1"/>
          </p:cNvPicPr>
          <p:nvPr/>
        </p:nvPicPr>
        <p:blipFill>
          <a:blip r:embed="rId4"/>
          <a:stretch>
            <a:fillRect/>
          </a:stretch>
        </p:blipFill>
        <p:spPr>
          <a:xfrm>
            <a:off x="8722407" y="457535"/>
            <a:ext cx="120477" cy="107274"/>
          </a:xfrm>
          <a:prstGeom prst="rect">
            <a:avLst/>
          </a:prstGeom>
          <a:ln w="12700">
            <a:miter lim="400000"/>
          </a:ln>
        </p:spPr>
      </p:pic>
      <p:pic>
        <p:nvPicPr>
          <p:cNvPr id="289" name="Image 6" descr="Image 6"/>
          <p:cNvPicPr>
            <a:picLocks noChangeAspect="1"/>
          </p:cNvPicPr>
          <p:nvPr/>
        </p:nvPicPr>
        <p:blipFill>
          <a:blip r:embed="rId3"/>
          <a:stretch>
            <a:fillRect/>
          </a:stretch>
        </p:blipFill>
        <p:spPr>
          <a:xfrm>
            <a:off x="8777529" y="457535"/>
            <a:ext cx="120477" cy="107274"/>
          </a:xfrm>
          <a:prstGeom prst="rect">
            <a:avLst/>
          </a:prstGeom>
          <a:ln w="12700">
            <a:miter lim="400000"/>
          </a:ln>
        </p:spPr>
      </p:pic>
      <p:pic>
        <p:nvPicPr>
          <p:cNvPr id="290" name="Image 7" descr="Image 7"/>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291" name="Image 8" descr="Image 8"/>
          <p:cNvPicPr>
            <a:picLocks noChangeAspect="1"/>
          </p:cNvPicPr>
          <p:nvPr/>
        </p:nvPicPr>
        <p:blipFill>
          <a:blip r:embed="rId4"/>
          <a:stretch>
            <a:fillRect/>
          </a:stretch>
        </p:blipFill>
        <p:spPr>
          <a:xfrm>
            <a:off x="8833125" y="457535"/>
            <a:ext cx="120477" cy="107274"/>
          </a:xfrm>
          <a:prstGeom prst="rect">
            <a:avLst/>
          </a:prstGeom>
          <a:ln w="12700">
            <a:miter lim="400000"/>
          </a:ln>
        </p:spPr>
      </p:pic>
      <p:sp>
        <p:nvSpPr>
          <p:cNvPr id="292" name="Text 4"/>
          <p:cNvSpPr txBox="1"/>
          <p:nvPr/>
        </p:nvSpPr>
        <p:spPr>
          <a:xfrm>
            <a:off x="521969" y="337980"/>
            <a:ext cx="3794761"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r>
              <a:rPr lang="en-GB" dirty="0"/>
              <a:t>Roadmap</a:t>
            </a:r>
          </a:p>
        </p:txBody>
      </p:sp>
      <p:sp>
        <p:nvSpPr>
          <p:cNvPr id="293" name="Text 5"/>
          <p:cNvSpPr txBox="1"/>
          <p:nvPr/>
        </p:nvSpPr>
        <p:spPr>
          <a:xfrm>
            <a:off x="521969" y="1514616"/>
            <a:ext cx="3985261" cy="4988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3100"/>
              </a:lnSpc>
              <a:defRPr sz="2400" spc="-52">
                <a:solidFill>
                  <a:srgbClr val="FFFFFF">
                    <a:alpha val="99000"/>
                  </a:srgbClr>
                </a:solidFill>
                <a:latin typeface="Overpass Mono"/>
                <a:ea typeface="Overpass Mono"/>
                <a:cs typeface="Overpass Mono"/>
                <a:sym typeface="Overpass Mono"/>
              </a:defRPr>
            </a:lvl1pPr>
          </a:lstStyle>
          <a:p>
            <a:r>
              <a:rPr sz="3200" dirty="0" err="1"/>
              <a:t>Vyper</a:t>
            </a:r>
            <a:r>
              <a:rPr sz="3200" dirty="0"/>
              <a:t> Support</a:t>
            </a:r>
          </a:p>
        </p:txBody>
      </p:sp>
      <p:sp>
        <p:nvSpPr>
          <p:cNvPr id="294" name="Text 6"/>
          <p:cNvSpPr txBox="1"/>
          <p:nvPr/>
        </p:nvSpPr>
        <p:spPr>
          <a:xfrm>
            <a:off x="521969" y="2476738"/>
            <a:ext cx="3985261" cy="15696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marL="171450" indent="-171450">
              <a:buSzPct val="100000"/>
              <a:buFont typeface="Arial" panose="020B0604020202020204" pitchFamily="34" charset="0"/>
              <a:buChar char="•"/>
              <a:defRPr sz="1200">
                <a:solidFill>
                  <a:srgbClr val="FFFFFF">
                    <a:alpha val="99000"/>
                  </a:srgbClr>
                </a:solidFill>
                <a:latin typeface="Overpass"/>
                <a:ea typeface="Overpass"/>
                <a:cs typeface="Overpass"/>
                <a:sym typeface="Overpass"/>
              </a:defRPr>
            </a:pPr>
            <a:r>
              <a:rPr sz="2400" dirty="0"/>
              <a:t>Bring `hardhat-</a:t>
            </a:r>
            <a:r>
              <a:rPr sz="2400" dirty="0" err="1"/>
              <a:t>vyper</a:t>
            </a:r>
            <a:r>
              <a:rPr sz="2400" dirty="0"/>
              <a:t>` to Hardhat 3</a:t>
            </a:r>
            <a:endParaRPr lang="en-GB" sz="2400" dirty="0"/>
          </a:p>
          <a:p>
            <a:pPr marL="171450" indent="-171450">
              <a:buSzPct val="100000"/>
              <a:buFont typeface="Arial" panose="020B0604020202020204" pitchFamily="34" charset="0"/>
              <a:buChar char="•"/>
              <a:defRPr sz="1200">
                <a:solidFill>
                  <a:srgbClr val="FFFFFF">
                    <a:alpha val="99000"/>
                  </a:srgbClr>
                </a:solidFill>
                <a:latin typeface="Overpass"/>
                <a:ea typeface="Overpass"/>
                <a:cs typeface="Overpass"/>
                <a:sym typeface="Overpass"/>
              </a:defRPr>
            </a:pPr>
            <a:r>
              <a:rPr lang="en-GB" sz="2400" dirty="0"/>
              <a:t>Support projects with </a:t>
            </a:r>
            <a:r>
              <a:rPr lang="en-GB" sz="2400" dirty="0" err="1"/>
              <a:t>vyper</a:t>
            </a:r>
            <a:r>
              <a:rPr lang="en-GB" sz="2400" dirty="0"/>
              <a:t> contracts</a:t>
            </a:r>
            <a:endParaRPr sz="2400" dirty="0"/>
          </a:p>
        </p:txBody>
      </p:sp>
      <p:pic>
        <p:nvPicPr>
          <p:cNvPr id="295" name="snek-developer.png" descr="snek-developer.png"/>
          <p:cNvPicPr>
            <a:picLocks noChangeAspect="1"/>
          </p:cNvPicPr>
          <p:nvPr/>
        </p:nvPicPr>
        <p:blipFill>
          <a:blip r:embed="rId6"/>
          <a:stretch>
            <a:fillRect/>
          </a:stretch>
        </p:blipFill>
        <p:spPr>
          <a:xfrm>
            <a:off x="4638040" y="316578"/>
            <a:ext cx="4454053" cy="4285676"/>
          </a:xfrm>
          <a:prstGeom prst="rect">
            <a:avLst/>
          </a:prstGeom>
          <a:ln w="12700">
            <a:miter lim="400000"/>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pic>
        <p:nvPicPr>
          <p:cNvPr id="308" name="bun_logo.png" descr="bun_logo.png"/>
          <p:cNvPicPr>
            <a:picLocks noChangeAspect="1"/>
          </p:cNvPicPr>
          <p:nvPr/>
        </p:nvPicPr>
        <p:blipFill>
          <a:blip r:embed="rId3"/>
          <a:stretch>
            <a:fillRect/>
          </a:stretch>
        </p:blipFill>
        <p:spPr>
          <a:xfrm>
            <a:off x="146947" y="174813"/>
            <a:ext cx="5143501" cy="5143501"/>
          </a:xfrm>
          <a:prstGeom prst="rect">
            <a:avLst/>
          </a:prstGeom>
          <a:ln w="12700">
            <a:miter lim="400000"/>
          </a:ln>
        </p:spPr>
      </p:pic>
      <p:pic>
        <p:nvPicPr>
          <p:cNvPr id="298" name="Image 1" descr="Image 1"/>
          <p:cNvPicPr>
            <a:picLocks noChangeAspect="1"/>
          </p:cNvPicPr>
          <p:nvPr/>
        </p:nvPicPr>
        <p:blipFill>
          <a:blip r:embed="rId4"/>
          <a:stretch>
            <a:fillRect/>
          </a:stretch>
        </p:blipFill>
        <p:spPr>
          <a:xfrm>
            <a:off x="8831842" y="209550"/>
            <a:ext cx="120477" cy="107273"/>
          </a:xfrm>
          <a:prstGeom prst="rect">
            <a:avLst/>
          </a:prstGeom>
          <a:ln w="12700">
            <a:miter lim="400000"/>
          </a:ln>
        </p:spPr>
      </p:pic>
      <p:pic>
        <p:nvPicPr>
          <p:cNvPr id="299" name="Image 2" descr="Image 2"/>
          <p:cNvPicPr>
            <a:picLocks noChangeAspect="1"/>
          </p:cNvPicPr>
          <p:nvPr/>
        </p:nvPicPr>
        <p:blipFill>
          <a:blip r:embed="rId5"/>
          <a:stretch>
            <a:fillRect/>
          </a:stretch>
        </p:blipFill>
        <p:spPr>
          <a:xfrm>
            <a:off x="8776720" y="209550"/>
            <a:ext cx="120477" cy="107273"/>
          </a:xfrm>
          <a:prstGeom prst="rect">
            <a:avLst/>
          </a:prstGeom>
          <a:ln w="12700">
            <a:miter lim="400000"/>
          </a:ln>
        </p:spPr>
      </p:pic>
      <p:pic>
        <p:nvPicPr>
          <p:cNvPr id="300" name="Image 3" descr="Image 3"/>
          <p:cNvPicPr>
            <a:picLocks noChangeAspect="1"/>
          </p:cNvPicPr>
          <p:nvPr/>
        </p:nvPicPr>
        <p:blipFill>
          <a:blip r:embed="rId6"/>
          <a:stretch>
            <a:fillRect/>
          </a:stretch>
        </p:blipFill>
        <p:spPr>
          <a:xfrm>
            <a:off x="8721131" y="307298"/>
            <a:ext cx="120477" cy="105516"/>
          </a:xfrm>
          <a:prstGeom prst="rect">
            <a:avLst/>
          </a:prstGeom>
          <a:ln w="12700">
            <a:miter lim="400000"/>
          </a:ln>
        </p:spPr>
      </p:pic>
      <p:pic>
        <p:nvPicPr>
          <p:cNvPr id="301" name="Image 4" descr="Image 4"/>
          <p:cNvPicPr>
            <a:picLocks noChangeAspect="1"/>
          </p:cNvPicPr>
          <p:nvPr/>
        </p:nvPicPr>
        <p:blipFill>
          <a:blip r:embed="rId4"/>
          <a:stretch>
            <a:fillRect/>
          </a:stretch>
        </p:blipFill>
        <p:spPr>
          <a:xfrm>
            <a:off x="8721128" y="209550"/>
            <a:ext cx="120477" cy="107273"/>
          </a:xfrm>
          <a:prstGeom prst="rect">
            <a:avLst/>
          </a:prstGeom>
          <a:ln w="12700">
            <a:miter lim="400000"/>
          </a:ln>
        </p:spPr>
      </p:pic>
      <p:pic>
        <p:nvPicPr>
          <p:cNvPr id="302" name="Image 5" descr="Image 5"/>
          <p:cNvPicPr>
            <a:picLocks noChangeAspect="1"/>
          </p:cNvPicPr>
          <p:nvPr/>
        </p:nvPicPr>
        <p:blipFill>
          <a:blip r:embed="rId5"/>
          <a:stretch>
            <a:fillRect/>
          </a:stretch>
        </p:blipFill>
        <p:spPr>
          <a:xfrm>
            <a:off x="8722414" y="457535"/>
            <a:ext cx="120477" cy="107274"/>
          </a:xfrm>
          <a:prstGeom prst="rect">
            <a:avLst/>
          </a:prstGeom>
          <a:ln w="12700">
            <a:miter lim="400000"/>
          </a:ln>
        </p:spPr>
      </p:pic>
      <p:pic>
        <p:nvPicPr>
          <p:cNvPr id="303" name="Image 6" descr="Image 6"/>
          <p:cNvPicPr>
            <a:picLocks noChangeAspect="1"/>
          </p:cNvPicPr>
          <p:nvPr/>
        </p:nvPicPr>
        <p:blipFill>
          <a:blip r:embed="rId4"/>
          <a:stretch>
            <a:fillRect/>
          </a:stretch>
        </p:blipFill>
        <p:spPr>
          <a:xfrm>
            <a:off x="8777536" y="457535"/>
            <a:ext cx="120477" cy="107274"/>
          </a:xfrm>
          <a:prstGeom prst="rect">
            <a:avLst/>
          </a:prstGeom>
          <a:ln w="12700">
            <a:miter lim="400000"/>
          </a:ln>
        </p:spPr>
      </p:pic>
      <p:pic>
        <p:nvPicPr>
          <p:cNvPr id="304" name="Image 7" descr="Image 7"/>
          <p:cNvPicPr>
            <a:picLocks noChangeAspect="1"/>
          </p:cNvPicPr>
          <p:nvPr/>
        </p:nvPicPr>
        <p:blipFill>
          <a:blip r:embed="rId4"/>
          <a:stretch>
            <a:fillRect/>
          </a:stretch>
        </p:blipFill>
        <p:spPr>
          <a:xfrm>
            <a:off x="8833128" y="359787"/>
            <a:ext cx="120477" cy="107273"/>
          </a:xfrm>
          <a:prstGeom prst="rect">
            <a:avLst/>
          </a:prstGeom>
          <a:ln w="12700">
            <a:miter lim="400000"/>
          </a:ln>
        </p:spPr>
      </p:pic>
      <p:pic>
        <p:nvPicPr>
          <p:cNvPr id="305" name="Image 8" descr="Image 8"/>
          <p:cNvPicPr>
            <a:picLocks noChangeAspect="1"/>
          </p:cNvPicPr>
          <p:nvPr/>
        </p:nvPicPr>
        <p:blipFill>
          <a:blip r:embed="rId5"/>
          <a:stretch>
            <a:fillRect/>
          </a:stretch>
        </p:blipFill>
        <p:spPr>
          <a:xfrm>
            <a:off x="8833129" y="457535"/>
            <a:ext cx="120477" cy="107274"/>
          </a:xfrm>
          <a:prstGeom prst="rect">
            <a:avLst/>
          </a:prstGeom>
          <a:ln w="12700">
            <a:miter lim="400000"/>
          </a:ln>
        </p:spPr>
      </p:pic>
      <p:sp>
        <p:nvSpPr>
          <p:cNvPr id="306" name="Text 1"/>
          <p:cNvSpPr txBox="1"/>
          <p:nvPr/>
        </p:nvSpPr>
        <p:spPr>
          <a:xfrm>
            <a:off x="521969" y="337980"/>
            <a:ext cx="1270637"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FFFFF">
                    <a:alpha val="99000"/>
                  </a:srgbClr>
                </a:solidFill>
                <a:latin typeface="Overpass"/>
                <a:ea typeface="Overpass"/>
                <a:cs typeface="Overpass"/>
                <a:sym typeface="Overpass"/>
              </a:defRPr>
            </a:lvl1pPr>
          </a:lstStyle>
          <a:p>
            <a:r>
              <a:rPr lang="en-GB" dirty="0"/>
              <a:t>Roadmap</a:t>
            </a:r>
            <a:endParaRPr dirty="0"/>
          </a:p>
        </p:txBody>
      </p:sp>
      <p:sp>
        <p:nvSpPr>
          <p:cNvPr id="307" name="Text 2"/>
          <p:cNvSpPr txBox="1"/>
          <p:nvPr/>
        </p:nvSpPr>
        <p:spPr>
          <a:xfrm>
            <a:off x="3908424" y="2533004"/>
            <a:ext cx="6571298" cy="6166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a:lnSpc>
                <a:spcPts val="3100"/>
              </a:lnSpc>
              <a:defRPr sz="7200" spc="-158">
                <a:solidFill>
                  <a:srgbClr val="D2D2FF">
                    <a:alpha val="99000"/>
                  </a:srgbClr>
                </a:solidFill>
                <a:latin typeface="Overpass Mono"/>
                <a:ea typeface="Overpass Mono"/>
                <a:cs typeface="Overpass Mono"/>
                <a:sym typeface="Overpass Mono"/>
              </a:defRPr>
            </a:pPr>
            <a:r>
              <a:rPr sz="4800" spc="-105"/>
              <a:t>Bun</a:t>
            </a:r>
            <a:r>
              <a:t> </a:t>
            </a:r>
            <a:r>
              <a:rPr sz="4800" spc="-105"/>
              <a:t>support</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p:cNvGrpSpPr/>
        <p:nvPr/>
      </p:nvGrpSpPr>
      <p:grpSpPr>
        <a:xfrm>
          <a:off x="0" y="0"/>
          <a:ext cx="0" cy="0"/>
          <a:chOff x="0" y="0"/>
          <a:chExt cx="0" cy="0"/>
        </a:xfrm>
      </p:grpSpPr>
      <p:sp>
        <p:nvSpPr>
          <p:cNvPr id="312" name="Shape 0"/>
          <p:cNvSpPr/>
          <p:nvPr/>
        </p:nvSpPr>
        <p:spPr>
          <a:xfrm flipH="1">
            <a:off x="4572635" y="635"/>
            <a:ext cx="1" cy="5143501"/>
          </a:xfrm>
          <a:prstGeom prst="line">
            <a:avLst/>
          </a:prstGeom>
          <a:ln w="12700">
            <a:solidFill>
              <a:srgbClr val="2B247C">
                <a:alpha val="20000"/>
              </a:srgbClr>
            </a:solidFill>
          </a:ln>
        </p:spPr>
        <p:txBody>
          <a:bodyPr lIns="45719" rIns="45719"/>
          <a:lstStyle/>
          <a:p>
            <a:endParaRPr/>
          </a:p>
        </p:txBody>
      </p:sp>
      <p:pic>
        <p:nvPicPr>
          <p:cNvPr id="313" name="Image 0" descr="Image 0"/>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314" name="Image 1" descr="Image 1"/>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315" name="Image 2" descr="Image 2"/>
          <p:cNvPicPr>
            <a:picLocks noChangeAspect="1"/>
          </p:cNvPicPr>
          <p:nvPr/>
        </p:nvPicPr>
        <p:blipFill>
          <a:blip r:embed="rId5"/>
          <a:stretch>
            <a:fillRect/>
          </a:stretch>
        </p:blipFill>
        <p:spPr>
          <a:xfrm>
            <a:off x="8721128" y="307298"/>
            <a:ext cx="120477" cy="105516"/>
          </a:xfrm>
          <a:prstGeom prst="rect">
            <a:avLst/>
          </a:prstGeom>
          <a:ln w="12700">
            <a:miter lim="400000"/>
          </a:ln>
        </p:spPr>
      </p:pic>
      <p:pic>
        <p:nvPicPr>
          <p:cNvPr id="316" name="Image 3" descr="Image 3"/>
          <p:cNvPicPr>
            <a:picLocks noChangeAspect="1"/>
          </p:cNvPicPr>
          <p:nvPr/>
        </p:nvPicPr>
        <p:blipFill>
          <a:blip r:embed="rId3"/>
          <a:stretch>
            <a:fillRect/>
          </a:stretch>
        </p:blipFill>
        <p:spPr>
          <a:xfrm>
            <a:off x="8721128" y="209550"/>
            <a:ext cx="120477" cy="107273"/>
          </a:xfrm>
          <a:prstGeom prst="rect">
            <a:avLst/>
          </a:prstGeom>
          <a:ln w="12700">
            <a:miter lim="400000"/>
          </a:ln>
        </p:spPr>
      </p:pic>
      <p:pic>
        <p:nvPicPr>
          <p:cNvPr id="317" name="Image 4" descr="Image 4"/>
          <p:cNvPicPr>
            <a:picLocks noChangeAspect="1"/>
          </p:cNvPicPr>
          <p:nvPr/>
        </p:nvPicPr>
        <p:blipFill>
          <a:blip r:embed="rId4"/>
          <a:stretch>
            <a:fillRect/>
          </a:stretch>
        </p:blipFill>
        <p:spPr>
          <a:xfrm>
            <a:off x="8722417" y="457535"/>
            <a:ext cx="120477" cy="107274"/>
          </a:xfrm>
          <a:prstGeom prst="rect">
            <a:avLst/>
          </a:prstGeom>
          <a:ln w="12700">
            <a:miter lim="400000"/>
          </a:ln>
        </p:spPr>
      </p:pic>
      <p:pic>
        <p:nvPicPr>
          <p:cNvPr id="318" name="Image 5" descr="Image 5"/>
          <p:cNvPicPr>
            <a:picLocks noChangeAspect="1"/>
          </p:cNvPicPr>
          <p:nvPr/>
        </p:nvPicPr>
        <p:blipFill>
          <a:blip r:embed="rId3"/>
          <a:stretch>
            <a:fillRect/>
          </a:stretch>
        </p:blipFill>
        <p:spPr>
          <a:xfrm>
            <a:off x="8777538" y="457535"/>
            <a:ext cx="120477" cy="107274"/>
          </a:xfrm>
          <a:prstGeom prst="rect">
            <a:avLst/>
          </a:prstGeom>
          <a:ln w="12700">
            <a:miter lim="400000"/>
          </a:ln>
        </p:spPr>
      </p:pic>
      <p:pic>
        <p:nvPicPr>
          <p:cNvPr id="319" name="Image 6" descr="Image 6"/>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320" name="Image 7" descr="Image 7"/>
          <p:cNvPicPr>
            <a:picLocks noChangeAspect="1"/>
          </p:cNvPicPr>
          <p:nvPr/>
        </p:nvPicPr>
        <p:blipFill>
          <a:blip r:embed="rId4"/>
          <a:stretch>
            <a:fillRect/>
          </a:stretch>
        </p:blipFill>
        <p:spPr>
          <a:xfrm>
            <a:off x="8833131" y="457535"/>
            <a:ext cx="120477" cy="107274"/>
          </a:xfrm>
          <a:prstGeom prst="rect">
            <a:avLst/>
          </a:prstGeom>
          <a:ln w="12700">
            <a:miter lim="400000"/>
          </a:ln>
        </p:spPr>
      </p:pic>
      <p:sp>
        <p:nvSpPr>
          <p:cNvPr id="321" name="Text 3"/>
          <p:cNvSpPr txBox="1"/>
          <p:nvPr/>
        </p:nvSpPr>
        <p:spPr>
          <a:xfrm>
            <a:off x="521969" y="337980"/>
            <a:ext cx="3794761"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8F8FF">
                    <a:alpha val="99000"/>
                  </a:srgbClr>
                </a:solidFill>
                <a:latin typeface="Overpass"/>
                <a:ea typeface="Overpass"/>
                <a:cs typeface="Overpass"/>
                <a:sym typeface="Overpass"/>
              </a:defRPr>
            </a:lvl1pPr>
          </a:lstStyle>
          <a:p>
            <a:endParaRPr dirty="0"/>
          </a:p>
        </p:txBody>
      </p:sp>
      <p:sp>
        <p:nvSpPr>
          <p:cNvPr id="322" name="Text 4"/>
          <p:cNvSpPr txBox="1"/>
          <p:nvPr/>
        </p:nvSpPr>
        <p:spPr>
          <a:xfrm>
            <a:off x="742587" y="1971585"/>
            <a:ext cx="7657558" cy="12003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p>
            <a:pPr algn="ctr">
              <a:defRPr sz="4800" spc="-105">
                <a:solidFill>
                  <a:srgbClr val="FFFFFF">
                    <a:alpha val="99000"/>
                  </a:srgbClr>
                </a:solidFill>
                <a:latin typeface="Overpass Mono"/>
                <a:ea typeface="Overpass Mono"/>
                <a:cs typeface="Overpass Mono"/>
                <a:sym typeface="Overpass Mono"/>
              </a:defRPr>
            </a:pPr>
            <a:r>
              <a:rPr sz="7200" b="1" dirty="0"/>
              <a:t>More</a:t>
            </a:r>
            <a:r>
              <a:rPr sz="7200" dirty="0"/>
              <a:t> </a:t>
            </a:r>
            <a:r>
              <a:rPr sz="7200" i="1" dirty="0"/>
              <a:t>Performance</a:t>
            </a:r>
          </a:p>
        </p:txBody>
      </p:sp>
      <p:sp>
        <p:nvSpPr>
          <p:cNvPr id="2" name="Text 1">
            <a:extLst>
              <a:ext uri="{FF2B5EF4-FFF2-40B4-BE49-F238E27FC236}">
                <a16:creationId xmlns:a16="http://schemas.microsoft.com/office/drawing/2014/main" id="{0092E00E-3A77-4B92-6E3A-42966BF26467}"/>
              </a:ext>
            </a:extLst>
          </p:cNvPr>
          <p:cNvSpPr txBox="1"/>
          <p:nvPr/>
        </p:nvSpPr>
        <p:spPr>
          <a:xfrm>
            <a:off x="521969" y="337980"/>
            <a:ext cx="1270637" cy="2527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lnSpc>
                <a:spcPts val="1300"/>
              </a:lnSpc>
              <a:defRPr sz="1000">
                <a:solidFill>
                  <a:srgbClr val="FFFFFF">
                    <a:alpha val="99000"/>
                  </a:srgbClr>
                </a:solidFill>
                <a:latin typeface="Overpass"/>
                <a:ea typeface="Overpass"/>
                <a:cs typeface="Overpass"/>
                <a:sym typeface="Overpass"/>
              </a:defRPr>
            </a:lvl1pPr>
          </a:lstStyle>
          <a:p>
            <a:r>
              <a:rPr lang="en-GB" dirty="0"/>
              <a:t>Roadmap</a:t>
            </a:r>
            <a:endParaRPr dirty="0"/>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B247C"/>
        </a:solidFill>
        <a:effectLst/>
      </p:bgPr>
    </p:bg>
    <p:spTree>
      <p:nvGrpSpPr>
        <p:cNvPr id="1" name="">
          <a:extLst>
            <a:ext uri="{FF2B5EF4-FFF2-40B4-BE49-F238E27FC236}">
              <a16:creationId xmlns:a16="http://schemas.microsoft.com/office/drawing/2014/main" id="{7D5485EA-566E-CE96-52A9-B314E2E47F24}"/>
            </a:ext>
          </a:extLst>
        </p:cNvPr>
        <p:cNvGrpSpPr/>
        <p:nvPr/>
      </p:nvGrpSpPr>
      <p:grpSpPr>
        <a:xfrm>
          <a:off x="0" y="0"/>
          <a:ext cx="0" cy="0"/>
          <a:chOff x="0" y="0"/>
          <a:chExt cx="0" cy="0"/>
        </a:xfrm>
      </p:grpSpPr>
      <p:sp>
        <p:nvSpPr>
          <p:cNvPr id="108" name="Shape 1">
            <a:extLst>
              <a:ext uri="{FF2B5EF4-FFF2-40B4-BE49-F238E27FC236}">
                <a16:creationId xmlns:a16="http://schemas.microsoft.com/office/drawing/2014/main" id="{829A290F-5456-4B23-1768-ECB01910B1DF}"/>
              </a:ext>
            </a:extLst>
          </p:cNvPr>
          <p:cNvSpPr/>
          <p:nvPr/>
        </p:nvSpPr>
        <p:spPr>
          <a:xfrm>
            <a:off x="0" y="881062"/>
            <a:ext cx="9144000" cy="1"/>
          </a:xfrm>
          <a:prstGeom prst="line">
            <a:avLst/>
          </a:prstGeom>
          <a:ln w="12700">
            <a:solidFill>
              <a:srgbClr val="D2D2FF">
                <a:alpha val="20000"/>
              </a:srgbClr>
            </a:solidFill>
          </a:ln>
        </p:spPr>
        <p:txBody>
          <a:bodyPr lIns="45719" rIns="45719"/>
          <a:lstStyle/>
          <a:p>
            <a:endParaRPr/>
          </a:p>
        </p:txBody>
      </p:sp>
      <p:pic>
        <p:nvPicPr>
          <p:cNvPr id="109" name="Image 1" descr="Image 1">
            <a:extLst>
              <a:ext uri="{FF2B5EF4-FFF2-40B4-BE49-F238E27FC236}">
                <a16:creationId xmlns:a16="http://schemas.microsoft.com/office/drawing/2014/main" id="{A49AEE4A-DB9D-2064-7160-6084E4763067}"/>
              </a:ext>
            </a:extLst>
          </p:cNvPr>
          <p:cNvPicPr>
            <a:picLocks noChangeAspect="1"/>
          </p:cNvPicPr>
          <p:nvPr/>
        </p:nvPicPr>
        <p:blipFill>
          <a:blip r:embed="rId3"/>
          <a:stretch>
            <a:fillRect/>
          </a:stretch>
        </p:blipFill>
        <p:spPr>
          <a:xfrm>
            <a:off x="8831842" y="209550"/>
            <a:ext cx="120477" cy="107273"/>
          </a:xfrm>
          <a:prstGeom prst="rect">
            <a:avLst/>
          </a:prstGeom>
          <a:ln w="12700">
            <a:miter lim="400000"/>
          </a:ln>
        </p:spPr>
      </p:pic>
      <p:pic>
        <p:nvPicPr>
          <p:cNvPr id="110" name="Image 2" descr="Image 2">
            <a:extLst>
              <a:ext uri="{FF2B5EF4-FFF2-40B4-BE49-F238E27FC236}">
                <a16:creationId xmlns:a16="http://schemas.microsoft.com/office/drawing/2014/main" id="{D3127F71-934C-8D66-D02C-822A75225868}"/>
              </a:ext>
            </a:extLst>
          </p:cNvPr>
          <p:cNvPicPr>
            <a:picLocks noChangeAspect="1"/>
          </p:cNvPicPr>
          <p:nvPr/>
        </p:nvPicPr>
        <p:blipFill>
          <a:blip r:embed="rId4"/>
          <a:stretch>
            <a:fillRect/>
          </a:stretch>
        </p:blipFill>
        <p:spPr>
          <a:xfrm>
            <a:off x="8776720" y="209550"/>
            <a:ext cx="120477" cy="107273"/>
          </a:xfrm>
          <a:prstGeom prst="rect">
            <a:avLst/>
          </a:prstGeom>
          <a:ln w="12700">
            <a:miter lim="400000"/>
          </a:ln>
        </p:spPr>
      </p:pic>
      <p:pic>
        <p:nvPicPr>
          <p:cNvPr id="111" name="Image 3" descr="Image 3">
            <a:extLst>
              <a:ext uri="{FF2B5EF4-FFF2-40B4-BE49-F238E27FC236}">
                <a16:creationId xmlns:a16="http://schemas.microsoft.com/office/drawing/2014/main" id="{2AEB512E-A02C-1F99-F3B5-BC6FC4D0CC79}"/>
              </a:ext>
            </a:extLst>
          </p:cNvPr>
          <p:cNvPicPr>
            <a:picLocks noChangeAspect="1"/>
          </p:cNvPicPr>
          <p:nvPr/>
        </p:nvPicPr>
        <p:blipFill>
          <a:blip r:embed="rId5"/>
          <a:stretch>
            <a:fillRect/>
          </a:stretch>
        </p:blipFill>
        <p:spPr>
          <a:xfrm>
            <a:off x="8721124" y="307298"/>
            <a:ext cx="120477" cy="105516"/>
          </a:xfrm>
          <a:prstGeom prst="rect">
            <a:avLst/>
          </a:prstGeom>
          <a:ln w="12700">
            <a:miter lim="400000"/>
          </a:ln>
        </p:spPr>
      </p:pic>
      <p:pic>
        <p:nvPicPr>
          <p:cNvPr id="112" name="Image 4" descr="Image 4">
            <a:extLst>
              <a:ext uri="{FF2B5EF4-FFF2-40B4-BE49-F238E27FC236}">
                <a16:creationId xmlns:a16="http://schemas.microsoft.com/office/drawing/2014/main" id="{F39B6122-FEE5-6315-FD3F-3749F89EE6A0}"/>
              </a:ext>
            </a:extLst>
          </p:cNvPr>
          <p:cNvPicPr>
            <a:picLocks noChangeAspect="1"/>
          </p:cNvPicPr>
          <p:nvPr/>
        </p:nvPicPr>
        <p:blipFill>
          <a:blip r:embed="rId3"/>
          <a:stretch>
            <a:fillRect/>
          </a:stretch>
        </p:blipFill>
        <p:spPr>
          <a:xfrm>
            <a:off x="8721122" y="209550"/>
            <a:ext cx="120477" cy="107273"/>
          </a:xfrm>
          <a:prstGeom prst="rect">
            <a:avLst/>
          </a:prstGeom>
          <a:ln w="12700">
            <a:miter lim="400000"/>
          </a:ln>
        </p:spPr>
      </p:pic>
      <p:pic>
        <p:nvPicPr>
          <p:cNvPr id="113" name="Image 5" descr="Image 5">
            <a:extLst>
              <a:ext uri="{FF2B5EF4-FFF2-40B4-BE49-F238E27FC236}">
                <a16:creationId xmlns:a16="http://schemas.microsoft.com/office/drawing/2014/main" id="{03E47DB3-C5F1-DD87-8F11-C81A853DFE01}"/>
              </a:ext>
            </a:extLst>
          </p:cNvPr>
          <p:cNvPicPr>
            <a:picLocks noChangeAspect="1"/>
          </p:cNvPicPr>
          <p:nvPr/>
        </p:nvPicPr>
        <p:blipFill>
          <a:blip r:embed="rId4"/>
          <a:stretch>
            <a:fillRect/>
          </a:stretch>
        </p:blipFill>
        <p:spPr>
          <a:xfrm>
            <a:off x="8722407" y="457535"/>
            <a:ext cx="120477" cy="107274"/>
          </a:xfrm>
          <a:prstGeom prst="rect">
            <a:avLst/>
          </a:prstGeom>
          <a:ln w="12700">
            <a:miter lim="400000"/>
          </a:ln>
        </p:spPr>
      </p:pic>
      <p:pic>
        <p:nvPicPr>
          <p:cNvPr id="114" name="Image 6" descr="Image 6">
            <a:extLst>
              <a:ext uri="{FF2B5EF4-FFF2-40B4-BE49-F238E27FC236}">
                <a16:creationId xmlns:a16="http://schemas.microsoft.com/office/drawing/2014/main" id="{60C31D84-ED2D-60C0-369A-BB3A68BDC923}"/>
              </a:ext>
            </a:extLst>
          </p:cNvPr>
          <p:cNvPicPr>
            <a:picLocks noChangeAspect="1"/>
          </p:cNvPicPr>
          <p:nvPr/>
        </p:nvPicPr>
        <p:blipFill>
          <a:blip r:embed="rId3"/>
          <a:stretch>
            <a:fillRect/>
          </a:stretch>
        </p:blipFill>
        <p:spPr>
          <a:xfrm>
            <a:off x="8777529" y="457535"/>
            <a:ext cx="120477" cy="107274"/>
          </a:xfrm>
          <a:prstGeom prst="rect">
            <a:avLst/>
          </a:prstGeom>
          <a:ln w="12700">
            <a:miter lim="400000"/>
          </a:ln>
        </p:spPr>
      </p:pic>
      <p:pic>
        <p:nvPicPr>
          <p:cNvPr id="115" name="Image 7" descr="Image 7">
            <a:extLst>
              <a:ext uri="{FF2B5EF4-FFF2-40B4-BE49-F238E27FC236}">
                <a16:creationId xmlns:a16="http://schemas.microsoft.com/office/drawing/2014/main" id="{9EA0206C-BCDF-39F8-E1D3-8BF4CE81F155}"/>
              </a:ext>
            </a:extLst>
          </p:cNvPr>
          <p:cNvPicPr>
            <a:picLocks noChangeAspect="1"/>
          </p:cNvPicPr>
          <p:nvPr/>
        </p:nvPicPr>
        <p:blipFill>
          <a:blip r:embed="rId3"/>
          <a:stretch>
            <a:fillRect/>
          </a:stretch>
        </p:blipFill>
        <p:spPr>
          <a:xfrm>
            <a:off x="8833125" y="359787"/>
            <a:ext cx="120477" cy="107273"/>
          </a:xfrm>
          <a:prstGeom prst="rect">
            <a:avLst/>
          </a:prstGeom>
          <a:ln w="12700">
            <a:miter lim="400000"/>
          </a:ln>
        </p:spPr>
      </p:pic>
      <p:pic>
        <p:nvPicPr>
          <p:cNvPr id="116" name="Image 8" descr="Image 8">
            <a:extLst>
              <a:ext uri="{FF2B5EF4-FFF2-40B4-BE49-F238E27FC236}">
                <a16:creationId xmlns:a16="http://schemas.microsoft.com/office/drawing/2014/main" id="{5D994D6C-6555-515B-A981-52B175B7334F}"/>
              </a:ext>
            </a:extLst>
          </p:cNvPr>
          <p:cNvPicPr>
            <a:picLocks noChangeAspect="1"/>
          </p:cNvPicPr>
          <p:nvPr/>
        </p:nvPicPr>
        <p:blipFill>
          <a:blip r:embed="rId4"/>
          <a:stretch>
            <a:fillRect/>
          </a:stretch>
        </p:blipFill>
        <p:spPr>
          <a:xfrm>
            <a:off x="8833125" y="457535"/>
            <a:ext cx="120477" cy="107274"/>
          </a:xfrm>
          <a:prstGeom prst="rect">
            <a:avLst/>
          </a:prstGeom>
          <a:ln w="12700">
            <a:miter lim="400000"/>
          </a:ln>
        </p:spPr>
      </p:pic>
      <p:sp>
        <p:nvSpPr>
          <p:cNvPr id="117" name="Text 3">
            <a:extLst>
              <a:ext uri="{FF2B5EF4-FFF2-40B4-BE49-F238E27FC236}">
                <a16:creationId xmlns:a16="http://schemas.microsoft.com/office/drawing/2014/main" id="{028E2E71-E58D-B351-E12D-A7EB1CE67052}"/>
              </a:ext>
            </a:extLst>
          </p:cNvPr>
          <p:cNvSpPr txBox="1"/>
          <p:nvPr/>
        </p:nvSpPr>
        <p:spPr>
          <a:xfrm>
            <a:off x="426961" y="202734"/>
            <a:ext cx="2189357" cy="5232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2400">
                <a:solidFill>
                  <a:srgbClr val="F8F8FF">
                    <a:alpha val="99000"/>
                  </a:srgbClr>
                </a:solidFill>
                <a:latin typeface="Overpass"/>
                <a:ea typeface="Overpass"/>
                <a:cs typeface="Overpass"/>
                <a:sym typeface="Overpass"/>
              </a:defRPr>
            </a:lvl1pPr>
          </a:lstStyle>
          <a:p>
            <a:r>
              <a:rPr lang="en-GB" sz="2800" dirty="0"/>
              <a:t>Learn more</a:t>
            </a:r>
            <a:endParaRPr sz="2800" dirty="0"/>
          </a:p>
        </p:txBody>
      </p:sp>
      <p:pic>
        <p:nvPicPr>
          <p:cNvPr id="2" name="Picture 1" descr="A qr code with a yellow helmet&#10;&#10;AI-generated content may be incorrect.">
            <a:extLst>
              <a:ext uri="{FF2B5EF4-FFF2-40B4-BE49-F238E27FC236}">
                <a16:creationId xmlns:a16="http://schemas.microsoft.com/office/drawing/2014/main" id="{24D8141B-4B20-2E8C-D632-41522BE3B6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17049" y="1197316"/>
            <a:ext cx="3509901" cy="3509901"/>
          </a:xfrm>
          <a:prstGeom prst="rect">
            <a:avLst/>
          </a:prstGeom>
        </p:spPr>
      </p:pic>
    </p:spTree>
    <p:extLst>
      <p:ext uri="{BB962C8B-B14F-4D97-AF65-F5344CB8AC3E}">
        <p14:creationId xmlns:p14="http://schemas.microsoft.com/office/powerpoint/2010/main" val="1371255732"/>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2045</TotalTime>
  <Words>2475</Words>
  <Application>Microsoft Office PowerPoint</Application>
  <PresentationFormat>On-screen Show (16:9)</PresentationFormat>
  <Paragraphs>160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 Kane</cp:lastModifiedBy>
  <cp:revision>160</cp:revision>
  <dcterms:modified xsi:type="dcterms:W3CDTF">2025-11-18T15:38:15Z</dcterms:modified>
</cp:coreProperties>
</file>