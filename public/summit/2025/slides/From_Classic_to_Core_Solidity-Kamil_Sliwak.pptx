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5143500" cy="9144000"/>
  <p:embeddedFontLst>
    <p:embeddedFont>
      <p:font typeface="IBM Plex Sans"/>
      <p:regular r:id="rId29"/>
      <p:bold r:id="rId30"/>
      <p:italic r:id="rId31"/>
      <p:boldItalic r:id="rId32"/>
    </p:embeddedFont>
    <p:embeddedFont>
      <p:font typeface="Overpass"/>
      <p:regular r:id="rId33"/>
      <p:bold r:id="rId34"/>
      <p:italic r:id="rId35"/>
      <p:boldItalic r:id="rId36"/>
    </p:embeddedFont>
    <p:embeddedFont>
      <p:font typeface="Overpass Mono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BMPlexSa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BMPlexSans-italic.fntdata"/><Relationship Id="rId30" Type="http://schemas.openxmlformats.org/officeDocument/2006/relationships/font" Target="fonts/IBMPlexSans-bold.fntdata"/><Relationship Id="rId11" Type="http://schemas.openxmlformats.org/officeDocument/2006/relationships/slide" Target="slides/slide7.xml"/><Relationship Id="rId33" Type="http://schemas.openxmlformats.org/officeDocument/2006/relationships/font" Target="fonts/Overpass-regular.fntdata"/><Relationship Id="rId10" Type="http://schemas.openxmlformats.org/officeDocument/2006/relationships/slide" Target="slides/slide6.xml"/><Relationship Id="rId32" Type="http://schemas.openxmlformats.org/officeDocument/2006/relationships/font" Target="fonts/IBMPlexSans-boldItalic.fntdata"/><Relationship Id="rId13" Type="http://schemas.openxmlformats.org/officeDocument/2006/relationships/slide" Target="slides/slide9.xml"/><Relationship Id="rId35" Type="http://schemas.openxmlformats.org/officeDocument/2006/relationships/font" Target="fonts/Overpass-italic.fntdata"/><Relationship Id="rId12" Type="http://schemas.openxmlformats.org/officeDocument/2006/relationships/slide" Target="slides/slide8.xml"/><Relationship Id="rId34" Type="http://schemas.openxmlformats.org/officeDocument/2006/relationships/font" Target="fonts/Overpass-bold.fntdata"/><Relationship Id="rId15" Type="http://schemas.openxmlformats.org/officeDocument/2006/relationships/slide" Target="slides/slide11.xml"/><Relationship Id="rId37" Type="http://schemas.openxmlformats.org/officeDocument/2006/relationships/font" Target="fonts/OverpassMono-regular.fntdata"/><Relationship Id="rId14" Type="http://schemas.openxmlformats.org/officeDocument/2006/relationships/slide" Target="slides/slide10.xml"/><Relationship Id="rId36" Type="http://schemas.openxmlformats.org/officeDocument/2006/relationships/font" Target="fonts/Overpass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OverpassMono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8658d66e46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8658d66e46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8658d66e46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658d66e46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8658d66e46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8658d66e46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658d66e4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8658d66e4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8658d66e4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658d66e46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8658d66e46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8658d66e46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658d66e46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8658d66e46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8658d66e46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58d66e46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8658d66e46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658d66e46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658d66e46_0_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8658d66e46_0_1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8658d66e46_0_1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658d66e46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8658d66e46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8658d66e46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658d66e46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8658d66e46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8658d66e46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658d66e46_0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8658d66e46_0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8658d66e46_0_2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658d66e46_0_2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8658d66e46_0_2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8658d66e46_0_2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658d66e46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8658d66e46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8658d66e46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658d66e46_0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8658d66e46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8658d66e46_0_3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658d66e46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8658d66e46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8658d66e46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658d66e46_0_3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8658d66e46_0_3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8658d66e46_0_3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658d66e46_0_3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8658d66e46_0_3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8658d66e46_0_3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8658d66e46_0_3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8658d66e46_0_3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8658d66e46_0_3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658d66e46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8658d66e46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8658d66e46_0_4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658d66e46_0_4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8658d66e46_0_4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8658d66e46_0_4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658d66e46_0_4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8658d66e46_0_4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8658d66e46_0_4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8658d66e46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8658d66e46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8658d66e46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hyperlink" Target="https://www.soliditylang.org/blog/2025/10/21/the-road-to-core-solidity/" TargetMode="External"/><Relationship Id="rId8" Type="http://schemas.openxmlformats.org/officeDocument/2006/relationships/hyperlink" Target="https://www.soliditylang.org/blog/2025/11/14/core-solidity-deep-dive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8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76250" y="1947863"/>
            <a:ext cx="6205538" cy="1252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682038" y="209550"/>
            <a:ext cx="303769" cy="345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3200400"/>
            <a:ext cx="349567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" name="Google Shape;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31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476250" y="165925"/>
            <a:ext cx="15828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IBM Plex Sans"/>
              <a:buNone/>
            </a:pPr>
            <a:r>
              <a:rPr lang="en-US" sz="1050">
                <a:solidFill>
                  <a:srgbClr val="F8F8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18 NOVEMBER 2025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6250" y="1495475"/>
            <a:ext cx="6662700" cy="12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5250"/>
              <a:buFont typeface="Overpass Mono"/>
              <a:buNone/>
            </a:pPr>
            <a:r>
              <a:rPr lang="en-US" sz="5250">
                <a:solidFill>
                  <a:srgbClr val="F8F8FF"/>
                </a:solidFill>
                <a:latin typeface="Overpass Mono"/>
                <a:ea typeface="Overpass Mono"/>
                <a:cs typeface="Overpass Mono"/>
                <a:sym typeface="Overpass Mono"/>
              </a:rPr>
              <a:t>From Classic to Core Solidity </a:t>
            </a:r>
            <a:endParaRPr sz="5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5250"/>
              <a:buFont typeface="Overpass Mono"/>
              <a:buNone/>
            </a:pPr>
            <a:r>
              <a:t/>
            </a:r>
            <a:endParaRPr sz="5250">
              <a:solidFill>
                <a:srgbClr val="F8F8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76250" y="2518950"/>
            <a:ext cx="66627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convergence and interoperability prospects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t/>
            </a:r>
            <a:endParaRPr sz="2400">
              <a:solidFill>
                <a:srgbClr val="D2D2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4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" name="Google Shape;3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" name="Google Shape;4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" name="Google Shape;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4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ABOUT 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76250" y="1781175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Kamil Śliwak</a:t>
            </a:r>
            <a:endParaRPr sz="24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t/>
            </a:r>
            <a:endParaRPr sz="24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Solidity Compiler Team,</a:t>
            </a:r>
            <a:endParaRPr sz="20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Argot Collective</a:t>
            </a:r>
            <a:endParaRPr sz="20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048250" y="1781175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Char char="●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On the team since 2020.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Char char="●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Formerly Solidity co-lead, now acting as project’s facilitator in Argot’s flat structure.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Char char="●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Current focus: driving Classic Solidity design and preparing for the Core Solidity transition.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" name="Google Shape;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8" name="Google Shape;5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" name="Google Shape;5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" name="Google Shape;6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INTRODUCTION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76250" y="714819"/>
            <a:ext cx="79179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Context: read our recent blog posts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55975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https://blog.solidity.org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 u="sng">
                <a:solidFill>
                  <a:schemeClr val="hlink"/>
                </a:solidFill>
                <a:latin typeface="Overpass"/>
                <a:ea typeface="Overpass"/>
                <a:cs typeface="Overpass"/>
                <a:sym typeface="Overpass"/>
                <a:hlinkClick r:id="rId7"/>
              </a:rPr>
              <a:t>The Road to Core Solidity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 u="sng">
                <a:solidFill>
                  <a:schemeClr val="hlink"/>
                </a:solidFill>
                <a:latin typeface="Overpass"/>
                <a:ea typeface="Overpass"/>
                <a:cs typeface="Overpass"/>
                <a:sym typeface="Overpass"/>
                <a:hlinkClick r:id="rId8"/>
              </a:rPr>
              <a:t>Core Solidity Deep Dive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SSA-CFG Yul (TBA)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From Classic to Core Solidity (TBA)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4" name="Google Shape;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" name="Google Shape;7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" name="Google Shape;7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" name="Google Shape;8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INTRODUCTION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76250" y="714819"/>
            <a:ext cx="79179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Motivation</a:t>
            </a: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: avoid the infamous Python 2/Python 3 </a:t>
            </a: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situation</a:t>
            </a: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76250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Full backwards-compatibility means keeping legacy cruft in the language, but breaking changes lead to upgrade friction.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Did we strike the right balance?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What tools do we have at our disposal to avoid spending 10 years in transition?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2" name="Google Shape;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5" name="Google Shape;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6" name="Google Shape;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7" name="Google Shape;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9" name="Google Shape;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INTRODUCTION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76250" y="714819"/>
            <a:ext cx="79179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Talk agenda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76250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AutoNum type="arabicPeriod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Syntactic sugar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AutoNum type="arabicPeriod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Syntax convergence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AutoNum type="arabicPeriod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Automatic translation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AutoNum type="arabicPeriod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Interoperability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8682038" y="209550"/>
            <a:ext cx="303769" cy="345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938" y="0"/>
            <a:ext cx="2252663" cy="1681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0" name="Google Shape;1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" name="Google Shape;11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31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4" name="Google Shape;1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5" name="Google Shape;11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" name="Google Shape;11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1471613" y="2176463"/>
            <a:ext cx="6662738" cy="79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Syntactic sugar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9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9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3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" name="Google Shape;1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1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8" name="Google Shape;12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0" name="Google Shape;1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17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/>
          <p:nvPr/>
        </p:nvSpPr>
        <p:spPr>
          <a:xfrm>
            <a:off x="468708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58D69A"/>
              </a:buClr>
              <a:buSzPts val="1050"/>
              <a:buFont typeface="Overpass"/>
              <a:buNone/>
            </a:pPr>
            <a:r>
              <a:rPr lang="en-US">
                <a:solidFill>
                  <a:srgbClr val="58D69A"/>
                </a:solidFill>
                <a:latin typeface="Overpass"/>
                <a:ea typeface="Overpass"/>
                <a:cs typeface="Overpass"/>
                <a:sym typeface="Overpass"/>
              </a:rPr>
              <a:t>SAIL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048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808CED"/>
              </a:buClr>
              <a:buSzPts val="1050"/>
              <a:buFont typeface="Overpass"/>
              <a:buNone/>
            </a:pPr>
            <a:r>
              <a:rPr lang="en-US">
                <a:solidFill>
                  <a:srgbClr val="808CED"/>
                </a:solidFill>
                <a:latin typeface="Overpass"/>
                <a:ea typeface="Overpass"/>
                <a:cs typeface="Overpass"/>
                <a:sym typeface="Overpass"/>
              </a:rPr>
              <a:t>Core Solidity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048250" y="1714500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All SAIL syntax is valid Core syntax.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Standard library written in SAIL (Yul utility code that used to be generated).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Calibri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High-level abstractions known from Classic Solidity are now just syntactic sugar.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76250" y="1714500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Expressive type system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generics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type classes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algebraic data types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first-class functions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type inference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Minimal features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no contracts as objects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no events or errors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no arithmetic operators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not even loops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only one built-in value type: </a:t>
            </a:r>
            <a:r>
              <a:rPr i="1"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word</a:t>
            </a:r>
            <a:endParaRPr i="1"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heavy reliance on assembly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5066250" y="799425"/>
            <a:ext cx="38862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75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Core Solidity = SAIL + stdlib + sugar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6" name="Google Shape;14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8" name="Google Shape;14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9" name="Google Shape;1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0" name="Google Shape;15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SYNTACTIC SUGAR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76250" y="714819"/>
            <a:ext cx="79179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Core syntax is </a:t>
            </a:r>
            <a:r>
              <a:rPr b="1"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very</a:t>
            </a: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 close to Classic Solidity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76250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Most of the features from Classic Solidity are replicated exactly.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Deliberate omissions: inheritance, try/catch, libraries.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Superficial syntax differences: postfix types, ternary operator, function types.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Explicit use of standard library.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476250" y="1450181"/>
            <a:ext cx="36195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5048250" y="1450181"/>
            <a:ext cx="3619500" cy="22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11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11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7" name="Google Shape;16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1" name="Google Shape;17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SYNTACTIC SUGAR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048250" y="1450181"/>
            <a:ext cx="40767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Too much sugar is not healthy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5048250" y="2353047"/>
            <a:ext cx="4076700" cy="254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Core Solidity is just a means to an end. There are long-standing issues in the language that we must fix.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We would be breaking the syntax sooner or later. The transition is the best moment to lose some old baggage. Rebuilding flawed features just to drop them is counterproductive.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76250" y="1450181"/>
            <a:ext cx="40767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Sugaring is powerful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76250" y="2778919"/>
            <a:ext cx="4076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Designed specifically to reproduce Classic Solidity syntax as-is. We could rebuild 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Classic Solidity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on top of SAIL if we wanted to. But should we?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" name="Google Shape;18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938" y="0"/>
            <a:ext cx="2252663" cy="1681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7" name="Google Shape;18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8" name="Google Shape;18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31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9" name="Google Shape;18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0" name="Google Shape;19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1" name="Google Shape;19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2" name="Google Shape;19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3" name="Google Shape;19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1471613" y="2176463"/>
            <a:ext cx="66627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Convergence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13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2B247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3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13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4" name="Google Shape;2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5" name="Google Shape;20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6" name="Google Shape;20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CONVERGENCE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476250" y="1781175"/>
            <a:ext cx="40767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Significant breaking changes are not a new thing in Solidity</a:t>
            </a:r>
            <a:endParaRPr sz="20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5048250" y="1781175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Past examples:</a:t>
            </a:r>
            <a:endParaRPr sz="1575">
              <a:solidFill>
                <a:srgbClr val="F8F8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Char char="●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0.5.0</a:t>
            </a:r>
            <a:endParaRPr sz="1575">
              <a:solidFill>
                <a:srgbClr val="F8F8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Char char="○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Removal of the </a:t>
            </a:r>
            <a:r>
              <a:rPr i="1"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var</a:t>
            </a: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 keyword.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Calibri"/>
              <a:buChar char="○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Strict scoping of variables.</a:t>
            </a:r>
            <a:endParaRPr sz="1575">
              <a:solidFill>
                <a:srgbClr val="F8F8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Switch from loose assembly to strict assembly.</a:t>
            </a:r>
            <a:endParaRPr sz="1575">
              <a:solidFill>
                <a:srgbClr val="F8F8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42900" lvl="0" marL="3429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0.8.0</a:t>
            </a:r>
            <a:endParaRPr sz="1575">
              <a:solidFill>
                <a:srgbClr val="F8F8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Checked arithmetic by default.</a:t>
            </a:r>
            <a:endParaRPr sz="1575">
              <a:solidFill>
                <a:srgbClr val="F8F8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Strict conversions.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2" name="Google Shape;2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3" name="Google Shape;22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4" name="Google Shape;22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5" name="Google Shape;2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6" name="Google Shape;22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7" name="Google Shape;2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8" name="Google Shape;22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CONVERGENCE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550550" y="714825"/>
            <a:ext cx="78438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Language convergence through breaking releases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476250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Backporting the tedious but superficial Core Solidity changes to Classic Solidity: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postfix types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ternary operator and function type syntax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stub of the standard library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Is a more gradual transition a good thing though?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Less pain, but longer.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We lean towards getting it over with quickly.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/>
          <p:nvPr/>
        </p:nvSpPr>
        <p:spPr>
          <a:xfrm>
            <a:off x="3652838" y="1504950"/>
            <a:ext cx="2009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6657975" y="1504950"/>
            <a:ext cx="2009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500063" y="1504950"/>
            <a:ext cx="2009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0" name="Google Shape;240;p15"/>
          <p:cNvCxnSpPr/>
          <p:nvPr/>
        </p:nvCxnSpPr>
        <p:spPr>
          <a:xfrm rot="5400000">
            <a:off x="53340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15"/>
          <p:cNvCxnSpPr/>
          <p:nvPr/>
        </p:nvCxnSpPr>
        <p:spPr>
          <a:xfrm rot="5400000">
            <a:off x="3514725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5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3" name="Google Shape;2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763" y="3638550"/>
            <a:ext cx="866775" cy="869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4" name="Google Shape;2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6" name="Google Shape;24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7" name="Google Shape;2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8" name="Google Shape;2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9" name="Google Shape;2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0" name="Google Shape;2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1" name="Google Shape;25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CONVERGENCE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500075" y="867300"/>
            <a:ext cx="2466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Prefix vs postfix types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500075" y="1900325"/>
            <a:ext cx="2466900" cy="26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prefix notation: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address payable a;</a:t>
            </a:r>
            <a:endParaRPr i="1"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postfix notation: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a: address payable;</a:t>
            </a:r>
            <a:endParaRPr i="1"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Ambiguity: </a:t>
            </a:r>
            <a:r>
              <a:rPr i="1"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S[3];</a:t>
            </a:r>
            <a:endParaRPr i="1"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array of 3 elements of type </a:t>
            </a:r>
            <a:r>
              <a:rPr i="1"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?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4th element of an array called </a:t>
            </a:r>
            <a:r>
              <a:rPr i="1"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?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6657975" y="867150"/>
            <a:ext cx="2466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Other</a:t>
            </a: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 solutions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6657975" y="1900324"/>
            <a:ext cx="24669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Lexer hack: analysis info fed back to the parser. Complex and frowned upon in modern languages.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Postfix types: clean separation of type and non-type context.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Backporting postfix types would allow lifting some restrictions.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3652850" y="867150"/>
            <a:ext cx="2466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Parsing ambiguity</a:t>
            </a:r>
            <a:endParaRPr sz="24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3652850" y="1900349"/>
            <a:ext cx="24669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Cannot always determine if an identifier is a type without extra information.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 Solidity this affects type conversions, type args of builtins, in Core also optional type annotations.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Current solution: don’t accept complex types there.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938" y="0"/>
            <a:ext cx="2252663" cy="1681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6" name="Google Shape;2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7" name="Google Shape;26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8" name="Google Shape;26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31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9" name="Google Shape;26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0" name="Google Shape;27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1" name="Google Shape;2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2" name="Google Shape;2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6"/>
          <p:cNvSpPr/>
          <p:nvPr/>
        </p:nvSpPr>
        <p:spPr>
          <a:xfrm>
            <a:off x="1471613" y="2176463"/>
            <a:ext cx="66627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Automatic translation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3652838" y="1504950"/>
            <a:ext cx="2009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6657975" y="1504950"/>
            <a:ext cx="2009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500063" y="1504950"/>
            <a:ext cx="2009700" cy="21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17"/>
          <p:cNvCxnSpPr/>
          <p:nvPr/>
        </p:nvCxnSpPr>
        <p:spPr>
          <a:xfrm rot="5400000">
            <a:off x="53340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17"/>
          <p:cNvCxnSpPr/>
          <p:nvPr/>
        </p:nvCxnSpPr>
        <p:spPr>
          <a:xfrm rot="5400000">
            <a:off x="3514725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17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763" y="3638550"/>
            <a:ext cx="866775" cy="8691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7" name="Google Shape;2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8" name="Google Shape;2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9" name="Google Shape;28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0" name="Google Shape;2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1" name="Google Shape;29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2" name="Google Shape;2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3" name="Google Shape;2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4" name="Google Shape;29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7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AUTOMATIC TRANSLATION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500075" y="867300"/>
            <a:ext cx="27288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18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Good at tedious superficial</a:t>
            </a:r>
            <a:endParaRPr sz="18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18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changes</a:t>
            </a:r>
            <a:endParaRPr sz="18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500075" y="1900325"/>
            <a:ext cx="24669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r</a:t>
            </a: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enamed builtins and keywords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postfix types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try/catch (maybe)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6657975" y="867150"/>
            <a:ext cx="2466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18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solidity-upgrade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6657975" y="1900324"/>
            <a:ext cx="24669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Dropped in 0.8.18 (2023).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Could not completely automate migration between our breaking releases. Not useless, but only takes you halfway there and maintenance cost is high.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t/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None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 nature of the transition (postfix types) may make it worth it.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3652850" y="867150"/>
            <a:ext cx="24669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18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Bad at semantic and complex changes</a:t>
            </a:r>
            <a:endParaRPr sz="18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3652850" y="1900349"/>
            <a:ext cx="2466900" cy="30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strict conversions (0.8.0)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associativity of exponentiation (0.8.0)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verpass"/>
              <a:buChar char="●"/>
            </a:pPr>
            <a:r>
              <a:rPr lang="en-US" sz="12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removal of inheritance</a:t>
            </a:r>
            <a:endParaRPr sz="12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938" y="0"/>
            <a:ext cx="2252663" cy="1681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09" name="Google Shape;3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1" name="Google Shape;31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31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2" name="Google Shape;31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3" name="Google Shape;31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5" name="Google Shape;3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6" name="Google Shape;31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8"/>
          <p:cNvSpPr/>
          <p:nvPr/>
        </p:nvSpPr>
        <p:spPr>
          <a:xfrm>
            <a:off x="1471613" y="2176463"/>
            <a:ext cx="66627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Interoperability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5" name="Google Shape;3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6" name="Google Shape;32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7" name="Google Shape;32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8" name="Google Shape;3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0" name="Google Shape;3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1" name="Google Shape;3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2" name="Google Shape;33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9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INTEROPERABILITY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550550" y="714825"/>
            <a:ext cx="78438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Level 0: ABI-level interoperability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476250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Calling external functions across languages. 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Composability is a b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aseline expectation of the platform.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3" name="Google Shape;3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5" name="Google Shape;3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6" name="Google Shape;3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7" name="Google Shape;34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8" name="Google Shape;3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0" name="Google Shape;35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0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INTEROPERABILITY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550550" y="714825"/>
            <a:ext cx="78438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Level 1: Common compilation interface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476250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Arbitrary mix of Classic and Core Solidity files as input.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i="1"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pragma core solidity</a:t>
            </a:r>
            <a:endParaRPr i="1"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No cross-language imports.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Single Standard JSON output - transparent to dev tooling.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Internally: two independent pipelines.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21"/>
          <p:cNvCxnSpPr/>
          <p:nvPr/>
        </p:nvCxnSpPr>
        <p:spPr>
          <a:xfrm rot="5400000">
            <a:off x="2000250" y="2571750"/>
            <a:ext cx="5143500" cy="0"/>
          </a:xfrm>
          <a:prstGeom prst="straightConnector1">
            <a:avLst/>
          </a:prstGeom>
          <a:noFill/>
          <a:ln cap="flat" cmpd="sng" w="12700">
            <a:solidFill>
              <a:srgbClr val="D2D2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21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3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2" name="Google Shape;36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1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3" name="Google Shape;36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24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4" name="Google Shape;36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3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5" name="Google Shape;36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08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6" name="Google Shape;3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7" name="Google Shape;3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17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1"/>
          <p:cNvSpPr/>
          <p:nvPr/>
        </p:nvSpPr>
        <p:spPr>
          <a:xfrm>
            <a:off x="468708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58D69A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INTEROPERABILITY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5048250" y="1714500"/>
            <a:ext cx="40290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Prerequisites: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Same calldata, memory and storage layout for the shared types.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Same cleanup rules for function parameters.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Same mutability guarantees in pure and view functions.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Same memory layout and memory management. 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Challenges: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Code bloat (independent utility code).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Called function is a black box.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Linking at Yul level.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476250" y="1714500"/>
            <a:ext cx="40290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Cross-language imports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free functions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interfaces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events and errors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file-level) constants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1" marL="9144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○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subset of types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Internal function calls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28612" lvl="0" marL="457200" marR="0" rtl="0" algn="l">
              <a:lnSpc>
                <a:spcPct val="125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Overpass"/>
              <a:buChar char="●"/>
            </a:pP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Deploying contracts with </a:t>
            </a:r>
            <a:r>
              <a:rPr i="1"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new</a:t>
            </a:r>
            <a:r>
              <a:rPr lang="en-US" sz="1575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. </a:t>
            </a:r>
            <a:endParaRPr sz="1575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476250" y="957800"/>
            <a:ext cx="3886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Level 2: </a:t>
            </a: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Function-level interoperability</a:t>
            </a:r>
            <a:endParaRPr sz="2000">
              <a:solidFill>
                <a:srgbClr val="FFFFFF"/>
              </a:solidFill>
              <a:latin typeface="Overpass Mono"/>
              <a:ea typeface="Overpass Mono"/>
              <a:cs typeface="Overpass Mono"/>
              <a:sym typeface="Overpass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2B247C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0" name="Google Shape;3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1" name="Google Shape;38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2" name="Google Shape;38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3" name="Google Shape;3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4" name="Google Shape;3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5" name="Google Shape;3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6" name="Google Shape;3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87" name="Google Shape;38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INTEROPERABILITY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550550" y="714825"/>
            <a:ext cx="78438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Level 3: Contract-level interoperability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76250" y="1719525"/>
            <a:ext cx="62436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Contract viewed from the outside consists of: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xternal dispatch (which defines its ABI)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storage layout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○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creation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code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Strip the contract to its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basic parts, then map to the other language's abstraction 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primitives (inheritance/composition)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Just a stopgap. Likely not useful enough.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7" name="Google Shape;3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938" y="0"/>
            <a:ext cx="2252663" cy="1681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8" name="Google Shape;3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9" name="Google Shape;3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0" name="Google Shape;40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31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2" name="Google Shape;4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3" name="Google Shape;4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4" name="Google Shape;40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5" name="Google Shape;40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/>
          <p:nvPr/>
        </p:nvSpPr>
        <p:spPr>
          <a:xfrm>
            <a:off x="1471613" y="2176463"/>
            <a:ext cx="66627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2D2FF"/>
              </a:buClr>
              <a:buSzPts val="2400"/>
              <a:buFont typeface="Overpass Mono"/>
              <a:buNone/>
            </a:pPr>
            <a:r>
              <a:rPr lang="en-US" sz="2400">
                <a:solidFill>
                  <a:srgbClr val="D2D2FF"/>
                </a:solidFill>
                <a:latin typeface="Overpass Mono"/>
                <a:ea typeface="Overpass Mono"/>
                <a:cs typeface="Overpass Mono"/>
                <a:sym typeface="Overpass Mono"/>
              </a:rPr>
              <a:t>Conclusions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63" y="3033713"/>
            <a:ext cx="1481138" cy="14835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4" name="Google Shape;41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5" name="Google Shape;41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6" name="Google Shape;41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129" y="307299"/>
            <a:ext cx="120476" cy="105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7" name="Google Shape;4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8" name="Google Shape;41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2417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9" name="Google Shape;4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753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0" name="Google Shape;4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6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1" name="Google Shape;42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33131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4"/>
          <p:cNvSpPr/>
          <p:nvPr/>
        </p:nvSpPr>
        <p:spPr>
          <a:xfrm>
            <a:off x="476250" y="381000"/>
            <a:ext cx="3886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6571"/>
              </a:lnSpc>
              <a:spcBef>
                <a:spcPts val="0"/>
              </a:spcBef>
              <a:spcAft>
                <a:spcPts val="0"/>
              </a:spcAft>
              <a:buClr>
                <a:srgbClr val="F8F8FF"/>
              </a:buClr>
              <a:buSzPts val="1050"/>
              <a:buFont typeface="Overpass"/>
              <a:buNone/>
            </a:pPr>
            <a:r>
              <a:rPr lang="en-US" sz="1050">
                <a:solidFill>
                  <a:srgbClr val="F8F8FF"/>
                </a:solidFill>
                <a:latin typeface="Overpass"/>
                <a:ea typeface="Overpass"/>
                <a:cs typeface="Overpass"/>
                <a:sym typeface="Overpass"/>
              </a:rPr>
              <a:t>CONCLUSIONS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550550" y="714825"/>
            <a:ext cx="78438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verpass Mono"/>
              <a:buNone/>
            </a:pPr>
            <a:r>
              <a:rPr lang="en-US" sz="2000">
                <a:solidFill>
                  <a:srgbClr val="FFFFFF"/>
                </a:solidFill>
                <a:latin typeface="Overpass Mono"/>
                <a:ea typeface="Overpass Mono"/>
                <a:cs typeface="Overpass Mono"/>
                <a:sym typeface="Overpass Mono"/>
              </a:rPr>
              <a:t>Key takeaways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476250" y="1719525"/>
            <a:ext cx="6439500" cy="27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Sugaring will take us most of the way there.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Interoperability up to function level will help projects make a gradual transition.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verpass"/>
              <a:buChar char="●"/>
            </a:pP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There are ways to go deeper if need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 be</a:t>
            </a:r>
            <a:r>
              <a:rPr lang="en-US" sz="16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, with various trade-offs.</a:t>
            </a:r>
            <a:endParaRPr sz="1600">
              <a:solidFill>
                <a:srgbClr val="FFFFF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/>
          <p:nvPr/>
        </p:nvSpPr>
        <p:spPr>
          <a:xfrm>
            <a:off x="8682038" y="209550"/>
            <a:ext cx="303769" cy="345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2" name="Google Shape;4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3" name="Google Shape;43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31" y="307298"/>
            <a:ext cx="120476" cy="105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4" name="Google Shape;4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5" name="Google Shape;4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6" name="Google Shape;43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7" name="Google Shape;4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8" name="Google Shape;43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5"/>
          <p:cNvSpPr/>
          <p:nvPr/>
        </p:nvSpPr>
        <p:spPr>
          <a:xfrm>
            <a:off x="1471613" y="2262188"/>
            <a:ext cx="6662738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Overpass"/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Q&amp;A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47C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/>
          <p:nvPr/>
        </p:nvSpPr>
        <p:spPr>
          <a:xfrm>
            <a:off x="8682038" y="209550"/>
            <a:ext cx="303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1842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7" name="Google Shape;44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721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8" name="Google Shape;44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1131" y="307298"/>
            <a:ext cx="120476" cy="1055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9" name="Google Shape;4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1128" y="209550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0" name="Google Shape;4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22415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1" name="Google Shape;4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7536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2" name="Google Shape;4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128" y="359787"/>
            <a:ext cx="120476" cy="1072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53" name="Google Shape;45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33129" y="457535"/>
            <a:ext cx="120476" cy="107273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6"/>
          <p:cNvSpPr/>
          <p:nvPr/>
        </p:nvSpPr>
        <p:spPr>
          <a:xfrm>
            <a:off x="1471613" y="2262188"/>
            <a:ext cx="6662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Overpass"/>
              <a:buNone/>
            </a:pPr>
            <a:r>
              <a:rPr lang="en-US" sz="405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Thank you!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