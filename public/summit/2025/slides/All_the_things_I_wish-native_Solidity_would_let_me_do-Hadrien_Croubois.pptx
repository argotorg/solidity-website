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5143500" cy="9144000"/>
  <p:embeddedFontLst>
    <p:embeddedFont>
      <p:font typeface="IBM Plex Sans"/>
      <p:regular r:id="rId23"/>
      <p:bold r:id="rId24"/>
      <p:italic r:id="rId25"/>
      <p:boldItalic r:id="rId26"/>
    </p:embeddedFont>
    <p:embeddedFont>
      <p:font typeface="Inter SemiBold"/>
      <p:regular r:id="rId27"/>
      <p:bold r:id="rId28"/>
      <p:italic r:id="rId29"/>
      <p:boldItalic r:id="rId30"/>
    </p:embeddedFont>
    <p:embeddedFont>
      <p:font typeface="Inter"/>
      <p:regular r:id="rId31"/>
      <p:bold r:id="rId32"/>
      <p:italic r:id="rId33"/>
      <p:boldItalic r:id="rId34"/>
    </p:embeddedFont>
    <p:embeddedFont>
      <p:font typeface="Overpass"/>
      <p:regular r:id="rId35"/>
      <p:bold r:id="rId36"/>
      <p:italic r:id="rId37"/>
      <p:boldItalic r:id="rId38"/>
    </p:embeddedFont>
    <p:embeddedFont>
      <p:font typeface="Overpass Mono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verpassMono-bold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IBMPlexSans-bold.fntdata"/><Relationship Id="rId23" Type="http://schemas.openxmlformats.org/officeDocument/2006/relationships/font" Target="fonts/IBMPlexSa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BMPlexSans-boldItalic.fntdata"/><Relationship Id="rId25" Type="http://schemas.openxmlformats.org/officeDocument/2006/relationships/font" Target="fonts/IBMPlexSans-italic.fntdata"/><Relationship Id="rId28" Type="http://schemas.openxmlformats.org/officeDocument/2006/relationships/font" Target="fonts/InterSemiBold-bold.fntdata"/><Relationship Id="rId27" Type="http://schemas.openxmlformats.org/officeDocument/2006/relationships/font" Target="fonts/InterSemiBold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InterSemiBold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Inter-regular.fntdata"/><Relationship Id="rId30" Type="http://schemas.openxmlformats.org/officeDocument/2006/relationships/font" Target="fonts/InterSemiBold-boldItalic.fntdata"/><Relationship Id="rId11" Type="http://schemas.openxmlformats.org/officeDocument/2006/relationships/slide" Target="slides/slide7.xml"/><Relationship Id="rId33" Type="http://schemas.openxmlformats.org/officeDocument/2006/relationships/font" Target="fonts/Inter-italic.fntdata"/><Relationship Id="rId10" Type="http://schemas.openxmlformats.org/officeDocument/2006/relationships/slide" Target="slides/slide6.xml"/><Relationship Id="rId32" Type="http://schemas.openxmlformats.org/officeDocument/2006/relationships/font" Target="fonts/Inter-bold.fntdata"/><Relationship Id="rId13" Type="http://schemas.openxmlformats.org/officeDocument/2006/relationships/slide" Target="slides/slide9.xml"/><Relationship Id="rId35" Type="http://schemas.openxmlformats.org/officeDocument/2006/relationships/font" Target="fonts/Overpass-regular.fntdata"/><Relationship Id="rId12" Type="http://schemas.openxmlformats.org/officeDocument/2006/relationships/slide" Target="slides/slide8.xml"/><Relationship Id="rId34" Type="http://schemas.openxmlformats.org/officeDocument/2006/relationships/font" Target="fonts/Inter-boldItalic.fntdata"/><Relationship Id="rId15" Type="http://schemas.openxmlformats.org/officeDocument/2006/relationships/slide" Target="slides/slide11.xml"/><Relationship Id="rId37" Type="http://schemas.openxmlformats.org/officeDocument/2006/relationships/font" Target="fonts/Overpass-italic.fntdata"/><Relationship Id="rId14" Type="http://schemas.openxmlformats.org/officeDocument/2006/relationships/slide" Target="slides/slide10.xml"/><Relationship Id="rId36" Type="http://schemas.openxmlformats.org/officeDocument/2006/relationships/font" Target="fonts/Overpass-bold.fntdata"/><Relationship Id="rId17" Type="http://schemas.openxmlformats.org/officeDocument/2006/relationships/slide" Target="slides/slide13.xml"/><Relationship Id="rId39" Type="http://schemas.openxmlformats.org/officeDocument/2006/relationships/font" Target="fonts/OverpassMono-regular.fntdata"/><Relationship Id="rId16" Type="http://schemas.openxmlformats.org/officeDocument/2006/relationships/slide" Target="slides/slide12.xml"/><Relationship Id="rId38" Type="http://schemas.openxmlformats.org/officeDocument/2006/relationships/font" Target="fonts/Overpass-bold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a371735de4_2_2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3a371735de4_2_2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371735de4_2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a371735de4_2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a371735de4_2_1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371735de4_2_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a371735de4_2_1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a371735de4_2_1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371735de4_3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a371735de4_3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a371735de4_3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371735de4_3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a371735de4_3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a371735de4_3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371735de4_3_1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a371735de4_3_1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a371735de4_3_1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371735de4_3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a371735de4_3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a371735de4_3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371735de4_3_2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a371735de4_3_2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a371735de4_3_2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371735de4_3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a371735de4_3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a371735de4_3_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371735de4_3_2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3a371735de4_3_2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a371735de4_3_2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371735de4_3_2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3a371735de4_3_2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a371735de4_3_2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a371735de4_3_1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3a371735de4_3_1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a371735de4_3_1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371735de4_3_3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a371735de4_3_3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a371735de4_3_3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371735de4_3_2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g3a371735de4_3_2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a371735de4_3_2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py &amp; Image">
  <p:cSld name="SECTION_HEADER_1_1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245450" y="230260"/>
            <a:ext cx="50856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 SemiBold"/>
              <a:buNone/>
              <a:defRPr sz="1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 SemiBold"/>
              <a:buNone/>
              <a:defRPr sz="1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 SemiBold"/>
              <a:buNone/>
              <a:defRPr sz="1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 SemiBold"/>
              <a:buNone/>
              <a:defRPr sz="1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 SemiBold"/>
              <a:buNone/>
              <a:defRPr sz="1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 SemiBold"/>
              <a:buNone/>
              <a:defRPr sz="1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 SemiBold"/>
              <a:buNone/>
              <a:defRPr sz="1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 SemiBold"/>
              <a:buNone/>
              <a:defRPr sz="1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 SemiBold"/>
              <a:buNone/>
              <a:defRPr sz="1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245450" y="838550"/>
            <a:ext cx="4009200" cy="37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AutoNum type="arabicPeriod"/>
              <a:defRPr sz="14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AutoNum type="alphaLcPeriod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AutoNum type="romanLcPeriod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AutoNum type="arabicPeriod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AutoNum type="alphaLcPeriod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AutoNum type="romanLcPeriod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AutoNum type="arabicPeriod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AutoNum type="alphaLcPeriod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AutoNum type="romanLcPeriod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" name="Google Shape;14;p3"/>
          <p:cNvSpPr/>
          <p:nvPr>
            <p:ph idx="2" type="pic"/>
          </p:nvPr>
        </p:nvSpPr>
        <p:spPr>
          <a:xfrm>
            <a:off x="4793950" y="379450"/>
            <a:ext cx="4038300" cy="4188900"/>
          </a:xfrm>
          <a:prstGeom prst="roundRect">
            <a:avLst>
              <a:gd fmla="val 6038" name="adj"/>
            </a:avLst>
          </a:prstGeom>
          <a:noFill/>
          <a:ln>
            <a:noFill/>
          </a:ln>
        </p:spPr>
      </p:sp>
      <p:pic>
        <p:nvPicPr>
          <p:cNvPr id="15" name="Google Shape;1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63514" y="4870175"/>
            <a:ext cx="1104291" cy="19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16">
          <p15:clr>
            <a:srgbClr val="E46962"/>
          </p15:clr>
        </p15:guide>
        <p15:guide id="2" pos="2880">
          <p15:clr>
            <a:srgbClr val="E46962"/>
          </p15:clr>
        </p15:guide>
        <p15:guide id="3" pos="5564">
          <p15:clr>
            <a:srgbClr val="E46962"/>
          </p15:clr>
        </p15:guide>
        <p15:guide id="4" orient="horz" pos="576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1.jpg"/><Relationship Id="rId4" Type="http://schemas.openxmlformats.org/officeDocument/2006/relationships/image" Target="../media/image10.png"/><Relationship Id="rId5" Type="http://schemas.openxmlformats.org/officeDocument/2006/relationships/image" Target="../media/image16.png"/><Relationship Id="rId6" Type="http://schemas.openxmlformats.org/officeDocument/2006/relationships/image" Target="../media/image2.png"/><Relationship Id="rId7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0.png"/><Relationship Id="rId4" Type="http://schemas.openxmlformats.org/officeDocument/2006/relationships/image" Target="../media/image16.png"/><Relationship Id="rId5" Type="http://schemas.openxmlformats.org/officeDocument/2006/relationships/image" Target="../media/image37.png"/><Relationship Id="rId6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8.png"/><Relationship Id="rId4" Type="http://schemas.openxmlformats.org/officeDocument/2006/relationships/image" Target="../media/image16.png"/><Relationship Id="rId5" Type="http://schemas.openxmlformats.org/officeDocument/2006/relationships/image" Target="../media/image37.png"/><Relationship Id="rId6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5.png"/><Relationship Id="rId4" Type="http://schemas.openxmlformats.org/officeDocument/2006/relationships/image" Target="../media/image16.png"/><Relationship Id="rId5" Type="http://schemas.openxmlformats.org/officeDocument/2006/relationships/image" Target="../media/image37.png"/><Relationship Id="rId6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0.png"/><Relationship Id="rId4" Type="http://schemas.openxmlformats.org/officeDocument/2006/relationships/image" Target="../media/image16.png"/><Relationship Id="rId5" Type="http://schemas.openxmlformats.org/officeDocument/2006/relationships/image" Target="../media/image37.png"/><Relationship Id="rId6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7.png"/><Relationship Id="rId4" Type="http://schemas.openxmlformats.org/officeDocument/2006/relationships/image" Target="../media/image16.png"/><Relationship Id="rId5" Type="http://schemas.openxmlformats.org/officeDocument/2006/relationships/image" Target="../media/image37.png"/><Relationship Id="rId6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3.png"/><Relationship Id="rId4" Type="http://schemas.openxmlformats.org/officeDocument/2006/relationships/image" Target="../media/image58.png"/><Relationship Id="rId5" Type="http://schemas.openxmlformats.org/officeDocument/2006/relationships/image" Target="../media/image16.png"/><Relationship Id="rId6" Type="http://schemas.openxmlformats.org/officeDocument/2006/relationships/image" Target="../media/image37.png"/><Relationship Id="rId7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6.png"/><Relationship Id="rId4" Type="http://schemas.openxmlformats.org/officeDocument/2006/relationships/image" Target="../media/image54.png"/><Relationship Id="rId5" Type="http://schemas.openxmlformats.org/officeDocument/2006/relationships/image" Target="../media/image16.png"/><Relationship Id="rId6" Type="http://schemas.openxmlformats.org/officeDocument/2006/relationships/image" Target="../media/image37.png"/><Relationship Id="rId7" Type="http://schemas.openxmlformats.org/officeDocument/2006/relationships/image" Target="../media/image8.png"/><Relationship Id="rId8" Type="http://schemas.openxmlformats.org/officeDocument/2006/relationships/image" Target="../media/image5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1.png"/><Relationship Id="rId4" Type="http://schemas.openxmlformats.org/officeDocument/2006/relationships/image" Target="../media/image16.png"/><Relationship Id="rId5" Type="http://schemas.openxmlformats.org/officeDocument/2006/relationships/image" Target="../media/image37.png"/><Relationship Id="rId6" Type="http://schemas.openxmlformats.org/officeDocument/2006/relationships/image" Target="../media/image8.png"/><Relationship Id="rId7" Type="http://schemas.openxmlformats.org/officeDocument/2006/relationships/image" Target="../media/image5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37.png"/><Relationship Id="rId5" Type="http://schemas.openxmlformats.org/officeDocument/2006/relationships/image" Target="../media/image8.png"/><Relationship Id="rId6" Type="http://schemas.openxmlformats.org/officeDocument/2006/relationships/image" Target="../media/image49.png"/><Relationship Id="rId7" Type="http://schemas.openxmlformats.org/officeDocument/2006/relationships/image" Target="../media/image48.png"/><Relationship Id="rId8" Type="http://schemas.openxmlformats.org/officeDocument/2006/relationships/image" Target="../media/image5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7.png"/><Relationship Id="rId4" Type="http://schemas.openxmlformats.org/officeDocument/2006/relationships/image" Target="../media/image16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4252913" y="0"/>
            <a:ext cx="4891088" cy="3705225"/>
          </a:xfrm>
          <a:prstGeom prst="roundRect">
            <a:avLst>
              <a:gd fmla="val 16667" name="adj"/>
            </a:avLst>
          </a:prstGeom>
          <a:solidFill>
            <a:srgbClr val="1C1C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476250" y="1947863"/>
            <a:ext cx="6205538" cy="1252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8682038" y="209550"/>
            <a:ext cx="303769" cy="3457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" name="Google Shape;24;p4" title="IMG_3431.jpg"/>
          <p:cNvPicPr preferRelativeResize="0"/>
          <p:nvPr/>
        </p:nvPicPr>
        <p:blipFill rotWithShape="1">
          <a:blip r:embed="rId3">
            <a:alphaModFix/>
          </a:blip>
          <a:srcRect b="9128" l="0" r="0" t="34625"/>
          <a:stretch/>
        </p:blipFill>
        <p:spPr>
          <a:xfrm>
            <a:off x="6243638" y="1023938"/>
            <a:ext cx="1781176" cy="17811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" name="Google Shape;2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8087" y="4148137"/>
            <a:ext cx="1985963" cy="992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" name="Google Shape;2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" name="Google Shape;2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76719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" name="Google Shape;28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21129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" name="Google Shape;2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1127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" name="Google Shape;3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2413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" name="Google Shape;3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753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" name="Google Shape;3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27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" name="Google Shape;3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331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/>
          <p:nvPr/>
        </p:nvSpPr>
        <p:spPr>
          <a:xfrm>
            <a:off x="476250" y="381000"/>
            <a:ext cx="13382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IBM Plex Sans"/>
              <a:buNone/>
            </a:pPr>
            <a:r>
              <a:rPr b="0" i="0" lang="en-US" sz="1050" u="none" cap="none" strike="noStrike">
                <a:solidFill>
                  <a:srgbClr val="F8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26 JUNE 2024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76250" y="1947863"/>
            <a:ext cx="6662738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5250"/>
              <a:buFont typeface="Overpass Mono"/>
              <a:buNone/>
            </a:pPr>
            <a:r>
              <a:rPr lang="en-US" sz="3200">
                <a:solidFill>
                  <a:srgbClr val="F8F8FF"/>
                </a:solidFill>
                <a:latin typeface="Overpass Mono"/>
                <a:ea typeface="Overpass Mono"/>
                <a:cs typeface="Overpass Mono"/>
                <a:sym typeface="Overpass Mono"/>
              </a:rPr>
              <a:t>All the things I wish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76250" y="2805113"/>
            <a:ext cx="6662738" cy="395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2D2FF"/>
              </a:buClr>
              <a:buSzPts val="2400"/>
              <a:buFont typeface="Overpass Mono"/>
              <a:buNone/>
            </a:pPr>
            <a:r>
              <a:rPr lang="en-US" sz="2000">
                <a:solidFill>
                  <a:srgbClr val="D2D2FF"/>
                </a:solidFill>
                <a:latin typeface="Overpass Mono"/>
                <a:ea typeface="Overpass Mono"/>
                <a:cs typeface="Overpass Mono"/>
                <a:sym typeface="Overpass Mono"/>
              </a:rPr>
              <a:t>(native) Solidity would let me do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0" y="0"/>
            <a:ext cx="9144000" cy="37911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3">
            <a:alphaModFix/>
          </a:blip>
          <a:srcRect b="1687" l="2793" r="3141" t="2435"/>
          <a:stretch/>
        </p:blipFill>
        <p:spPr>
          <a:xfrm>
            <a:off x="3523005" y="1735425"/>
            <a:ext cx="2097990" cy="2688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43" name="Google Shape;43;p5"/>
          <p:cNvSpPr txBox="1"/>
          <p:nvPr/>
        </p:nvSpPr>
        <p:spPr>
          <a:xfrm>
            <a:off x="311700" y="172867"/>
            <a:ext cx="8520600" cy="15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4E5EE4"/>
                </a:solidFill>
                <a:latin typeface="Overpass Mono"/>
                <a:ea typeface="Overpass Mono"/>
                <a:cs typeface="Overpass Mono"/>
                <a:sym typeface="Overpass Mono"/>
              </a:rPr>
              <a:t>Contracts</a:t>
            </a:r>
            <a:endParaRPr b="1" sz="3600">
              <a:solidFill>
                <a:srgbClr val="4E5EE4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E5EE4"/>
                </a:solidFill>
                <a:latin typeface="Overpass Mono"/>
                <a:ea typeface="Overpass Mono"/>
                <a:cs typeface="Overpass Mono"/>
                <a:sym typeface="Overpass Mono"/>
              </a:rPr>
              <a:t>@openzeppelin/contracts@5.5.0</a:t>
            </a:r>
            <a:endParaRPr sz="1800">
              <a:solidFill>
                <a:srgbClr val="4E5EE4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pPr indent="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E5EE4"/>
                </a:solidFill>
                <a:latin typeface="Overpass Mono"/>
                <a:ea typeface="Overpass Mono"/>
                <a:cs typeface="Overpass Mono"/>
                <a:sym typeface="Overpass Mono"/>
              </a:rPr>
              <a:t>@openzeppelin/contracts-upgradeable@5.5.0</a:t>
            </a:r>
            <a:endParaRPr sz="1800">
              <a:solidFill>
                <a:srgbClr val="4E5EE4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Google Shape;49;p6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2B247C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" name="Google Shape;50;p6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6"/>
          <p:cNvSpPr/>
          <p:nvPr/>
        </p:nvSpPr>
        <p:spPr>
          <a:xfrm>
            <a:off x="8682038" y="209550"/>
            <a:ext cx="303769" cy="3457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" name="Google Shape;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" name="Google Shape;5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" name="Google Shape;5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1129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" name="Google Shape;5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" name="Google Shape;5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2417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" name="Google Shape;5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753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31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6"/>
          <p:cNvSpPr/>
          <p:nvPr/>
        </p:nvSpPr>
        <p:spPr>
          <a:xfrm>
            <a:off x="476250" y="1781175"/>
            <a:ext cx="4076700" cy="158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24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Designed and implemented:</a:t>
            </a:r>
            <a:endParaRPr i="0" sz="2400" u="none" cap="none" strike="noStrike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5048250" y="1781175"/>
            <a:ext cx="40290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575"/>
              <a:buFont typeface="Overpass"/>
              <a:buAutoNum type="arabicPeriod"/>
            </a:pPr>
            <a:r>
              <a:rPr lang="en-US" sz="1575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By solidity developers</a:t>
            </a:r>
            <a:endParaRPr sz="1575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75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75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Google Shape;67;p7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2B247C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" name="Google Shape;68;p7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7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" name="Google Shape;7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" name="Google Shape;7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1129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" name="Google Shape;7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" name="Google Shape;7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2417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" name="Google Shape;7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753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" name="Google Shape;7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" name="Google Shape;7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31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7"/>
          <p:cNvSpPr/>
          <p:nvPr/>
        </p:nvSpPr>
        <p:spPr>
          <a:xfrm>
            <a:off x="476250" y="1781175"/>
            <a:ext cx="40767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24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Designed and implemented:</a:t>
            </a:r>
            <a:endParaRPr i="0" sz="2400" u="none" cap="none" strike="noStrike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5048250" y="1781175"/>
            <a:ext cx="40290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575"/>
              <a:buFont typeface="Overpass"/>
              <a:buAutoNum type="arabicPeriod"/>
            </a:pPr>
            <a:r>
              <a:rPr lang="en-US" sz="1575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By solidity developers</a:t>
            </a:r>
            <a:endParaRPr i="0" sz="1575" u="none" cap="none" strike="noStrike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42900" lvl="0" marL="3429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575"/>
              <a:buFont typeface="Overpass"/>
              <a:buAutoNum type="arabicPeriod"/>
            </a:pPr>
            <a:r>
              <a:rPr lang="en-US" sz="1575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For solidity developers</a:t>
            </a:r>
            <a:endParaRPr sz="1575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75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Google Shape;85;p8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2B247C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" name="Google Shape;86;p8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8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" name="Google Shape;8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9" name="Google Shape;8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0" name="Google Shape;9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1129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1" name="Google Shape;9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2" name="Google Shape;9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2417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3" name="Google Shape;9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753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4" name="Google Shape;9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5" name="Google Shape;9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31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8"/>
          <p:cNvSpPr/>
          <p:nvPr/>
        </p:nvSpPr>
        <p:spPr>
          <a:xfrm>
            <a:off x="476250" y="1781175"/>
            <a:ext cx="40767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24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Designed and implemented:</a:t>
            </a:r>
            <a:endParaRPr i="0" sz="2400" u="none" cap="none" strike="noStrike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5048250" y="1781175"/>
            <a:ext cx="40290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575"/>
              <a:buFont typeface="Overpass"/>
              <a:buAutoNum type="arabicPeriod"/>
            </a:pPr>
            <a:r>
              <a:rPr lang="en-US" sz="1575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By solidity developers</a:t>
            </a:r>
            <a:endParaRPr i="0" sz="1575" u="none" cap="none" strike="noStrike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42900" lvl="0" marL="3429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575"/>
              <a:buFont typeface="Overpass"/>
              <a:buAutoNum type="arabicPeriod"/>
            </a:pPr>
            <a:r>
              <a:rPr lang="en-US" sz="1575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For solidity developers</a:t>
            </a:r>
            <a:endParaRPr i="0" sz="1575" u="none" cap="none" strike="noStrike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42900" lvl="0" marL="3429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575"/>
              <a:buFont typeface="Overpass"/>
              <a:buAutoNum type="arabicPeriod"/>
            </a:pPr>
            <a:r>
              <a:rPr lang="en-US" sz="1575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In solidity</a:t>
            </a:r>
            <a:endParaRPr i="0" sz="1575" u="none" cap="none" strike="noStrike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C1C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4" name="Google Shape;104;p9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9"/>
          <p:cNvSpPr/>
          <p:nvPr/>
        </p:nvSpPr>
        <p:spPr>
          <a:xfrm>
            <a:off x="8682038" y="209550"/>
            <a:ext cx="303769" cy="3457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9" title="Capture d’écran du 2025-11-14 15-42-5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8200" y="87300"/>
            <a:ext cx="3435242" cy="496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7" name="Google Shape;10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8" name="Google Shape;10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9" name="Google Shape;109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24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0" name="Google Shape;11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3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1" name="Google Shape;11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08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2" name="Google Shape;11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3" name="Google Shape;11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4" name="Google Shape;11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2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9"/>
          <p:cNvSpPr/>
          <p:nvPr/>
        </p:nvSpPr>
        <p:spPr>
          <a:xfrm>
            <a:off x="476250" y="784832"/>
            <a:ext cx="40767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30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Our code is not 100% </a:t>
            </a:r>
            <a:r>
              <a:rPr b="1" lang="en-US" sz="30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native</a:t>
            </a:r>
            <a:r>
              <a:rPr lang="en-US" sz="30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 solidity</a:t>
            </a:r>
            <a:r>
              <a:rPr i="0" lang="en-US" sz="300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.</a:t>
            </a:r>
            <a:endParaRPr i="0" sz="3000" u="none" cap="none" strike="noStrike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476250" y="2508868"/>
            <a:ext cx="4076700" cy="18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rPr b="1"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@openzeppelin/contracts</a:t>
            </a: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 uses ~400 assembly blocks</a:t>
            </a:r>
            <a:r>
              <a:rPr i="0" lang="en-US" sz="120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.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t/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These blocks allow us to leverage features of the EVM that are not (easily/cheaply) available in native solidity !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t/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These blocks reduce the readability/auditability of the code, negatively impacting security.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5431120" y="763883"/>
            <a:ext cx="2987400" cy="2002800"/>
          </a:xfrm>
          <a:prstGeom prst="rect">
            <a:avLst/>
          </a:prstGeom>
          <a:noFill/>
          <a:ln cap="flat" cmpd="sng" w="22200">
            <a:solidFill>
              <a:srgbClr val="F46B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600" lIns="106600" spcFirstLastPara="1" rIns="106600" wrap="square" tIns="10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2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5" name="Google Shape;12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6" name="Google Shape;12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1131" y="307298"/>
            <a:ext cx="120476" cy="1055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7" name="Google Shape;12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8" name="Google Shape;12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2415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9" name="Google Shape;1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753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0" name="Google Shape;13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3128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1" name="Google Shape;13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0"/>
          <p:cNvSpPr/>
          <p:nvPr/>
        </p:nvSpPr>
        <p:spPr>
          <a:xfrm>
            <a:off x="1240650" y="2262150"/>
            <a:ext cx="66627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50"/>
              <a:buFont typeface="Overpass"/>
              <a:buNone/>
            </a:pPr>
            <a:r>
              <a:rPr lang="en-US" sz="30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Where do we use assembly?</a:t>
            </a:r>
            <a:endParaRPr i="0" sz="3000" u="none" cap="none" strike="noStrike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/>
          <p:nvPr/>
        </p:nvSpPr>
        <p:spPr>
          <a:xfrm>
            <a:off x="476250" y="2508868"/>
            <a:ext cx="4076700" cy="18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Char char="●"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Basic call will bubble any revert,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Char char="●"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Try-catch reverts if the target has no code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Char char="●"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Low level calls “address.call(...)” require encoding the parameters, and expand the memory with results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</a:b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When gas costs are critical, branches must be minimized and memory allocation must be avoided, YUL is king.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C1C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0" name="Google Shape;140;p11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11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11" title="Capture d’écran du 2025-11-14 16-05-40.png"/>
          <p:cNvPicPr preferRelativeResize="0"/>
          <p:nvPr/>
        </p:nvPicPr>
        <p:blipFill rotWithShape="1">
          <a:blip r:embed="rId3">
            <a:alphaModFix/>
          </a:blip>
          <a:srcRect b="0" l="-160" r="0" t="0"/>
          <a:stretch/>
        </p:blipFill>
        <p:spPr>
          <a:xfrm>
            <a:off x="5140375" y="1163883"/>
            <a:ext cx="3435249" cy="28157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3" name="Google Shape;14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4" name="Google Shape;14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5" name="Google Shape;14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24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6" name="Google Shape;14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3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7" name="Google Shape;14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08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8" name="Google Shape;14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1"/>
          <p:cNvSpPr/>
          <p:nvPr/>
        </p:nvSpPr>
        <p:spPr>
          <a:xfrm>
            <a:off x="476250" y="784832"/>
            <a:ext cx="40767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30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Low level calls</a:t>
            </a:r>
            <a:endParaRPr i="0" sz="3000" u="none" cap="none" strike="noStrike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preencoded.png" id="150" name="Google Shape;15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1" name="Google Shape;15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2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C1C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8" name="Google Shape;158;p12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12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12" title="Capture d’écran du 2025-11-14 16-21-5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32550" y="1548479"/>
            <a:ext cx="3450901" cy="20466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1" name="Google Shape;16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2" name="Google Shape;16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3" name="Google Shape;16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24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4" name="Google Shape;16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3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5" name="Google Shape;16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08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6" name="Google Shape;16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7" name="Google Shape;16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8" name="Google Shape;16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2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2"/>
          <p:cNvSpPr/>
          <p:nvPr/>
        </p:nvSpPr>
        <p:spPr>
          <a:xfrm>
            <a:off x="476250" y="784832"/>
            <a:ext cx="40767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verpass Mono"/>
              <a:buNone/>
            </a:pPr>
            <a:r>
              <a:rPr lang="en-US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Deallocating memory</a:t>
            </a:r>
            <a:endParaRPr sz="30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70" name="Google Shape;170;p12"/>
          <p:cNvSpPr/>
          <p:nvPr/>
        </p:nvSpPr>
        <p:spPr>
          <a:xfrm>
            <a:off x="476250" y="2508868"/>
            <a:ext cx="4076700" cy="18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Solidity as a tendency to allocate (reserve) memory, by moving the FMP (free memory pointer).</a:t>
            </a:r>
            <a:b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</a:br>
            <a:b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</a:b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Memory is never deallocated/cleared.</a:t>
            </a:r>
            <a:b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</a:br>
            <a:b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</a:b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Memory expansion is expensive. Doing any king of “abi.encode” in a loop can ruin your day if you don’t deallocate stuff you don’t need.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C1C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7" name="Google Shape;177;p13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13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3" title="Capture d’écran du 2025-11-14 15-42-5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0375" y="91969"/>
            <a:ext cx="3435248" cy="49689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0" name="Google Shape;18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1" name="Google Shape;18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2" name="Google Shape;18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24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3" name="Google Shape;18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3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4" name="Google Shape;18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08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5" name="Google Shape;1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6" name="Google Shape;1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7" name="Google Shape;18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2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3"/>
          <p:cNvSpPr/>
          <p:nvPr/>
        </p:nvSpPr>
        <p:spPr>
          <a:xfrm>
            <a:off x="476250" y="784832"/>
            <a:ext cx="40767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30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Bubbling reverts</a:t>
            </a:r>
            <a:endParaRPr i="0" sz="3000" u="none" cap="none" strike="noStrike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476250" y="2508868"/>
            <a:ext cx="4076700" cy="18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Char char="●"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Basic calls don’t support arbitrary calldata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Char char="●"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Low level calls provide the returndata as a “bytes memory” object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Char char="●"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There is no native way to revert with a raw bytes reason without encapsulation in an “Error(bytes)”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Proxies require bubbling the revert in YUL.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5458202" y="2111850"/>
            <a:ext cx="2799600" cy="293400"/>
          </a:xfrm>
          <a:prstGeom prst="rect">
            <a:avLst/>
          </a:prstGeom>
          <a:noFill/>
          <a:ln cap="flat" cmpd="sng" w="22200">
            <a:solidFill>
              <a:srgbClr val="F46B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575" lIns="106575" spcFirstLastPara="1" rIns="106575" wrap="square" tIns="10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2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"/>
          <p:cNvSpPr/>
          <p:nvPr/>
        </p:nvSpPr>
        <p:spPr>
          <a:xfrm>
            <a:off x="476250" y="784832"/>
            <a:ext cx="40767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verpass Mono"/>
              <a:buNone/>
            </a:pPr>
            <a:r>
              <a:rPr lang="en-US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Decode calldata</a:t>
            </a:r>
            <a:endParaRPr sz="30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97" name="Google Shape;197;p1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C1C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8" name="Google Shape;198;p14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p14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14" title="Capture d’écran du 2025-11-14 16-26-5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0375" y="1101055"/>
            <a:ext cx="3435251" cy="2941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1" name="Google Shape;2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2" name="Google Shape;2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3" name="Google Shape;2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24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4" name="Google Shape;2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3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5" name="Google Shape;2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08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6" name="Google Shape;2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7" name="Google Shape;20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8" name="Google Shape;20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2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4"/>
          <p:cNvSpPr/>
          <p:nvPr/>
        </p:nvSpPr>
        <p:spPr>
          <a:xfrm>
            <a:off x="476250" y="2508868"/>
            <a:ext cx="4076700" cy="18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A calldata object is represented using a pointer with two components (offset and length)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It would be great to be able to do an “abi.decode” that takes calldata input, and returns calldata outputs.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Mostly possible to do in solidity. Still require some YUL to create the “calldata pointer”. 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5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C1C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15" title="Capture d’écran du 2025-11-14 16-33-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0374" y="445797"/>
            <a:ext cx="3435251" cy="112810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7" name="Google Shape;217;p15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15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15" title="Capture d’écran du 2025-11-14 16-31-4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0374" y="1756068"/>
            <a:ext cx="3435251" cy="2941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0" name="Google Shape;2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1" name="Google Shape;2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2" name="Google Shape;22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21124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3" name="Google Shape;22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1123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4" name="Google Shape;22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2408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5" name="Google Shape;22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75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6" name="Google Shape;22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7" name="Google Shape;22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3312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5"/>
          <p:cNvSpPr/>
          <p:nvPr/>
        </p:nvSpPr>
        <p:spPr>
          <a:xfrm>
            <a:off x="476250" y="784832"/>
            <a:ext cx="40767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30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Emit panic code</a:t>
            </a:r>
            <a:endParaRPr i="0" sz="3000" u="none" cap="none" strike="noStrike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29" name="Google Shape;229;p15"/>
          <p:cNvSpPr/>
          <p:nvPr/>
        </p:nvSpPr>
        <p:spPr>
          <a:xfrm>
            <a:off x="476250" y="2508868"/>
            <a:ext cx="4076700" cy="18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Panic codes are great!</a:t>
            </a:r>
            <a:b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</a:br>
            <a:b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</a:b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They are “universal custom error” for common/frequent errors (overflow, division by zero, array out-of-bound).</a:t>
            </a:r>
            <a:b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</a:br>
            <a:b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</a:b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There is no native way to trigger them, which we may want to do when implementing math operations or data structures.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C1C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16" title="Capture d’écran du 2025-11-14 16-43-4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0375" y="1715893"/>
            <a:ext cx="3435251" cy="826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7" name="Google Shape;237;p16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8" name="Google Shape;238;p16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9" name="Google Shape;239;p16" title="Capture d’écran du 2025-11-14 16-42-5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0375" y="2678642"/>
            <a:ext cx="3435251" cy="1711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0" name="Google Shape;24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1" name="Google Shape;24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2" name="Google Shape;24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21124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3" name="Google Shape;24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1123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4" name="Google Shape;24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2408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5" name="Google Shape;24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75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6" name="Google Shape;2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7" name="Google Shape;24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3312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6"/>
          <p:cNvSpPr/>
          <p:nvPr/>
        </p:nvSpPr>
        <p:spPr>
          <a:xfrm>
            <a:off x="476250" y="784832"/>
            <a:ext cx="40767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30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Unchecked accesses</a:t>
            </a:r>
            <a:endParaRPr i="0" sz="3000" u="none" cap="none" strike="noStrike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49" name="Google Shape;249;p16"/>
          <p:cNvSpPr/>
          <p:nvPr/>
        </p:nvSpPr>
        <p:spPr>
          <a:xfrm>
            <a:off x="476250" y="2508868"/>
            <a:ext cx="4076700" cy="18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When accessing an array element, solidity will check that the index is within bounds. That check includes a read (possibly from storage) and a branch.</a:t>
            </a:r>
            <a:b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</a:br>
            <a:b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</a:b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In some cases we know the index is in bound.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t/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There is no way to skip the check in order to save gas. “unchecked” does not remove this check.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250" name="Google Shape;250;p16" title="Capture d’écran du 2025-11-14 16-44-04.png"/>
          <p:cNvPicPr preferRelativeResize="0"/>
          <p:nvPr/>
        </p:nvPicPr>
        <p:blipFill rotWithShape="1">
          <a:blip r:embed="rId8">
            <a:alphaModFix/>
          </a:blip>
          <a:srcRect b="8630" l="0" r="0" t="8622"/>
          <a:stretch/>
        </p:blipFill>
        <p:spPr>
          <a:xfrm>
            <a:off x="5140375" y="753133"/>
            <a:ext cx="3435251" cy="82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7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C1C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7" name="Google Shape;257;p17" title="Capture d’écran du 2025-11-14 16-53-4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0375" y="1494867"/>
            <a:ext cx="3435251" cy="971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8" name="Google Shape;258;p17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17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0" name="Google Shape;26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1" name="Google Shape;26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2" name="Google Shape;26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24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3" name="Google Shape;26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3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4" name="Google Shape;26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08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5" name="Google Shape;26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6" name="Google Shape;26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7" name="Google Shape;26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2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7"/>
          <p:cNvSpPr/>
          <p:nvPr/>
        </p:nvSpPr>
        <p:spPr>
          <a:xfrm>
            <a:off x="476250" y="784832"/>
            <a:ext cx="40767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verpass Mono"/>
              <a:buNone/>
            </a:pPr>
            <a:r>
              <a:rPr lang="en-US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C</a:t>
            </a:r>
            <a:r>
              <a:rPr lang="en-US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hunks of bytes</a:t>
            </a:r>
            <a:endParaRPr sz="30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69" name="Google Shape;269;p17"/>
          <p:cNvSpPr/>
          <p:nvPr/>
        </p:nvSpPr>
        <p:spPr>
          <a:xfrm>
            <a:off x="476250" y="2508868"/>
            <a:ext cx="4076700" cy="18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Solidity allows you to access “bytes” and “string” object byte by byte (from memory or storage).</a:t>
            </a:r>
            <a:b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</a:br>
            <a:b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</a:b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Accessing more than one byte is supported when reading from calldata</a:t>
            </a:r>
            <a:b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</a:br>
            <a:b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</a:b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If you want to read more than one byte at a time, you need to do it in YUL.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270" name="Google Shape;270;p17" title="Capture d’écran du 2025-11-14 16-53-32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40375" y="2610633"/>
            <a:ext cx="3435251" cy="103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8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C1C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7" name="Google Shape;277;p18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p18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9" name="Google Shape;2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0" name="Google Shape;28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1" name="Google Shape;28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1124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2" name="Google Shape;2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1123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3" name="Google Shape;2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2408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4" name="Google Shape;28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75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5" name="Google Shape;28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6" name="Google Shape;28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8"/>
          <p:cNvSpPr/>
          <p:nvPr/>
        </p:nvSpPr>
        <p:spPr>
          <a:xfrm>
            <a:off x="476250" y="784832"/>
            <a:ext cx="40767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30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Transient structures</a:t>
            </a:r>
            <a:endParaRPr i="0" sz="3000" u="none" cap="none" strike="noStrike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88" name="Google Shape;288;p18"/>
          <p:cNvSpPr/>
          <p:nvPr/>
        </p:nvSpPr>
        <p:spPr>
          <a:xfrm>
            <a:off x="476250" y="2508868"/>
            <a:ext cx="4076700" cy="18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Since version 0.8.28, solidity supports </a:t>
            </a:r>
            <a:r>
              <a:rPr b="1"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value type</a:t>
            </a: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 transient state variable.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t/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Non-value types (including mappings, strings, …) are NOT supported. Application such as Uniswap v4 rely on these.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t/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Combining</a:t>
            </a: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 our  SlotDerivation and TransientSlot libraries, we can implement transient mappings or array.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289" name="Google Shape;289;p18" title="Capture d’écran du 2025-11-14 18-10-32.png"/>
          <p:cNvPicPr preferRelativeResize="0"/>
          <p:nvPr/>
        </p:nvPicPr>
        <p:blipFill rotWithShape="1">
          <a:blip r:embed="rId6">
            <a:alphaModFix/>
          </a:blip>
          <a:srcRect b="0" l="0" r="0" t="3241"/>
          <a:stretch/>
        </p:blipFill>
        <p:spPr>
          <a:xfrm>
            <a:off x="5140375" y="452212"/>
            <a:ext cx="3435251" cy="88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8" title="Capture d’écran du 2025-11-14 18-10-48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40375" y="1448437"/>
            <a:ext cx="3435251" cy="139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8" title="Capture d’écran du 2025-11-14 18-12-24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40375" y="2952138"/>
            <a:ext cx="3435251" cy="17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7" name="Google Shape;297;p19"/>
          <p:cNvCxnSpPr/>
          <p:nvPr/>
        </p:nvCxnSpPr>
        <p:spPr>
          <a:xfrm rot="5400000">
            <a:off x="479017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" name="Google Shape;298;p19"/>
          <p:cNvCxnSpPr/>
          <p:nvPr/>
        </p:nvCxnSpPr>
        <p:spPr>
          <a:xfrm rot="5400000">
            <a:off x="3525633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19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0" name="Google Shape;3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1763" y="3638550"/>
            <a:ext cx="866775" cy="8691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1" name="Google Shape;30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2" name="Google Shape;30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3" name="Google Shape;30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29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4" name="Google Shape;30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5" name="Google Shape;30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17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6" name="Google Shape;30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3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7" name="Google Shape;30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8" name="Google Shape;30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31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9"/>
          <p:cNvSpPr/>
          <p:nvPr/>
        </p:nvSpPr>
        <p:spPr>
          <a:xfrm>
            <a:off x="476250" y="381000"/>
            <a:ext cx="3886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Overpass"/>
              <a:buNone/>
            </a:pPr>
            <a:r>
              <a:rPr lang="en-US" sz="1050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How hard would it be?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9"/>
          <p:cNvSpPr/>
          <p:nvPr/>
        </p:nvSpPr>
        <p:spPr>
          <a:xfrm>
            <a:off x="0" y="1504950"/>
            <a:ext cx="30510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3000">
                <a:solidFill>
                  <a:srgbClr val="58D69A"/>
                </a:solidFill>
                <a:latin typeface="Overpass"/>
                <a:ea typeface="Overpass"/>
                <a:cs typeface="Overpass"/>
                <a:sym typeface="Overpass"/>
              </a:rPr>
              <a:t>“Trivial”</a:t>
            </a:r>
            <a:endParaRPr i="0" sz="3000" u="none" cap="none" strike="noStrike">
              <a:solidFill>
                <a:srgbClr val="58D69A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311" name="Google Shape;311;p19"/>
          <p:cNvSpPr/>
          <p:nvPr/>
        </p:nvSpPr>
        <p:spPr>
          <a:xfrm>
            <a:off x="217227" y="2408750"/>
            <a:ext cx="2833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verpass"/>
              <a:buChar char="●"/>
            </a:pPr>
            <a:r>
              <a:rPr lang="en-US" sz="12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Panic codes</a:t>
            </a:r>
            <a:endParaRPr sz="12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04800" lvl="0" marL="45720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verpass"/>
              <a:buChar char="●"/>
            </a:pPr>
            <a:r>
              <a:rPr lang="en-US" sz="12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Bubble reverts</a:t>
            </a:r>
            <a:endParaRPr sz="12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04800" lvl="0" marL="45720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verpass"/>
              <a:buChar char="●"/>
            </a:pPr>
            <a:r>
              <a:rPr lang="en-US" sz="12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Transient structures</a:t>
            </a:r>
            <a:endParaRPr sz="12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312" name="Google Shape;312;p19"/>
          <p:cNvSpPr/>
          <p:nvPr/>
        </p:nvSpPr>
        <p:spPr>
          <a:xfrm>
            <a:off x="6092775" y="1504950"/>
            <a:ext cx="30510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3000">
                <a:solidFill>
                  <a:srgbClr val="F46B84"/>
                </a:solidFill>
                <a:latin typeface="Overpass"/>
                <a:ea typeface="Overpass"/>
                <a:cs typeface="Overpass"/>
                <a:sym typeface="Overpass"/>
              </a:rPr>
              <a:t>Hard!</a:t>
            </a:r>
            <a:endParaRPr i="0" sz="3000" u="none" cap="none" strike="noStrike">
              <a:solidFill>
                <a:srgbClr val="F46B84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313" name="Google Shape;313;p19"/>
          <p:cNvSpPr/>
          <p:nvPr/>
        </p:nvSpPr>
        <p:spPr>
          <a:xfrm>
            <a:off x="3050775" y="1504950"/>
            <a:ext cx="30510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30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“Easy”</a:t>
            </a:r>
            <a:endParaRPr i="0" sz="3000" u="none" cap="none" strike="noStrike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cxnSp>
        <p:nvCxnSpPr>
          <p:cNvPr id="314" name="Google Shape;314;p19"/>
          <p:cNvCxnSpPr/>
          <p:nvPr/>
        </p:nvCxnSpPr>
        <p:spPr>
          <a:xfrm rot="5400000">
            <a:off x="-2567600" y="25741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" name="Google Shape;315;p19"/>
          <p:cNvCxnSpPr/>
          <p:nvPr/>
        </p:nvCxnSpPr>
        <p:spPr>
          <a:xfrm rot="5400000">
            <a:off x="6572250" y="25741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6" name="Google Shape;316;p19"/>
          <p:cNvSpPr/>
          <p:nvPr/>
        </p:nvSpPr>
        <p:spPr>
          <a:xfrm>
            <a:off x="6310202" y="2408750"/>
            <a:ext cx="2833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verpass"/>
              <a:buChar char="●"/>
            </a:pPr>
            <a:r>
              <a:rPr lang="en-US" sz="12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Deallocate memory</a:t>
            </a:r>
            <a:endParaRPr sz="12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04800" lvl="0" marL="45720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verpass"/>
              <a:buChar char="●"/>
            </a:pPr>
            <a:r>
              <a:rPr lang="en-US" sz="12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Low level calls</a:t>
            </a:r>
            <a:endParaRPr sz="12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317" name="Google Shape;317;p19"/>
          <p:cNvSpPr/>
          <p:nvPr/>
        </p:nvSpPr>
        <p:spPr>
          <a:xfrm>
            <a:off x="3263714" y="2408750"/>
            <a:ext cx="2833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verpass"/>
              <a:buChar char="●"/>
            </a:pPr>
            <a:r>
              <a:rPr lang="en-US" sz="12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Calldata decode</a:t>
            </a:r>
            <a:endParaRPr sz="12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04800" lvl="0" marL="45720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verpass"/>
              <a:buChar char="●"/>
            </a:pPr>
            <a:r>
              <a:rPr lang="en-US" sz="12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Unchecked accesses</a:t>
            </a:r>
            <a:endParaRPr sz="12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04800" lvl="0" marL="45720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verpass"/>
              <a:buChar char="●"/>
            </a:pPr>
            <a:r>
              <a:rPr lang="en-US" sz="12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Chunks of bytes</a:t>
            </a:r>
            <a:endParaRPr sz="12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0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4" name="Google Shape;32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5" name="Google Shape;32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6" name="Google Shape;32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1131" y="307298"/>
            <a:ext cx="120476" cy="1055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7" name="Google Shape;3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8" name="Google Shape;32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2415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9" name="Google Shape;32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753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0" name="Google Shape;33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3128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1" name="Google Shape;33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0"/>
          <p:cNvSpPr/>
          <p:nvPr/>
        </p:nvSpPr>
        <p:spPr>
          <a:xfrm>
            <a:off x="1240650" y="1701300"/>
            <a:ext cx="66627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50"/>
              <a:buFont typeface="Overpass"/>
              <a:buNone/>
            </a:pPr>
            <a:r>
              <a:rPr lang="en-US" sz="30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Can solidity core help?</a:t>
            </a:r>
            <a:endParaRPr i="0" sz="3000" u="none" cap="none" strike="noStrike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333" name="Google Shape;333;p20"/>
          <p:cNvSpPr/>
          <p:nvPr/>
        </p:nvSpPr>
        <p:spPr>
          <a:xfrm>
            <a:off x="1240650" y="2320500"/>
            <a:ext cx="6662700" cy="11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50"/>
              <a:buFont typeface="Overpass"/>
              <a:buNone/>
            </a:pPr>
            <a:r>
              <a:rPr lang="en-US" sz="2000">
                <a:solidFill>
                  <a:srgbClr val="808CED"/>
                </a:solidFill>
                <a:latin typeface="Overpass"/>
                <a:ea typeface="Overpass"/>
                <a:cs typeface="Overpass"/>
                <a:sym typeface="Overpass"/>
              </a:rPr>
              <a:t>If OZ can do some of these in YUL, the solidity code “standard library” should be able to solve some of these.</a:t>
            </a:r>
            <a:endParaRPr i="0" sz="2000" u="none" cap="none" strike="noStrike">
              <a:solidFill>
                <a:srgbClr val="808CED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1"/>
          <p:cNvSpPr/>
          <p:nvPr/>
        </p:nvSpPr>
        <p:spPr>
          <a:xfrm>
            <a:off x="8682038" y="209550"/>
            <a:ext cx="303769" cy="3457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0" name="Google Shape;34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1" name="Google Shape;34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2" name="Google Shape;34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1131" y="307298"/>
            <a:ext cx="120476" cy="1055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3" name="Google Shape;34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4" name="Google Shape;34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2415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5" name="Google Shape;34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753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6" name="Google Shape;34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3128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7" name="Google Shape;34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1"/>
          <p:cNvSpPr/>
          <p:nvPr/>
        </p:nvSpPr>
        <p:spPr>
          <a:xfrm>
            <a:off x="1240631" y="2262188"/>
            <a:ext cx="66627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50"/>
              <a:buFont typeface="Overpass"/>
              <a:buNone/>
            </a:pPr>
            <a:r>
              <a:rPr b="0" i="0" lang="en-US" sz="405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Q&amp;A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