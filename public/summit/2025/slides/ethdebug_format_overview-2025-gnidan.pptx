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Overpass"/>
      <p:regular r:id="rId38"/>
      <p:bold r:id="rId39"/>
      <p:italic r:id="rId40"/>
      <p:boldItalic r:id="rId41"/>
    </p:embeddedFont>
    <p:embeddedFont>
      <p:font typeface="Montserrat Light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verpass-italic.fntdata"/><Relationship Id="rId20" Type="http://schemas.openxmlformats.org/officeDocument/2006/relationships/slide" Target="slides/slide15.xml"/><Relationship Id="rId42" Type="http://schemas.openxmlformats.org/officeDocument/2006/relationships/font" Target="fonts/MontserratLight-regular.fntdata"/><Relationship Id="rId41" Type="http://schemas.openxmlformats.org/officeDocument/2006/relationships/font" Target="fonts/Overpass-boldItalic.fntdata"/><Relationship Id="rId22" Type="http://schemas.openxmlformats.org/officeDocument/2006/relationships/slide" Target="slides/slide17.xml"/><Relationship Id="rId44" Type="http://schemas.openxmlformats.org/officeDocument/2006/relationships/font" Target="fonts/MontserratLight-italic.fntdata"/><Relationship Id="rId21" Type="http://schemas.openxmlformats.org/officeDocument/2006/relationships/slide" Target="slides/slide16.xml"/><Relationship Id="rId43" Type="http://schemas.openxmlformats.org/officeDocument/2006/relationships/font" Target="fonts/MontserratLight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Montserrat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regular.fntdata"/><Relationship Id="rId25" Type="http://schemas.openxmlformats.org/officeDocument/2006/relationships/slide" Target="slides/slide20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-bold.fntdata"/><Relationship Id="rId12" Type="http://schemas.openxmlformats.org/officeDocument/2006/relationships/slide" Target="slides/slide7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2.xml"/><Relationship Id="rId39" Type="http://schemas.openxmlformats.org/officeDocument/2006/relationships/font" Target="fonts/Overpass-bold.fntdata"/><Relationship Id="rId16" Type="http://schemas.openxmlformats.org/officeDocument/2006/relationships/slide" Target="slides/slide11.xml"/><Relationship Id="rId38" Type="http://schemas.openxmlformats.org/officeDocument/2006/relationships/font" Target="fonts/Overpas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4bdae83f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4bdae83f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4bdae83f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4bdae83f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4bdae83f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4bdae83f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4bdae83f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4bdae83f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4bdae83f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4bdae83f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4bdae83f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4bdae83f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4bdae83f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4bdae83f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4bdae83f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4bdae83f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4bdae83f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4bdae83f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4bdae83f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4bdae83f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4bdae83f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4bdae83f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4bdae83f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4bdae83f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4bdae83f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4bdae83f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4bdae83f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4bdae83f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4bdae83f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4bdae83f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4bdae83f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4bdae83f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4bdae83f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4bdae83f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4bdae83f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4bdae83f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"/>
              <a:buNone/>
              <a:defRPr b="1" sz="3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-d79ZNIZF3wAj-20yzIdmV60O5KXhrsd/view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A3-t1CeOf9RT2p82Lz1K-o7FSZlIIGO_/view" TargetMode="External"/><Relationship Id="rId4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kOsnd-EvQ1aoMBy04pxbn89Ys4i8Waob/view" TargetMode="External"/><Relationship Id="rId4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uL88UKuKld2GaYHhKxMjOl-sV2sS2JRP/view" TargetMode="External"/><Relationship Id="rId4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ethdebug.github.io/format/" TargetMode="External"/><Relationship Id="rId4" Type="http://schemas.openxmlformats.org/officeDocument/2006/relationships/hyperlink" Target="https://github.com/ethdebug/format" TargetMode="External"/><Relationship Id="rId5" Type="http://schemas.openxmlformats.org/officeDocument/2006/relationships/hyperlink" Target="https://github.com/ethdebug/bugc" TargetMode="External"/><Relationship Id="rId6" Type="http://schemas.openxmlformats.org/officeDocument/2006/relationships/hyperlink" Target="https://github.com/walnuthq" TargetMode="External"/><Relationship Id="rId7" Type="http://schemas.openxmlformats.org/officeDocument/2006/relationships/hyperlink" Target="http://github.com/walnuthq/ethdebug-sta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thdebug/format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0" lang="en" sz="4355">
                <a:latin typeface="Montserrat Light"/>
                <a:ea typeface="Montserrat Light"/>
                <a:cs typeface="Montserrat Light"/>
                <a:sym typeface="Montserrat Light"/>
              </a:rPr>
              <a:t>b</a:t>
            </a:r>
            <a:r>
              <a:rPr b="0" lang="en" sz="4355">
                <a:latin typeface="Montserrat Light"/>
                <a:ea typeface="Montserrat Light"/>
                <a:cs typeface="Montserrat Light"/>
                <a:sym typeface="Montserrat Light"/>
              </a:rPr>
              <a:t>ringing modern debugging to ethereum</a:t>
            </a:r>
            <a:endParaRPr b="0" sz="4355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g. nicholas d’andrea // @gnidan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argot collective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712150"/>
            <a:ext cx="5740800" cy="10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debugging is hard because compilers must be smart</a:t>
            </a:r>
            <a:endParaRPr sz="2400"/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2106100"/>
            <a:ext cx="5197200" cy="24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Especially on smart contract platforms, where bad performance costs money.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Compilers must have good optimizers, but optimizers obfuscate intent.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Debugging optimized code requires guessing from a world of multiple possibilities.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idx="4294967295" type="title"/>
          </p:nvPr>
        </p:nvSpPr>
        <p:spPr>
          <a:xfrm>
            <a:off x="535775" y="712150"/>
            <a:ext cx="6561300" cy="10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</a:t>
            </a:r>
            <a:r>
              <a:rPr lang="en" sz="3600">
                <a:solidFill>
                  <a:schemeClr val="dk1"/>
                </a:solidFill>
              </a:rPr>
              <a:t>thdebug makes good debugging less expensive (also possible :)</a:t>
            </a:r>
            <a:endParaRPr sz="2400"/>
          </a:p>
        </p:txBody>
      </p:sp>
      <p:sp>
        <p:nvSpPr>
          <p:cNvPr id="85" name="Google Shape;85;p15"/>
          <p:cNvSpPr txBox="1"/>
          <p:nvPr>
            <p:ph idx="4294967295" type="title"/>
          </p:nvPr>
        </p:nvSpPr>
        <p:spPr>
          <a:xfrm>
            <a:off x="535775" y="2106100"/>
            <a:ext cx="5197200" cy="24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The format presents EVM code from the lens of ambiguous machine instructions.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Compilers output </a:t>
            </a:r>
            <a:r>
              <a:rPr b="0" i="1" lang="en" sz="1800">
                <a:latin typeface="Lato"/>
                <a:ea typeface="Lato"/>
                <a:cs typeface="Lato"/>
                <a:sym typeface="Lato"/>
              </a:rPr>
              <a:t>accurate</a:t>
            </a:r>
            <a:r>
              <a:rPr b="0" lang="en" sz="1800">
                <a:latin typeface="Lato"/>
                <a:ea typeface="Lato"/>
                <a:cs typeface="Lato"/>
                <a:sym typeface="Lato"/>
              </a:rPr>
              <a:t> contextual information about each instruction with various levels of precision (based on what optimization permits)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Debuggers evaluate execution and disambiguate based on observation of runtime.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r>
              <a:rPr lang="en"/>
              <a:t>ledgling </a:t>
            </a:r>
            <a:r>
              <a:rPr lang="en"/>
              <a:t>e</a:t>
            </a:r>
            <a:r>
              <a:rPr lang="en"/>
              <a:t>cosystem support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idx="4294967295" type="title"/>
          </p:nvPr>
        </p:nvSpPr>
        <p:spPr>
          <a:xfrm>
            <a:off x="535775" y="712150"/>
            <a:ext cx="6561300" cy="10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i</a:t>
            </a:r>
            <a:r>
              <a:rPr lang="en" sz="3600">
                <a:solidFill>
                  <a:schemeClr val="dk1"/>
                </a:solidFill>
              </a:rPr>
              <a:t>mplementation progress</a:t>
            </a:r>
            <a:endParaRPr sz="2400"/>
          </a:p>
        </p:txBody>
      </p:sp>
      <p:sp>
        <p:nvSpPr>
          <p:cNvPr id="96" name="Google Shape;96;p17"/>
          <p:cNvSpPr txBox="1"/>
          <p:nvPr>
            <p:ph idx="4294967295" type="title"/>
          </p:nvPr>
        </p:nvSpPr>
        <p:spPr>
          <a:xfrm>
            <a:off x="535775" y="1801750"/>
            <a:ext cx="5197200" cy="24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Solidity implementation is in progress, minimal experimental output since 0.8.29 (via feature flag).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Things are looking quite positive on the debugger side: Tenderly, Simbolik, and Walnut are all working on support.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Walnut is also building frameworks for evaluating compilers’ ethdebug-compliance and looking at </a:t>
            </a:r>
            <a:r>
              <a:rPr b="0" lang="en" sz="1800">
                <a:latin typeface="Lato"/>
                <a:ea typeface="Lato"/>
                <a:cs typeface="Lato"/>
                <a:sym typeface="Lato"/>
              </a:rPr>
              <a:t>backwards compatibility solutions for older solc.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esign approach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idx="4294967295" type="title"/>
          </p:nvPr>
        </p:nvSpPr>
        <p:spPr>
          <a:xfrm>
            <a:off x="535775" y="712150"/>
            <a:ext cx="7370100" cy="10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ethdebug/format is reference-implementation forward</a:t>
            </a:r>
            <a:endParaRPr sz="2400"/>
          </a:p>
        </p:txBody>
      </p:sp>
      <p:sp>
        <p:nvSpPr>
          <p:cNvPr id="107" name="Google Shape;107;p19"/>
          <p:cNvSpPr txBox="1"/>
          <p:nvPr>
            <p:ph idx="4294967295" type="title"/>
          </p:nvPr>
        </p:nvSpPr>
        <p:spPr>
          <a:xfrm>
            <a:off x="535775" y="2106100"/>
            <a:ext cx="5197200" cy="24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Debugging is hard. Debugging is still hard even with good debugging data and compiler support.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To help make implementation easier, we are implementing this format while designing it.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We’ve made a couple libraries to show debugger-side support for ethdebug, and have built a “toy compiler” for a fictional language to produce ethdebug data end-to-end.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283100" y="712150"/>
            <a:ext cx="78555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course, reference implementations also help validate the format itself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ethdebug program (static)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3" title="program-example-pag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425" y="129300"/>
            <a:ext cx="6513150" cy="48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BUG demo (Minimal.bug)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5" title="bugc-playground-minima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3941"/>
            <a:ext cx="860213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subexpression elimination</a:t>
            </a:r>
            <a:br>
              <a:rPr lang="en"/>
            </a:br>
            <a:r>
              <a:rPr lang="en"/>
              <a:t>(Optimizer off demo)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7" title="cse-no-optimizer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subexpression elimination</a:t>
            </a:r>
            <a:br>
              <a:rPr lang="en"/>
            </a:br>
            <a:r>
              <a:rPr lang="en"/>
              <a:t>(Optimizer enabled)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9" title="cse-optimize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losing remarks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idx="4294967295" type="title"/>
          </p:nvPr>
        </p:nvSpPr>
        <p:spPr>
          <a:xfrm>
            <a:off x="535775" y="712150"/>
            <a:ext cx="5898900" cy="10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ethdebug/format is finally not just theoretical</a:t>
            </a:r>
            <a:endParaRPr sz="2400"/>
          </a:p>
        </p:txBody>
      </p:sp>
      <p:sp>
        <p:nvSpPr>
          <p:cNvPr id="168" name="Google Shape;168;p31"/>
          <p:cNvSpPr txBox="1"/>
          <p:nvPr>
            <p:ph idx="4294967295" type="title"/>
          </p:nvPr>
        </p:nvSpPr>
        <p:spPr>
          <a:xfrm>
            <a:off x="535775" y="2106100"/>
            <a:ext cx="6174000" cy="24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Every year, I present on a “hypothetical” ethdebug format.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This year, thanks to the community, things are becoming much more concrete.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Please stay tuned for much more soon! 🙏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74" name="Google Shape;174;p32"/>
          <p:cNvSpPr txBox="1"/>
          <p:nvPr>
            <p:ph idx="2" type="body"/>
          </p:nvPr>
        </p:nvSpPr>
        <p:spPr>
          <a:xfrm>
            <a:off x="4939500" y="724200"/>
            <a:ext cx="39399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information: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https://ethdebug.github.io/format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https://github.com/ethdebug/format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https://github.com/ethdebug/bugc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700"/>
              <a:t>(shoutout to </a:t>
            </a:r>
            <a:r>
              <a:rPr i="1" lang="en" sz="1700" u="sng">
                <a:solidFill>
                  <a:schemeClr val="hlink"/>
                </a:solidFill>
                <a:hlinkClick r:id="rId6"/>
              </a:rPr>
              <a:t>https://github.com/walnuthq</a:t>
            </a:r>
            <a:r>
              <a:rPr i="1" lang="en" sz="1700"/>
              <a:t> for </a:t>
            </a:r>
            <a:r>
              <a:rPr i="1" lang="en" sz="1700" u="sng">
                <a:solidFill>
                  <a:schemeClr val="hlink"/>
                </a:solidFill>
                <a:hlinkClick r:id="rId7"/>
              </a:rPr>
              <a:t>github.com/walnuthq/ethdebug-stats</a:t>
            </a:r>
            <a:r>
              <a:rPr i="1" lang="en" sz="1700"/>
              <a:t> and more)</a:t>
            </a:r>
            <a:endParaRPr i="1"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634FA2"/>
      </a:dk1>
      <a:lt1>
        <a:srgbClr val="FFFFFF"/>
      </a:lt1>
      <a:dk2>
        <a:srgbClr val="000000"/>
      </a:dk2>
      <a:lt2>
        <a:srgbClr val="757575"/>
      </a:lt2>
      <a:accent1>
        <a:srgbClr val="F3B18E"/>
      </a:accent1>
      <a:accent2>
        <a:srgbClr val="27C7BD"/>
      </a:accent2>
      <a:accent3>
        <a:srgbClr val="0099E8"/>
      </a:accent3>
      <a:accent4>
        <a:srgbClr val="51B9A3"/>
      </a:accent4>
      <a:accent5>
        <a:srgbClr val="FF9900"/>
      </a:accent5>
      <a:accent6>
        <a:srgbClr val="FFAE88"/>
      </a:accent6>
      <a:hlink>
        <a:srgbClr val="FF9900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